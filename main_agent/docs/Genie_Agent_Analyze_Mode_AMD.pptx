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4"/>
  </p:sldMasterIdLst>
  <p:notesMasterIdLst>
    <p:notesMasterId r:id="rId74"/>
  </p:notesMasterIdLst>
  <p:handoutMasterIdLst>
    <p:handoutMasterId r:id="rId75"/>
  </p:handoutMasterIdLst>
  <p:sldIdLst>
    <p:sldId id="256" r:id="rSlide1"/>
    <p:sldId id="257" r:id="rSlide2"/>
    <p:sldId id="258" r:id="rSlide3"/>
    <p:sldId id="259" r:id="rSlide4"/>
    <p:sldId id="260" r:id="rSlide5"/>
    <p:sldId id="261" r:id="rSlide6"/>
    <p:sldId id="262" r:id="rSlide7"/>
    <p:sldId id="263" r:id="rSlide8"/>
    <p:sldId id="264" r:id="rSlide9"/>
    <p:sldId id="265" r:id="rSlide10"/>
    <p:sldId id="266" r:id="rSlide11"/>
    <p:sldId id="267" r:id="rSlide12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2DE"/>
    <a:srgbClr val="8D8C95"/>
    <a:srgbClr val="000000"/>
    <a:srgbClr val="262626"/>
    <a:srgbClr val="131313"/>
    <a:srgbClr val="242428"/>
    <a:srgbClr val="19181C"/>
    <a:srgbClr val="E15310"/>
    <a:srgbClr val="006D85"/>
    <a:srgbClr val="888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55" autoAdjust="0"/>
    <p:restoredTop sz="97843" autoAdjust="0"/>
  </p:normalViewPr>
  <p:slideViewPr>
    <p:cSldViewPr snapToGrid="0">
      <p:cViewPr>
        <p:scale>
          <a:sx n="50" d="100"/>
          <a:sy n="50" d="100"/>
        </p:scale>
        <p:origin x="1540" y="324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customXml" Target="../customXml/item63.xml"/><Relationship Id="rId16" Type="http://schemas.openxmlformats.org/officeDocument/2006/relationships/customXml" Target="../customXml/item1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53" Type="http://schemas.openxmlformats.org/officeDocument/2006/relationships/customXml" Target="../customXml/item53.xml"/><Relationship Id="rId58" Type="http://schemas.openxmlformats.org/officeDocument/2006/relationships/customXml" Target="../customXml/item58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customXml" Target="../customXml/item5.xml"/><Relationship Id="rId61" Type="http://schemas.openxmlformats.org/officeDocument/2006/relationships/customXml" Target="../customXml/item61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56" Type="http://schemas.openxmlformats.org/officeDocument/2006/relationships/customXml" Target="../customXml/item56.xml"/><Relationship Id="rId64" Type="http://schemas.openxmlformats.org/officeDocument/2006/relationships/slideMaster" Target="slideMasters/slideMaster1.xml"/><Relationship Id="rId77" Type="http://schemas.openxmlformats.org/officeDocument/2006/relationships/presProps" Target="presProps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customXml" Target="../customXml/item59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customXml" Target="../customXml/item54.xml"/><Relationship Id="rId62" Type="http://schemas.openxmlformats.org/officeDocument/2006/relationships/customXml" Target="../customXml/item62.xml"/><Relationship Id="rId75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customXml" Target="../customXml/item49.xml"/><Relationship Id="rId57" Type="http://schemas.openxmlformats.org/officeDocument/2006/relationships/customXml" Target="../customXml/item57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customXml" Target="../customXml/item52.xml"/><Relationship Id="rId60" Type="http://schemas.openxmlformats.org/officeDocument/2006/relationships/customXml" Target="../customXml/item60.xml"/><Relationship Id="rId78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openxmlformats.org/officeDocument/2006/relationships/commentAuthors" Target="commentAuthor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Slide1" Type="http://schemas.openxmlformats.org/officeDocument/2006/relationships/slide" Target="slides/slide1.xml"/><Relationship Id="rSlide2" Type="http://schemas.openxmlformats.org/officeDocument/2006/relationships/slide" Target="slides/slide2.xml"/><Relationship Id="rSlide3" Type="http://schemas.openxmlformats.org/officeDocument/2006/relationships/slide" Target="slides/slide3.xml"/><Relationship Id="rSlide4" Type="http://schemas.openxmlformats.org/officeDocument/2006/relationships/slide" Target="slides/slide4.xml"/><Relationship Id="rSlide5" Type="http://schemas.openxmlformats.org/officeDocument/2006/relationships/slide" Target="slides/slide5.xml"/><Relationship Id="rSlide6" Type="http://schemas.openxmlformats.org/officeDocument/2006/relationships/slide" Target="slides/slide6.xml"/><Relationship Id="rSlide7" Type="http://schemas.openxmlformats.org/officeDocument/2006/relationships/slide" Target="slides/slide7.xml"/><Relationship Id="rSlide8" Type="http://schemas.openxmlformats.org/officeDocument/2006/relationships/slide" Target="slides/slide8.xml"/><Relationship Id="rSlide9" Type="http://schemas.openxmlformats.org/officeDocument/2006/relationships/slide" Target="slides/slide9.xml"/><Relationship Id="rSlide10" Type="http://schemas.openxmlformats.org/officeDocument/2006/relationships/slide" Target="slides/slide10.xml"/><Relationship Id="rSlide11" Type="http://schemas.openxmlformats.org/officeDocument/2006/relationships/slide" Target="slides/slide11.xml"/><Relationship Id="rSlide12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4/6/2026 9:29 AM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4/6/2026 9:29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2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791EE2C-CA72-508C-AF77-F7276C5243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B71AB6C-BEED-906C-7BD1-810E3700B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9FE114-78A5-00B6-2209-5248EF59E6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FD824D3-B0BF-F030-6A67-C1DF57993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98498A-FA22-D4DA-FA61-484A6A7EB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2A27EA-9A25-03D6-F6CD-53BB65C423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80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9FD31F-D9C5-7581-C456-D6B4203F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5C0E5E-8E02-C45B-9DC3-C30B8953C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18E84E-C602-EEFD-DA07-5A1A14248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CF18E0-53B0-CA09-B057-06DC49AD57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12B4FC-613C-9CF8-41B7-970931817B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67728E6-D31B-A5A2-A1BB-1AFEEB2F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D9AB6-52A1-91EE-AE98-B0B0BE05A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DE4C6A-1A4B-2F91-08F9-26625C8F1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76501-139F-DE3A-D0A0-CBCAD55D1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3518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14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CD3399-C787-D0BD-AB29-7D3229A5C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BD5AE2-7C3E-E789-AE22-6A4292D28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67C61-D66A-66E1-49C0-CF46D96D158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0654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926" r:id="rId2"/>
    <p:sldLayoutId id="2147484928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9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32" r:id="rId26"/>
    <p:sldLayoutId id="2147484927" r:id="rId27"/>
    <p:sldLayoutId id="2147484671" r:id="rId28"/>
    <p:sldLayoutId id="2147484585" r:id="rId29"/>
    <p:sldLayoutId id="2147484924" r:id="rId30"/>
    <p:sldLayoutId id="2147484299" r:id="rId31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s1t1"/>
          <p:cNvSpPr txBox="1">
            <a:spLocks noGrp="1"/>
          </p:cNvSpPr>
          <p:nvPr/>
        </p:nvSpPr>
        <p:spPr>
          <a:xfrm>
            <a:off x="548640" y="137160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5200" b="1" i="0" dirty="0">
                <a:solidFill>
                  <a:srgbClr val="ED1C24"/>
                </a:solidFill>
                <a:latin typeface="Arial"/>
              </a:rPr>
              <a:t>GENIE AGENT</a:t>
            </a:r>
          </a:p>
        </p:txBody>
      </p:sp>
      <p:sp>
        <p:nvSpPr>
          <p:cNvPr id="102" name="s1t2"/>
          <p:cNvSpPr txBox="1">
            <a:spLocks noGrp="1"/>
          </p:cNvSpPr>
          <p:nvPr/>
        </p:nvSpPr>
        <p:spPr>
          <a:xfrm>
            <a:off x="548640" y="233172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4200" b="1" i="0" dirty="0">
                <a:solidFill>
                  <a:srgbClr val="FFFFFF"/>
                </a:solidFill>
                <a:latin typeface="Arial"/>
              </a:rPr>
              <a:t>Analyze Mode</a:t>
            </a:r>
          </a:p>
        </p:txBody>
      </p:sp>
      <p:sp>
        <p:nvSpPr>
          <p:cNvPr id="103" name="s1t3"/>
          <p:cNvSpPr txBox="1">
            <a:spLocks noGrp="1"/>
          </p:cNvSpPr>
          <p:nvPr/>
        </p:nvSpPr>
        <p:spPr>
          <a:xfrm>
            <a:off x="548640" y="30632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2200" b="0" i="1" dirty="0">
                <a:solidFill>
                  <a:srgbClr val="00C2DE"/>
                </a:solidFill>
                <a:latin typeface="Arial"/>
              </a:rPr>
              <a:t>Complete Flow Guide</a:t>
            </a:r>
          </a:p>
        </p:txBody>
      </p:sp>
      <p:sp>
        <p:nvSpPr>
          <p:cNvPr id="104" name="s1line"/>
          <p:cNvSpPr>
            <a:spLocks noGrp="1"/>
          </p:cNvSpPr>
          <p:nvPr/>
        </p:nvSpPr>
        <p:spPr>
          <a:xfrm>
            <a:off x="548640" y="3611880"/>
            <a:ext cx="4572000" cy="5029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s1sub"/>
          <p:cNvSpPr txBox="1">
            <a:spLocks noGrp="1"/>
          </p:cNvSpPr>
          <p:nvPr/>
        </p:nvSpPr>
        <p:spPr>
          <a:xfrm>
            <a:off x="548640" y="3749039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600" b="0" i="0" dirty="0">
                <a:solidFill>
                  <a:srgbClr val="D5D5D5"/>
                </a:solidFill>
                <a:latin typeface="Arial"/>
              </a:rPr>
              <a:t>From run instruction to analysis report</a:t>
            </a:r>
          </a:p>
          <a:p>
            <a:pPr algn="l"/>
            <a:r>
              <a:rPr lang="en-US" sz="1600" b="0" i="0" dirty="0">
                <a:solidFill>
                  <a:srgbClr val="D5D5D5"/>
                </a:solidFill>
                <a:latin typeface="Arial"/>
              </a:rPr>
              <a:t>CDC/RDC · Lint · SpgDFT · Auto-Fixer Loop</a:t>
            </a:r>
          </a:p>
        </p:txBody>
      </p:sp>
      <p:sp>
        <p:nvSpPr>
          <p:cNvPr id="106" name="s1stat_bg0"/>
          <p:cNvSpPr>
            <a:spLocks noGrp="1"/>
          </p:cNvSpPr>
          <p:nvPr/>
        </p:nvSpPr>
        <p:spPr>
          <a:xfrm>
            <a:off x="8961120" y="1645920"/>
            <a:ext cx="685800" cy="685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stat_n0"/>
          <p:cNvSpPr txBox="1">
            <a:spLocks noGrp="1"/>
          </p:cNvSpPr>
          <p:nvPr/>
        </p:nvSpPr>
        <p:spPr>
          <a:xfrm>
            <a:off x="8961120" y="1645920"/>
            <a:ext cx="704088" cy="7040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3000" b="1" i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8" name="s1stat_l0"/>
          <p:cNvSpPr txBox="1">
            <a:spLocks noGrp="1"/>
          </p:cNvSpPr>
          <p:nvPr/>
        </p:nvSpPr>
        <p:spPr>
          <a:xfrm>
            <a:off x="9738360" y="1783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0" i="0" dirty="0">
                <a:solidFill>
                  <a:srgbClr val="D5D5D5"/>
                </a:solidFill>
                <a:latin typeface="Arial"/>
              </a:rPr>
              <a:t>Entry Points</a:t>
            </a:r>
          </a:p>
        </p:txBody>
      </p:sp>
      <p:sp>
        <p:nvSpPr>
          <p:cNvPr id="109" name="s1stat_bg1"/>
          <p:cNvSpPr>
            <a:spLocks noGrp="1"/>
          </p:cNvSpPr>
          <p:nvPr/>
        </p:nvSpPr>
        <p:spPr>
          <a:xfrm>
            <a:off x="8961120" y="2697480"/>
            <a:ext cx="685800" cy="685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stat_n1"/>
          <p:cNvSpPr txBox="1">
            <a:spLocks noGrp="1"/>
          </p:cNvSpPr>
          <p:nvPr/>
        </p:nvSpPr>
        <p:spPr>
          <a:xfrm>
            <a:off x="8961120" y="2697480"/>
            <a:ext cx="704088" cy="7040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3000" b="1" i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1" name="s1stat_l1"/>
          <p:cNvSpPr txBox="1">
            <a:spLocks noGrp="1"/>
          </p:cNvSpPr>
          <p:nvPr/>
        </p:nvSpPr>
        <p:spPr>
          <a:xfrm>
            <a:off x="9738360" y="2834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0" i="0" dirty="0">
                <a:solidFill>
                  <a:srgbClr val="D5D5D5"/>
                </a:solidFill>
                <a:latin typeface="Arial"/>
              </a:rPr>
              <a:t>Pipeline Waves</a:t>
            </a:r>
          </a:p>
        </p:txBody>
      </p:sp>
      <p:sp>
        <p:nvSpPr>
          <p:cNvPr id="112" name="s1stat_bg2"/>
          <p:cNvSpPr>
            <a:spLocks noGrp="1"/>
          </p:cNvSpPr>
          <p:nvPr/>
        </p:nvSpPr>
        <p:spPr>
          <a:xfrm>
            <a:off x="8961120" y="3749040"/>
            <a:ext cx="685800" cy="685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stat_n2"/>
          <p:cNvSpPr txBox="1">
            <a:spLocks noGrp="1"/>
          </p:cNvSpPr>
          <p:nvPr/>
        </p:nvSpPr>
        <p:spPr>
          <a:xfrm>
            <a:off x="8961120" y="3749040"/>
            <a:ext cx="704088" cy="7040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3000" b="1" i="0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4" name="s1stat_l2"/>
          <p:cNvSpPr txBox="1">
            <a:spLocks noGrp="1"/>
          </p:cNvSpPr>
          <p:nvPr/>
        </p:nvSpPr>
        <p:spPr>
          <a:xfrm>
            <a:off x="9738360" y="38862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0" i="0" dirty="0">
                <a:solidFill>
                  <a:srgbClr val="D5D5D5"/>
                </a:solidFill>
                <a:latin typeface="Arial"/>
              </a:rPr>
              <a:t>Max Fixer Rounds</a:t>
            </a:r>
          </a:p>
        </p:txBody>
      </p:sp>
      <p:sp>
        <p:nvSpPr>
          <p:cNvPr id="115" name="s1stat_bg3"/>
          <p:cNvSpPr>
            <a:spLocks noGrp="1"/>
          </p:cNvSpPr>
          <p:nvPr/>
        </p:nvSpPr>
        <p:spPr>
          <a:xfrm>
            <a:off x="8961120" y="4800600"/>
            <a:ext cx="685800" cy="685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s1stat_n3"/>
          <p:cNvSpPr txBox="1">
            <a:spLocks noGrp="1"/>
          </p:cNvSpPr>
          <p:nvPr/>
        </p:nvSpPr>
        <p:spPr>
          <a:xfrm>
            <a:off x="8961120" y="4800600"/>
            <a:ext cx="704088" cy="7040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3000" b="1" i="0" dirty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17" name="s1stat_l3"/>
          <p:cNvSpPr txBox="1">
            <a:spLocks noGrp="1"/>
          </p:cNvSpPr>
          <p:nvPr/>
        </p:nvSpPr>
        <p:spPr>
          <a:xfrm>
            <a:off x="9738360" y="49377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0" i="0" dirty="0">
                <a:solidFill>
                  <a:srgbClr val="D5D5D5"/>
                </a:solidFill>
                <a:latin typeface="Arial"/>
              </a:rPr>
              <a:t>Waivers Added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Why Analyze Mode?</a:t>
            </a:r>
          </a:p>
        </p:txBody>
      </p:sp>
      <p:sp>
        <p:nvSpPr>
          <p:cNvPr id="102" name="s2p0"/>
          <p:cNvSpPr>
            <a:spLocks noGrp="1"/>
          </p:cNvSpPr>
          <p:nvPr/>
        </p:nvSpPr>
        <p:spPr>
          <a:xfrm>
            <a:off x="502920" y="1417320"/>
            <a:ext cx="5303520" cy="146304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2pb0"/>
          <p:cNvSpPr>
            <a:spLocks noGrp="1"/>
          </p:cNvSpPr>
          <p:nvPr/>
        </p:nvSpPr>
        <p:spPr>
          <a:xfrm>
            <a:off x="502920" y="1417320"/>
            <a:ext cx="50292" cy="146304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2pt0"/>
          <p:cNvSpPr txBox="1">
            <a:spLocks noGrp="1"/>
          </p:cNvSpPr>
          <p:nvPr/>
        </p:nvSpPr>
        <p:spPr>
          <a:xfrm>
            <a:off x="612648" y="15087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1" i="0" dirty="0">
                <a:solidFill>
                  <a:srgbClr val="F26522"/>
                </a:solidFill>
                <a:latin typeface="Arial"/>
              </a:rPr>
              <a:t>Too Many Violations</a:t>
            </a:r>
          </a:p>
        </p:txBody>
      </p:sp>
      <p:sp>
        <p:nvSpPr>
          <p:cNvPr id="105" name="s2pd0"/>
          <p:cNvSpPr txBox="1">
            <a:spLocks noGrp="1"/>
          </p:cNvSpPr>
          <p:nvPr/>
        </p:nvSpPr>
        <p:spPr>
          <a:xfrm>
            <a:off x="612648" y="192024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Hundreds of CDC/RDC, Lint &amp; SpgDFT violations —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manual review is slow and error-prone.</a:t>
            </a:r>
          </a:p>
        </p:txBody>
      </p:sp>
      <p:sp>
        <p:nvSpPr>
          <p:cNvPr id="106" name="s2p1"/>
          <p:cNvSpPr>
            <a:spLocks noGrp="1"/>
          </p:cNvSpPr>
          <p:nvPr/>
        </p:nvSpPr>
        <p:spPr>
          <a:xfrm>
            <a:off x="502920" y="3017520"/>
            <a:ext cx="5303520" cy="146304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2pb1"/>
          <p:cNvSpPr>
            <a:spLocks noGrp="1"/>
          </p:cNvSpPr>
          <p:nvPr/>
        </p:nvSpPr>
        <p:spPr>
          <a:xfrm>
            <a:off x="502920" y="3017520"/>
            <a:ext cx="50292" cy="146304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s2pt1"/>
          <p:cNvSpPr txBox="1">
            <a:spLocks noGrp="1"/>
          </p:cNvSpPr>
          <p:nvPr/>
        </p:nvSpPr>
        <p:spPr>
          <a:xfrm>
            <a:off x="612648" y="31089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1" i="0" dirty="0">
                <a:solidFill>
                  <a:srgbClr val="F26522"/>
                </a:solidFill>
                <a:latin typeface="Arial"/>
              </a:rPr>
              <a:t>Tool Noise vs Real Bugs</a:t>
            </a:r>
          </a:p>
        </p:txBody>
      </p:sp>
      <p:sp>
        <p:nvSpPr>
          <p:cNvPr id="109" name="s2pd1"/>
          <p:cNvSpPr txBox="1">
            <a:spLocks noGrp="1"/>
          </p:cNvSpPr>
          <p:nvPr/>
        </p:nvSpPr>
        <p:spPr>
          <a:xfrm>
            <a:off x="612648" y="352044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DFT/RSMU false positives buried with real RTL issues —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engineers waste time on irrelevant violations.</a:t>
            </a:r>
          </a:p>
        </p:txBody>
      </p:sp>
      <p:sp>
        <p:nvSpPr>
          <p:cNvPr id="110" name="s2p2"/>
          <p:cNvSpPr>
            <a:spLocks noGrp="1"/>
          </p:cNvSpPr>
          <p:nvPr/>
        </p:nvSpPr>
        <p:spPr>
          <a:xfrm>
            <a:off x="502920" y="4617720"/>
            <a:ext cx="5303520" cy="146304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2pb2"/>
          <p:cNvSpPr>
            <a:spLocks noGrp="1"/>
          </p:cNvSpPr>
          <p:nvPr/>
        </p:nvSpPr>
        <p:spPr>
          <a:xfrm>
            <a:off x="502920" y="4617720"/>
            <a:ext cx="50292" cy="146304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2pt2"/>
          <p:cNvSpPr txBox="1">
            <a:spLocks noGrp="1"/>
          </p:cNvSpPr>
          <p:nvPr/>
        </p:nvSpPr>
        <p:spPr>
          <a:xfrm>
            <a:off x="612648" y="47091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1" i="0" dirty="0">
                <a:solidFill>
                  <a:srgbClr val="F26522"/>
                </a:solidFill>
                <a:latin typeface="Arial"/>
              </a:rPr>
              <a:t>No Memory Across Re-runs</a:t>
            </a:r>
          </a:p>
        </p:txBody>
      </p:sp>
      <p:sp>
        <p:nvSpPr>
          <p:cNvPr id="113" name="s2pd2"/>
          <p:cNvSpPr txBox="1">
            <a:spLocks noGrp="1"/>
          </p:cNvSpPr>
          <p:nvPr/>
        </p:nvSpPr>
        <p:spPr>
          <a:xfrm>
            <a:off x="612648" y="512064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Fix one violation, re-run, repeat — no tracking of what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was tried before across rounds.</a:t>
            </a:r>
          </a:p>
        </p:txBody>
      </p:sp>
      <p:sp>
        <p:nvSpPr>
          <p:cNvPr id="114" name="s2sol_bg"/>
          <p:cNvSpPr>
            <a:spLocks noGrp="1"/>
          </p:cNvSpPr>
          <p:nvPr/>
        </p:nvSpPr>
        <p:spPr>
          <a:xfrm>
            <a:off x="6126480" y="1417320"/>
            <a:ext cx="566928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2sol_top"/>
          <p:cNvSpPr>
            <a:spLocks noGrp="1"/>
          </p:cNvSpPr>
          <p:nvPr/>
        </p:nvSpPr>
        <p:spPr>
          <a:xfrm>
            <a:off x="6126480" y="1417320"/>
            <a:ext cx="5669280" cy="5029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s2sol_ttl"/>
          <p:cNvSpPr txBox="1">
            <a:spLocks noGrp="1"/>
          </p:cNvSpPr>
          <p:nvPr/>
        </p:nvSpPr>
        <p:spPr>
          <a:xfrm>
            <a:off x="6263640" y="150876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600" b="1" i="0" dirty="0">
                <a:solidFill>
                  <a:srgbClr val="00C2DE"/>
                </a:solidFill>
                <a:latin typeface="Arial"/>
              </a:rPr>
              <a:t>The Solution</a:t>
            </a:r>
          </a:p>
        </p:txBody>
      </p:sp>
      <p:sp>
        <p:nvSpPr>
          <p:cNvPr id="117" name="s2s0"/>
          <p:cNvSpPr txBox="1">
            <a:spLocks noGrp="1"/>
          </p:cNvSpPr>
          <p:nvPr/>
        </p:nvSpPr>
        <p:spPr>
          <a:xfrm>
            <a:off x="6263640" y="2011680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0" i="0" dirty="0">
                <a:solidFill>
                  <a:srgbClr val="D5D5D5"/>
                </a:solidFill>
                <a:latin typeface="Arial"/>
              </a:rPr>
              <a:t>→  Automated parallel agent analysis</a:t>
            </a:r>
          </a:p>
        </p:txBody>
      </p:sp>
      <p:sp>
        <p:nvSpPr>
          <p:cNvPr id="118" name="s2s1"/>
          <p:cNvSpPr txBox="1">
            <a:spLocks noGrp="1"/>
          </p:cNvSpPr>
          <p:nvPr/>
        </p:nvSpPr>
        <p:spPr>
          <a:xfrm>
            <a:off x="6263640" y="2596896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0" i="0" dirty="0">
                <a:solidFill>
                  <a:srgbClr val="D5D5D5"/>
                </a:solidFill>
                <a:latin typeface="Arial"/>
              </a:rPr>
              <a:t>→  Intelligent filtering — DFT/RSMU excluded</a:t>
            </a:r>
          </a:p>
        </p:txBody>
      </p:sp>
      <p:sp>
        <p:nvSpPr>
          <p:cNvPr id="119" name="s2s2"/>
          <p:cNvSpPr txBox="1">
            <a:spLocks noGrp="1"/>
          </p:cNvSpPr>
          <p:nvPr/>
        </p:nvSpPr>
        <p:spPr>
          <a:xfrm>
            <a:off x="6263640" y="3182112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0" i="0" dirty="0">
                <a:solidFill>
                  <a:srgbClr val="D5D5D5"/>
                </a:solidFill>
                <a:latin typeface="Arial"/>
              </a:rPr>
              <a:t>→  RTL-level root cause per violation</a:t>
            </a:r>
          </a:p>
        </p:txBody>
      </p:sp>
      <p:sp>
        <p:nvSpPr>
          <p:cNvPr id="120" name="s2s3"/>
          <p:cNvSpPr txBox="1">
            <a:spLocks noGrp="1"/>
          </p:cNvSpPr>
          <p:nvPr/>
        </p:nvSpPr>
        <p:spPr>
          <a:xfrm>
            <a:off x="6263640" y="3767328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0" i="0" dirty="0">
                <a:solidFill>
                  <a:srgbClr val="D5D5D5"/>
                </a:solidFill>
                <a:latin typeface="Arial"/>
              </a:rPr>
              <a:t>→  Auto-apply fixes — constraint &amp; RTL</a:t>
            </a:r>
          </a:p>
        </p:txBody>
      </p:sp>
      <p:sp>
        <p:nvSpPr>
          <p:cNvPr id="121" name="s2s4"/>
          <p:cNvSpPr txBox="1">
            <a:spLocks noGrp="1"/>
          </p:cNvSpPr>
          <p:nvPr/>
        </p:nvSpPr>
        <p:spPr>
          <a:xfrm>
            <a:off x="6263640" y="4352544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0" i="0" dirty="0">
                <a:solidFill>
                  <a:srgbClr val="D5D5D5"/>
                </a:solidFill>
                <a:latin typeface="Arial"/>
              </a:rPr>
              <a:t>→  Round-to-round fix memory</a:t>
            </a:r>
          </a:p>
        </p:txBody>
      </p:sp>
      <p:sp>
        <p:nvSpPr>
          <p:cNvPr id="122" name="s2s5"/>
          <p:cNvSpPr txBox="1">
            <a:spLocks noGrp="1"/>
          </p:cNvSpPr>
          <p:nvPr/>
        </p:nvSpPr>
        <p:spPr>
          <a:xfrm>
            <a:off x="6263640" y="4937760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0" i="0" dirty="0">
                <a:solidFill>
                  <a:srgbClr val="D5D5D5"/>
                </a:solidFill>
                <a:latin typeface="Arial"/>
              </a:rPr>
              <a:t>→  HTML report emailed per check type</a:t>
            </a:r>
          </a:p>
        </p:txBody>
      </p:sp>
      <p:sp>
        <p:nvSpPr>
          <p:cNvPr id="123" name="s2s6"/>
          <p:cNvSpPr txBox="1">
            <a:spLocks noGrp="1"/>
          </p:cNvSpPr>
          <p:nvPr/>
        </p:nvSpPr>
        <p:spPr>
          <a:xfrm>
            <a:off x="6263640" y="5522976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0" i="0" dirty="0">
                <a:solidFill>
                  <a:srgbClr val="D5D5D5"/>
                </a:solidFill>
                <a:latin typeface="Arial"/>
              </a:rPr>
              <a:t>→  ZERO waivers — fixes in RTL or constraints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4 Ways to Trigger Analysis</a:t>
            </a:r>
          </a:p>
        </p:txBody>
      </p:sp>
      <p:sp>
        <p:nvSpPr>
          <p:cNvPr id="102" name="s3e0"/>
          <p:cNvSpPr>
            <a:spLocks noGrp="1"/>
          </p:cNvSpPr>
          <p:nvPr/>
        </p:nvSpPr>
        <p:spPr>
          <a:xfrm>
            <a:off x="502920" y="1417320"/>
            <a:ext cx="5577840" cy="23317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3el0"/>
          <p:cNvSpPr>
            <a:spLocks noGrp="1"/>
          </p:cNvSpPr>
          <p:nvPr/>
        </p:nvSpPr>
        <p:spPr>
          <a:xfrm>
            <a:off x="502920" y="1417320"/>
            <a:ext cx="548640" cy="2331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3en0"/>
          <p:cNvSpPr txBox="1">
            <a:spLocks noGrp="1"/>
          </p:cNvSpPr>
          <p:nvPr/>
        </p:nvSpPr>
        <p:spPr>
          <a:xfrm>
            <a:off x="502920" y="1417320"/>
            <a:ext cx="566928" cy="2331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3000" b="1" i="0" dirty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5" name="s3et0"/>
          <p:cNvSpPr txBox="1">
            <a:spLocks noGrp="1"/>
          </p:cNvSpPr>
          <p:nvPr/>
        </p:nvSpPr>
        <p:spPr>
          <a:xfrm>
            <a:off x="1143000" y="1527048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600" b="1" i="0" dirty="0">
                <a:solidFill>
                  <a:srgbClr val="ED1C24"/>
                </a:solidFill>
                <a:latin typeface="Arial"/>
              </a:rPr>
              <a:t>Run + Analyze</a:t>
            </a:r>
          </a:p>
        </p:txBody>
      </p:sp>
      <p:sp>
        <p:nvSpPr>
          <p:cNvPr id="106" name="s3ef_bg0"/>
          <p:cNvSpPr>
            <a:spLocks noGrp="1"/>
          </p:cNvSpPr>
          <p:nvPr/>
        </p:nvSpPr>
        <p:spPr>
          <a:xfrm>
            <a:off x="1143000" y="1947672"/>
            <a:ext cx="4480560" cy="3200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3ef0"/>
          <p:cNvSpPr txBox="1">
            <a:spLocks noGrp="1"/>
          </p:cNvSpPr>
          <p:nvPr/>
        </p:nvSpPr>
        <p:spPr>
          <a:xfrm>
            <a:off x="1188720" y="196596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00C2DE"/>
                </a:solidFill>
                <a:latin typeface="Arial"/>
              </a:rPr>
              <a:t>--analyze</a:t>
            </a:r>
          </a:p>
        </p:txBody>
      </p:sp>
      <p:sp>
        <p:nvSpPr>
          <p:cNvPr id="108" name="s3ed0"/>
          <p:cNvSpPr txBox="1">
            <a:spLocks noGrp="1"/>
          </p:cNvSpPr>
          <p:nvPr/>
        </p:nvSpPr>
        <p:spPr>
          <a:xfrm>
            <a:off x="1143000" y="233172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Run static check AND analyze when it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completes. Background monitor keeps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main session free.</a:t>
            </a:r>
          </a:p>
        </p:txBody>
      </p:sp>
      <p:sp>
        <p:nvSpPr>
          <p:cNvPr id="109" name="s3e1"/>
          <p:cNvSpPr>
            <a:spLocks noGrp="1"/>
          </p:cNvSpPr>
          <p:nvPr/>
        </p:nvSpPr>
        <p:spPr>
          <a:xfrm>
            <a:off x="6355080" y="1417320"/>
            <a:ext cx="5577840" cy="23317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3el1"/>
          <p:cNvSpPr>
            <a:spLocks noGrp="1"/>
          </p:cNvSpPr>
          <p:nvPr/>
        </p:nvSpPr>
        <p:spPr>
          <a:xfrm>
            <a:off x="6355080" y="1417320"/>
            <a:ext cx="548640" cy="233172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3en1"/>
          <p:cNvSpPr txBox="1">
            <a:spLocks noGrp="1"/>
          </p:cNvSpPr>
          <p:nvPr/>
        </p:nvSpPr>
        <p:spPr>
          <a:xfrm>
            <a:off x="6355080" y="1417320"/>
            <a:ext cx="566928" cy="2331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3000" b="1" i="0" dirty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12" name="s3et1"/>
          <p:cNvSpPr txBox="1">
            <a:spLocks noGrp="1"/>
          </p:cNvSpPr>
          <p:nvPr/>
        </p:nvSpPr>
        <p:spPr>
          <a:xfrm>
            <a:off x="6995160" y="1527048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600" b="1" i="0" dirty="0">
                <a:solidFill>
                  <a:srgbClr val="00C2DE"/>
                </a:solidFill>
                <a:latin typeface="Arial"/>
              </a:rPr>
              <a:t>Analyze Only</a:t>
            </a:r>
          </a:p>
        </p:txBody>
      </p:sp>
      <p:sp>
        <p:nvSpPr>
          <p:cNvPr id="113" name="s3ef_bg1"/>
          <p:cNvSpPr>
            <a:spLocks noGrp="1"/>
          </p:cNvSpPr>
          <p:nvPr/>
        </p:nvSpPr>
        <p:spPr>
          <a:xfrm>
            <a:off x="6995160" y="1947672"/>
            <a:ext cx="4480560" cy="3200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3ef1"/>
          <p:cNvSpPr txBox="1">
            <a:spLocks noGrp="1"/>
          </p:cNvSpPr>
          <p:nvPr/>
        </p:nvSpPr>
        <p:spPr>
          <a:xfrm>
            <a:off x="7040880" y="196596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00C2DE"/>
                </a:solidFill>
                <a:latin typeface="Arial"/>
              </a:rPr>
              <a:t>--analyze-only</a:t>
            </a:r>
          </a:p>
        </p:txBody>
      </p:sp>
      <p:sp>
        <p:nvSpPr>
          <p:cNvPr id="115" name="s3ed1"/>
          <p:cNvSpPr txBox="1">
            <a:spLocks noGrp="1"/>
          </p:cNvSpPr>
          <p:nvPr/>
        </p:nvSpPr>
        <p:spPr>
          <a:xfrm>
            <a:off x="6995160" y="233172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Skip re-running — analyze an already-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completed run. SKIP_MONITORING=true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jumps straight to agents.</a:t>
            </a:r>
          </a:p>
        </p:txBody>
      </p:sp>
      <p:sp>
        <p:nvSpPr>
          <p:cNvPr id="116" name="s3e2"/>
          <p:cNvSpPr>
            <a:spLocks noGrp="1"/>
          </p:cNvSpPr>
          <p:nvPr/>
        </p:nvSpPr>
        <p:spPr>
          <a:xfrm>
            <a:off x="502920" y="3886200"/>
            <a:ext cx="5577840" cy="23317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3el2"/>
          <p:cNvSpPr>
            <a:spLocks noGrp="1"/>
          </p:cNvSpPr>
          <p:nvPr/>
        </p:nvSpPr>
        <p:spPr>
          <a:xfrm>
            <a:off x="502920" y="3886200"/>
            <a:ext cx="548640" cy="23317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3en2"/>
          <p:cNvSpPr txBox="1">
            <a:spLocks noGrp="1"/>
          </p:cNvSpPr>
          <p:nvPr/>
        </p:nvSpPr>
        <p:spPr>
          <a:xfrm>
            <a:off x="502920" y="3886200"/>
            <a:ext cx="566928" cy="2331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3000" b="1" i="0" dirty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19" name="s3et2"/>
          <p:cNvSpPr txBox="1">
            <a:spLocks noGrp="1"/>
          </p:cNvSpPr>
          <p:nvPr/>
        </p:nvSpPr>
        <p:spPr>
          <a:xfrm>
            <a:off x="1143000" y="3995928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600" b="1" i="0" dirty="0">
                <a:solidFill>
                  <a:srgbClr val="F26522"/>
                </a:solidFill>
                <a:latin typeface="Arial"/>
              </a:rPr>
              <a:t>Run + Auto-Fix Loop</a:t>
            </a:r>
          </a:p>
        </p:txBody>
      </p:sp>
      <p:sp>
        <p:nvSpPr>
          <p:cNvPr id="120" name="s3ef_bg2"/>
          <p:cNvSpPr>
            <a:spLocks noGrp="1"/>
          </p:cNvSpPr>
          <p:nvPr/>
        </p:nvSpPr>
        <p:spPr>
          <a:xfrm>
            <a:off x="1143000" y="4416552"/>
            <a:ext cx="4480560" cy="3200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3ef2"/>
          <p:cNvSpPr txBox="1">
            <a:spLocks noGrp="1"/>
          </p:cNvSpPr>
          <p:nvPr/>
        </p:nvSpPr>
        <p:spPr>
          <a:xfrm>
            <a:off x="1188720" y="44348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00C2DE"/>
                </a:solidFill>
                <a:latin typeface="Arial"/>
              </a:rPr>
              <a:t>--analyze-fixer</a:t>
            </a:r>
          </a:p>
        </p:txBody>
      </p:sp>
      <p:sp>
        <p:nvSpPr>
          <p:cNvPr id="122" name="s3ed2"/>
          <p:cNvSpPr txBox="1">
            <a:spLocks noGrp="1"/>
          </p:cNvSpPr>
          <p:nvPr/>
        </p:nvSpPr>
        <p:spPr>
          <a:xfrm>
            <a:off x="1143000" y="480060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Run → analyze → auto-apply all fixes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→ rerun. Loops up to 5 rounds or until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violations reach zero.</a:t>
            </a:r>
          </a:p>
        </p:txBody>
      </p:sp>
      <p:sp>
        <p:nvSpPr>
          <p:cNvPr id="123" name="s3e3"/>
          <p:cNvSpPr>
            <a:spLocks noGrp="1"/>
          </p:cNvSpPr>
          <p:nvPr/>
        </p:nvSpPr>
        <p:spPr>
          <a:xfrm>
            <a:off x="6355080" y="3886200"/>
            <a:ext cx="5577840" cy="23317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3el3"/>
          <p:cNvSpPr>
            <a:spLocks noGrp="1"/>
          </p:cNvSpPr>
          <p:nvPr/>
        </p:nvSpPr>
        <p:spPr>
          <a:xfrm>
            <a:off x="6355080" y="3886200"/>
            <a:ext cx="548640" cy="2331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3en3"/>
          <p:cNvSpPr txBox="1">
            <a:spLocks noGrp="1"/>
          </p:cNvSpPr>
          <p:nvPr/>
        </p:nvSpPr>
        <p:spPr>
          <a:xfrm>
            <a:off x="6355080" y="3886200"/>
            <a:ext cx="566928" cy="2331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3000" b="1" i="0" dirty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26" name="s3et3"/>
          <p:cNvSpPr txBox="1">
            <a:spLocks noGrp="1"/>
          </p:cNvSpPr>
          <p:nvPr/>
        </p:nvSpPr>
        <p:spPr>
          <a:xfrm>
            <a:off x="6995160" y="3995928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600" b="1" i="0" dirty="0">
                <a:solidFill>
                  <a:srgbClr val="2ECC71"/>
                </a:solidFill>
                <a:latin typeface="Arial"/>
              </a:rPr>
              <a:t>Fix Existing Results</a:t>
            </a:r>
          </a:p>
        </p:txBody>
      </p:sp>
      <p:sp>
        <p:nvSpPr>
          <p:cNvPr id="127" name="s3ef_bg3"/>
          <p:cNvSpPr>
            <a:spLocks noGrp="1"/>
          </p:cNvSpPr>
          <p:nvPr/>
        </p:nvSpPr>
        <p:spPr>
          <a:xfrm>
            <a:off x="6995160" y="4416552"/>
            <a:ext cx="4480560" cy="32004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3ef3"/>
          <p:cNvSpPr txBox="1">
            <a:spLocks noGrp="1"/>
          </p:cNvSpPr>
          <p:nvPr/>
        </p:nvSpPr>
        <p:spPr>
          <a:xfrm>
            <a:off x="7040880" y="44348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00C2DE"/>
                </a:solidFill>
                <a:latin typeface="Arial"/>
              </a:rPr>
              <a:t>--analyze-fixer-only</a:t>
            </a:r>
          </a:p>
        </p:txBody>
      </p:sp>
      <p:sp>
        <p:nvSpPr>
          <p:cNvPr id="129" name="s3ed3"/>
          <p:cNvSpPr txBox="1">
            <a:spLocks noGrp="1"/>
          </p:cNvSpPr>
          <p:nvPr/>
        </p:nvSpPr>
        <p:spPr>
          <a:xfrm>
            <a:off x="6995160" y="480060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Start the fixer loop from an already-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completed run. No re-run needed — picks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up where analysis left off.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The 4-Wave Analysis Pipeline</a:t>
            </a:r>
          </a:p>
        </p:txBody>
      </p:sp>
      <p:sp>
        <p:nvSpPr>
          <p:cNvPr id="102" name="s4w0"/>
          <p:cNvSpPr>
            <a:spLocks noGrp="1"/>
          </p:cNvSpPr>
          <p:nvPr/>
        </p:nvSpPr>
        <p:spPr>
          <a:xfrm>
            <a:off x="457200" y="1417320"/>
            <a:ext cx="2057400" cy="475488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4wh0"/>
          <p:cNvSpPr>
            <a:spLocks noGrp="1"/>
          </p:cNvSpPr>
          <p:nvPr/>
        </p:nvSpPr>
        <p:spPr>
          <a:xfrm>
            <a:off x="457200" y="1417320"/>
            <a:ext cx="2057400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4wl0"/>
          <p:cNvSpPr txBox="1">
            <a:spLocks noGrp="1"/>
          </p:cNvSpPr>
          <p:nvPr/>
        </p:nvSpPr>
        <p:spPr>
          <a:xfrm>
            <a:off x="457200" y="1417320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100" b="1" i="0" dirty="0">
                <a:solidFill>
                  <a:srgbClr val="FFFFFF"/>
                </a:solidFill>
                <a:latin typeface="Arial"/>
              </a:rPr>
              <a:t>WAVE 1</a:t>
            </a:r>
          </a:p>
        </p:txBody>
      </p:sp>
      <p:sp>
        <p:nvSpPr>
          <p:cNvPr id="105" name="s4wt0"/>
          <p:cNvSpPr txBox="1">
            <a:spLocks noGrp="1"/>
          </p:cNvSpPr>
          <p:nvPr/>
        </p:nvSpPr>
        <p:spPr>
          <a:xfrm>
            <a:off x="530352" y="1947672"/>
            <a:ext cx="1911096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00C2DE"/>
                </a:solidFill>
                <a:latin typeface="Arial"/>
              </a:rPr>
              <a:t>Extractor &amp;</a:t>
            </a:r>
          </a:p>
          <a:p>
            <a:pPr algn="l"/>
            <a:r>
              <a:rPr lang="en-US" sz="1200" b="1" i="0" dirty="0">
                <a:solidFill>
                  <a:srgbClr val="00C2DE"/>
                </a:solidFill>
                <a:latin typeface="Arial"/>
              </a:rPr>
              <a:t>Precondition</a:t>
            </a:r>
          </a:p>
        </p:txBody>
      </p:sp>
      <p:sp>
        <p:nvSpPr>
          <p:cNvPr id="106" name="s4wd0"/>
          <p:cNvSpPr txBox="1">
            <a:spLocks noGrp="1"/>
          </p:cNvSpPr>
          <p:nvPr/>
        </p:nvSpPr>
        <p:spPr>
          <a:xfrm>
            <a:off x="530352" y="2532888"/>
            <a:ext cx="1911096" cy="3474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5 agents in parallel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CDC Precondition · CDC Extractor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Lint Extractor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SpgDFT Precondition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SpgDFT Extractor</a:t>
            </a:r>
          </a:p>
        </p:txBody>
      </p:sp>
      <p:sp>
        <p:nvSpPr>
          <p:cNvPr id="107" name="s4arr0"/>
          <p:cNvSpPr txBox="1">
            <a:spLocks noGrp="1"/>
          </p:cNvSpPr>
          <p:nvPr/>
        </p:nvSpPr>
        <p:spPr>
          <a:xfrm>
            <a:off x="2532888" y="3657600"/>
            <a:ext cx="210312" cy="3200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400" b="0" i="0" dirty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108" name="s4w1"/>
          <p:cNvSpPr>
            <a:spLocks noGrp="1"/>
          </p:cNvSpPr>
          <p:nvPr/>
        </p:nvSpPr>
        <p:spPr>
          <a:xfrm>
            <a:off x="2761488" y="1417320"/>
            <a:ext cx="2057400" cy="475488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4wh1"/>
          <p:cNvSpPr>
            <a:spLocks noGrp="1"/>
          </p:cNvSpPr>
          <p:nvPr/>
        </p:nvSpPr>
        <p:spPr>
          <a:xfrm>
            <a:off x="2761488" y="1417320"/>
            <a:ext cx="2057400" cy="457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4wl1"/>
          <p:cNvSpPr txBox="1">
            <a:spLocks noGrp="1"/>
          </p:cNvSpPr>
          <p:nvPr/>
        </p:nvSpPr>
        <p:spPr>
          <a:xfrm>
            <a:off x="2761488" y="1417320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100" b="1" i="0" dirty="0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111" name="s4wt1"/>
          <p:cNvSpPr txBox="1">
            <a:spLocks noGrp="1"/>
          </p:cNvSpPr>
          <p:nvPr/>
        </p:nvSpPr>
        <p:spPr>
          <a:xfrm>
            <a:off x="2834640" y="1947672"/>
            <a:ext cx="1911096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C1A968"/>
                </a:solidFill>
                <a:latin typeface="Arial"/>
              </a:rPr>
              <a:t>Skip Logic</a:t>
            </a:r>
          </a:p>
          <a:p>
            <a:pPr algn="l"/>
            <a:r>
              <a:rPr lang="en-US" sz="1200" b="1" i="0" dirty="0">
                <a:solidFill>
                  <a:srgbClr val="C1A968"/>
                </a:solidFill>
                <a:latin typeface="Arial"/>
              </a:rPr>
              <a:t>Gate</a:t>
            </a:r>
          </a:p>
        </p:txBody>
      </p:sp>
      <p:sp>
        <p:nvSpPr>
          <p:cNvPr id="112" name="s4wd1"/>
          <p:cNvSpPr txBox="1">
            <a:spLocks noGrp="1"/>
          </p:cNvSpPr>
          <p:nvPr/>
        </p:nvSpPr>
        <p:spPr>
          <a:xfrm>
            <a:off x="2834640" y="2532888"/>
            <a:ext cx="1911096" cy="3474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If focus_violations == 0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→ skip RTL analyzers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→ mark as CLEAN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in report</a:t>
            </a:r>
          </a:p>
        </p:txBody>
      </p:sp>
      <p:sp>
        <p:nvSpPr>
          <p:cNvPr id="113" name="s4arr1"/>
          <p:cNvSpPr txBox="1">
            <a:spLocks noGrp="1"/>
          </p:cNvSpPr>
          <p:nvPr/>
        </p:nvSpPr>
        <p:spPr>
          <a:xfrm>
            <a:off x="4837176" y="3657600"/>
            <a:ext cx="210312" cy="3200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400" b="0" i="0" dirty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114" name="s4w2"/>
          <p:cNvSpPr>
            <a:spLocks noGrp="1"/>
          </p:cNvSpPr>
          <p:nvPr/>
        </p:nvSpPr>
        <p:spPr>
          <a:xfrm>
            <a:off x="5065776" y="1417320"/>
            <a:ext cx="2057400" cy="475488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4wh2"/>
          <p:cNvSpPr>
            <a:spLocks noGrp="1"/>
          </p:cNvSpPr>
          <p:nvPr/>
        </p:nvSpPr>
        <p:spPr>
          <a:xfrm>
            <a:off x="5065776" y="1417320"/>
            <a:ext cx="2057400" cy="4572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s4wl2"/>
          <p:cNvSpPr txBox="1">
            <a:spLocks noGrp="1"/>
          </p:cNvSpPr>
          <p:nvPr/>
        </p:nvSpPr>
        <p:spPr>
          <a:xfrm>
            <a:off x="5065776" y="1417320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100" b="1" i="0" dirty="0">
                <a:solidFill>
                  <a:srgbClr val="FFFFFF"/>
                </a:solidFill>
                <a:latin typeface="Arial"/>
              </a:rPr>
              <a:t>WAVE 2</a:t>
            </a:r>
          </a:p>
        </p:txBody>
      </p:sp>
      <p:sp>
        <p:nvSpPr>
          <p:cNvPr id="117" name="s4wt2"/>
          <p:cNvSpPr txBox="1">
            <a:spLocks noGrp="1"/>
          </p:cNvSpPr>
          <p:nvPr/>
        </p:nvSpPr>
        <p:spPr>
          <a:xfrm>
            <a:off x="5138928" y="1947672"/>
            <a:ext cx="1911096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F26522"/>
                </a:solidFill>
                <a:latin typeface="Arial"/>
              </a:rPr>
              <a:t>RTL Analyzer</a:t>
            </a:r>
          </a:p>
          <a:p>
            <a:pPr algn="l"/>
            <a:r>
              <a:rPr lang="en-US" sz="1200" b="1" i="0" dirty="0">
                <a:solidFill>
                  <a:srgbClr val="F26522"/>
                </a:solidFill>
                <a:latin typeface="Arial"/>
              </a:rPr>
              <a:t>Agents</a:t>
            </a:r>
          </a:p>
        </p:txBody>
      </p:sp>
      <p:sp>
        <p:nvSpPr>
          <p:cNvPr id="118" name="s4wd2"/>
          <p:cNvSpPr txBox="1">
            <a:spLocks noGrp="1"/>
          </p:cNvSpPr>
          <p:nvPr/>
        </p:nvSpPr>
        <p:spPr>
          <a:xfrm>
            <a:off x="5138928" y="2532888"/>
            <a:ext cx="1911096" cy="3474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Parallel — one per violation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CDC · RDC · Lint · SpgDFT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Library Finder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RTL trace + fix formulation</a:t>
            </a:r>
          </a:p>
        </p:txBody>
      </p:sp>
      <p:sp>
        <p:nvSpPr>
          <p:cNvPr id="119" name="s4arr2"/>
          <p:cNvSpPr txBox="1">
            <a:spLocks noGrp="1"/>
          </p:cNvSpPr>
          <p:nvPr/>
        </p:nvSpPr>
        <p:spPr>
          <a:xfrm>
            <a:off x="7141464" y="3657600"/>
            <a:ext cx="210312" cy="3200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400" b="0" i="0" dirty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120" name="s4w3"/>
          <p:cNvSpPr>
            <a:spLocks noGrp="1"/>
          </p:cNvSpPr>
          <p:nvPr/>
        </p:nvSpPr>
        <p:spPr>
          <a:xfrm>
            <a:off x="7370064" y="1417320"/>
            <a:ext cx="2057400" cy="475488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4wh3"/>
          <p:cNvSpPr>
            <a:spLocks noGrp="1"/>
          </p:cNvSpPr>
          <p:nvPr/>
        </p:nvSpPr>
        <p:spPr>
          <a:xfrm>
            <a:off x="7370064" y="1417320"/>
            <a:ext cx="20574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4wl3"/>
          <p:cNvSpPr txBox="1">
            <a:spLocks noGrp="1"/>
          </p:cNvSpPr>
          <p:nvPr/>
        </p:nvSpPr>
        <p:spPr>
          <a:xfrm>
            <a:off x="7370064" y="1417320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100" b="1" i="0" dirty="0">
                <a:solidFill>
                  <a:srgbClr val="FFFFFF"/>
                </a:solidFill>
                <a:latin typeface="Arial"/>
              </a:rPr>
              <a:t>WAVE 2.5</a:t>
            </a:r>
          </a:p>
        </p:txBody>
      </p:sp>
      <p:sp>
        <p:nvSpPr>
          <p:cNvPr id="123" name="s4wt3"/>
          <p:cNvSpPr txBox="1">
            <a:spLocks noGrp="1"/>
          </p:cNvSpPr>
          <p:nvPr/>
        </p:nvSpPr>
        <p:spPr>
          <a:xfrm>
            <a:off x="7443216" y="1947672"/>
            <a:ext cx="1911096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2ECC71"/>
                </a:solidFill>
                <a:latin typeface="Arial"/>
              </a:rPr>
              <a:t>Fix</a:t>
            </a:r>
          </a:p>
          <a:p>
            <a:pPr algn="l"/>
            <a:r>
              <a:rPr lang="en-US" sz="1200" b="1" i="0" dirty="0">
                <a:solidFill>
                  <a:srgbClr val="2ECC71"/>
                </a:solidFill>
                <a:latin typeface="Arial"/>
              </a:rPr>
              <a:t>Consolidator</a:t>
            </a:r>
          </a:p>
        </p:txBody>
      </p:sp>
      <p:sp>
        <p:nvSpPr>
          <p:cNvPr id="124" name="s4wd3"/>
          <p:cNvSpPr txBox="1">
            <a:spLocks noGrp="1"/>
          </p:cNvSpPr>
          <p:nvPr/>
        </p:nvSpPr>
        <p:spPr>
          <a:xfrm>
            <a:off x="7443216" y="2532888"/>
            <a:ext cx="1911096" cy="3474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Deduplicate across agents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Resolve instance vs module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Verify tech-cell traces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Unified fix set</a:t>
            </a:r>
          </a:p>
        </p:txBody>
      </p:sp>
      <p:sp>
        <p:nvSpPr>
          <p:cNvPr id="125" name="s4arr3"/>
          <p:cNvSpPr txBox="1">
            <a:spLocks noGrp="1"/>
          </p:cNvSpPr>
          <p:nvPr/>
        </p:nvSpPr>
        <p:spPr>
          <a:xfrm>
            <a:off x="9445752" y="3657600"/>
            <a:ext cx="210312" cy="3200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400" b="0" i="0" dirty="0">
                <a:solidFill>
                  <a:srgbClr val="F26522"/>
                </a:solidFill>
                <a:latin typeface="Arial"/>
              </a:rPr>
              <a:t>▶</a:t>
            </a:r>
          </a:p>
        </p:txBody>
      </p:sp>
      <p:sp>
        <p:nvSpPr>
          <p:cNvPr id="126" name="s4w4"/>
          <p:cNvSpPr>
            <a:spLocks noGrp="1"/>
          </p:cNvSpPr>
          <p:nvPr/>
        </p:nvSpPr>
        <p:spPr>
          <a:xfrm>
            <a:off x="9674352" y="1417320"/>
            <a:ext cx="2057400" cy="475488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4wh4"/>
          <p:cNvSpPr>
            <a:spLocks noGrp="1"/>
          </p:cNvSpPr>
          <p:nvPr/>
        </p:nvSpPr>
        <p:spPr>
          <a:xfrm>
            <a:off x="9674352" y="1417320"/>
            <a:ext cx="205740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4wl4"/>
          <p:cNvSpPr txBox="1">
            <a:spLocks noGrp="1"/>
          </p:cNvSpPr>
          <p:nvPr/>
        </p:nvSpPr>
        <p:spPr>
          <a:xfrm>
            <a:off x="9674352" y="1417320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100" b="1" i="0" dirty="0">
                <a:solidFill>
                  <a:srgbClr val="FFFFFF"/>
                </a:solidFill>
                <a:latin typeface="Arial"/>
              </a:rPr>
              <a:t>WAVE 3</a:t>
            </a:r>
          </a:p>
        </p:txBody>
      </p:sp>
      <p:sp>
        <p:nvSpPr>
          <p:cNvPr id="129" name="s4wt4"/>
          <p:cNvSpPr txBox="1">
            <a:spLocks noGrp="1"/>
          </p:cNvSpPr>
          <p:nvPr/>
        </p:nvSpPr>
        <p:spPr>
          <a:xfrm>
            <a:off x="9747504" y="1947672"/>
            <a:ext cx="1911096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ED1C24"/>
                </a:solidFill>
                <a:latin typeface="Arial"/>
              </a:rPr>
              <a:t>Report &amp;</a:t>
            </a:r>
          </a:p>
          <a:p>
            <a:pPr algn="l"/>
            <a:r>
              <a:rPr lang="en-US" sz="1200" b="1" i="0" dirty="0">
                <a:solidFill>
                  <a:srgbClr val="ED1C24"/>
                </a:solidFill>
                <a:latin typeface="Arial"/>
              </a:rPr>
              <a:t>Email</a:t>
            </a:r>
          </a:p>
        </p:txBody>
      </p:sp>
      <p:sp>
        <p:nvSpPr>
          <p:cNvPr id="130" name="s4wd4"/>
          <p:cNvSpPr txBox="1">
            <a:spLocks noGrp="1"/>
          </p:cNvSpPr>
          <p:nvPr/>
        </p:nvSpPr>
        <p:spPr>
          <a:xfrm>
            <a:off x="9747504" y="2532888"/>
            <a:ext cx="1911096" cy="3474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3 compilers in parallel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3 HTML files generated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3 separate emails sent</a:t>
            </a:r>
          </a:p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per check type</a:t>
            </a:r>
          </a:p>
        </p:txBody>
      </p:sp>
      <p:sp>
        <p:nvSpPr>
          <p:cNvPr id="131" name="s4note_bg"/>
          <p:cNvSpPr>
            <a:spLocks noGrp="1"/>
          </p:cNvSpPr>
          <p:nvPr/>
        </p:nvSpPr>
        <p:spPr>
          <a:xfrm>
            <a:off x="365760" y="6236208"/>
            <a:ext cx="11430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4note"/>
          <p:cNvSpPr txBox="1">
            <a:spLocks noGrp="1"/>
          </p:cNvSpPr>
          <p:nvPr/>
        </p:nvSpPr>
        <p:spPr>
          <a:xfrm>
            <a:off x="457200" y="6263640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100" b="0" i="0" dirty="0">
                <a:solidFill>
                  <a:srgbClr val="00C2DE"/>
                </a:solidFill>
                <a:latin typeface="Arial"/>
              </a:rPr>
              <a:t>📁  File-based storage — all intermediate results written as JSON → survives context interruption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Wave 1 — Extractor &amp; Precondition Agents</a:t>
            </a:r>
          </a:p>
        </p:txBody>
      </p:sp>
      <p:sp>
        <p:nvSpPr>
          <p:cNvPr id="102" name="s5a0"/>
          <p:cNvSpPr>
            <a:spLocks noGrp="1"/>
          </p:cNvSpPr>
          <p:nvPr/>
        </p:nvSpPr>
        <p:spPr>
          <a:xfrm>
            <a:off x="411480" y="1417320"/>
            <a:ext cx="2212848" cy="45720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5at0"/>
          <p:cNvSpPr>
            <a:spLocks noGrp="1"/>
          </p:cNvSpPr>
          <p:nvPr/>
        </p:nvSpPr>
        <p:spPr>
          <a:xfrm>
            <a:off x="411480" y="1417320"/>
            <a:ext cx="2212848" cy="4114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5al0"/>
          <p:cNvSpPr>
            <a:spLocks noGrp="1"/>
          </p:cNvSpPr>
          <p:nvPr/>
        </p:nvSpPr>
        <p:spPr>
          <a:xfrm>
            <a:off x="411480" y="1417320"/>
            <a:ext cx="41148" cy="4572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s5an0"/>
          <p:cNvSpPr txBox="1">
            <a:spLocks noGrp="1"/>
          </p:cNvSpPr>
          <p:nvPr/>
        </p:nvSpPr>
        <p:spPr>
          <a:xfrm>
            <a:off x="502920" y="149047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ED1C24"/>
                </a:solidFill>
                <a:latin typeface="Arial"/>
              </a:rPr>
              <a:t>CDC/RDC</a:t>
            </a:r>
          </a:p>
          <a:p>
            <a:pPr algn="l"/>
            <a:r>
              <a:rPr lang="en-US" sz="1300" b="1" i="0" dirty="0">
                <a:solidFill>
                  <a:srgbClr val="ED1C24"/>
                </a:solidFill>
                <a:latin typeface="Arial"/>
              </a:rPr>
              <a:t>Precondition</a:t>
            </a:r>
          </a:p>
        </p:txBody>
      </p:sp>
      <p:sp>
        <p:nvSpPr>
          <p:cNvPr id="106" name="s5am_bg0"/>
          <p:cNvSpPr>
            <a:spLocks noGrp="1"/>
          </p:cNvSpPr>
          <p:nvPr/>
        </p:nvSpPr>
        <p:spPr>
          <a:xfrm>
            <a:off x="1847088" y="1490472"/>
            <a:ext cx="694944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5am0"/>
          <p:cNvSpPr txBox="1">
            <a:spLocks noGrp="1"/>
          </p:cNvSpPr>
          <p:nvPr/>
        </p:nvSpPr>
        <p:spPr>
          <a:xfrm>
            <a:off x="1828800" y="149961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900" b="0" i="0" dirty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108" name="s5ad0"/>
          <p:cNvSpPr txBox="1">
            <a:spLocks noGrp="1"/>
          </p:cNvSpPr>
          <p:nvPr/>
        </p:nvSpPr>
        <p:spPr>
          <a:xfrm>
            <a:off x="502920" y="1892808"/>
            <a:ext cx="2048256" cy="3931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Reads cdc_report.rpt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&amp; rdc_report.rpt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Inferred clocks/resets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Unresolved modules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Blackbox modules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Reads constraint file</a:t>
            </a:r>
          </a:p>
        </p:txBody>
      </p:sp>
      <p:sp>
        <p:nvSpPr>
          <p:cNvPr id="109" name="s5a1"/>
          <p:cNvSpPr>
            <a:spLocks noGrp="1"/>
          </p:cNvSpPr>
          <p:nvPr/>
        </p:nvSpPr>
        <p:spPr>
          <a:xfrm>
            <a:off x="2670048" y="1417320"/>
            <a:ext cx="2212848" cy="45720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5at1"/>
          <p:cNvSpPr>
            <a:spLocks noGrp="1"/>
          </p:cNvSpPr>
          <p:nvPr/>
        </p:nvSpPr>
        <p:spPr>
          <a:xfrm>
            <a:off x="2670048" y="1417320"/>
            <a:ext cx="2212848" cy="4114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5al1"/>
          <p:cNvSpPr>
            <a:spLocks noGrp="1"/>
          </p:cNvSpPr>
          <p:nvPr/>
        </p:nvSpPr>
        <p:spPr>
          <a:xfrm>
            <a:off x="2670048" y="1417320"/>
            <a:ext cx="41148" cy="45720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5an1"/>
          <p:cNvSpPr txBox="1">
            <a:spLocks noGrp="1"/>
          </p:cNvSpPr>
          <p:nvPr/>
        </p:nvSpPr>
        <p:spPr>
          <a:xfrm>
            <a:off x="2761488" y="149047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F26522"/>
                </a:solidFill>
                <a:latin typeface="Arial"/>
              </a:rPr>
              <a:t>CDC/RDC</a:t>
            </a:r>
          </a:p>
          <a:p>
            <a:pPr algn="l"/>
            <a:r>
              <a:rPr lang="en-US" sz="1300" b="1" i="0" dirty="0">
                <a:solidFill>
                  <a:srgbClr val="F26522"/>
                </a:solidFill>
                <a:latin typeface="Arial"/>
              </a:rPr>
              <a:t>Extractor</a:t>
            </a:r>
          </a:p>
        </p:txBody>
      </p:sp>
      <p:sp>
        <p:nvSpPr>
          <p:cNvPr id="113" name="s5am_bg1"/>
          <p:cNvSpPr>
            <a:spLocks noGrp="1"/>
          </p:cNvSpPr>
          <p:nvPr/>
        </p:nvSpPr>
        <p:spPr>
          <a:xfrm>
            <a:off x="4105656" y="1490472"/>
            <a:ext cx="694944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5am1"/>
          <p:cNvSpPr txBox="1">
            <a:spLocks noGrp="1"/>
          </p:cNvSpPr>
          <p:nvPr/>
        </p:nvSpPr>
        <p:spPr>
          <a:xfrm>
            <a:off x="4087368" y="149961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900" b="0" i="0" dirty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115" name="s5ad1"/>
          <p:cNvSpPr txBox="1">
            <a:spLocks noGrp="1"/>
          </p:cNvSpPr>
          <p:nvPr/>
        </p:nvSpPr>
        <p:spPr>
          <a:xfrm>
            <a:off x="2761488" y="1892808"/>
            <a:ext cx="2048256" cy="3931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Reads CDC Section 3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&amp; RDC Section 5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ERROR violations only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Filters DFT/RSMU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2-3 per bucket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All types covered</a:t>
            </a:r>
          </a:p>
        </p:txBody>
      </p:sp>
      <p:sp>
        <p:nvSpPr>
          <p:cNvPr id="116" name="s5a2"/>
          <p:cNvSpPr>
            <a:spLocks noGrp="1"/>
          </p:cNvSpPr>
          <p:nvPr/>
        </p:nvSpPr>
        <p:spPr>
          <a:xfrm>
            <a:off x="4928616" y="1417320"/>
            <a:ext cx="2212848" cy="45720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5at2"/>
          <p:cNvSpPr>
            <a:spLocks noGrp="1"/>
          </p:cNvSpPr>
          <p:nvPr/>
        </p:nvSpPr>
        <p:spPr>
          <a:xfrm>
            <a:off x="4928616" y="1417320"/>
            <a:ext cx="2212848" cy="41148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5al2"/>
          <p:cNvSpPr>
            <a:spLocks noGrp="1"/>
          </p:cNvSpPr>
          <p:nvPr/>
        </p:nvSpPr>
        <p:spPr>
          <a:xfrm>
            <a:off x="4928616" y="1417320"/>
            <a:ext cx="41148" cy="45720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5an2"/>
          <p:cNvSpPr txBox="1">
            <a:spLocks noGrp="1"/>
          </p:cNvSpPr>
          <p:nvPr/>
        </p:nvSpPr>
        <p:spPr>
          <a:xfrm>
            <a:off x="5020056" y="149047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C1A968"/>
                </a:solidFill>
                <a:latin typeface="Arial"/>
              </a:rPr>
              <a:t>Lint</a:t>
            </a:r>
          </a:p>
          <a:p>
            <a:pPr algn="l"/>
            <a:r>
              <a:rPr lang="en-US" sz="1300" b="1" i="0" dirty="0">
                <a:solidFill>
                  <a:srgbClr val="C1A968"/>
                </a:solidFill>
                <a:latin typeface="Arial"/>
              </a:rPr>
              <a:t>Extractor</a:t>
            </a:r>
          </a:p>
        </p:txBody>
      </p:sp>
      <p:sp>
        <p:nvSpPr>
          <p:cNvPr id="120" name="s5am_bg2"/>
          <p:cNvSpPr>
            <a:spLocks noGrp="1"/>
          </p:cNvSpPr>
          <p:nvPr/>
        </p:nvSpPr>
        <p:spPr>
          <a:xfrm>
            <a:off x="6364224" y="1490472"/>
            <a:ext cx="694944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5am2"/>
          <p:cNvSpPr txBox="1">
            <a:spLocks noGrp="1"/>
          </p:cNvSpPr>
          <p:nvPr/>
        </p:nvSpPr>
        <p:spPr>
          <a:xfrm>
            <a:off x="6345936" y="149961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900" b="0" i="0" dirty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122" name="s5ad2"/>
          <p:cNvSpPr txBox="1">
            <a:spLocks noGrp="1"/>
          </p:cNvSpPr>
          <p:nvPr/>
        </p:nvSpPr>
        <p:spPr>
          <a:xfrm>
            <a:off x="5020056" y="1892808"/>
            <a:ext cx="2048256" cy="3931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Reads leda_waiver.log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Error violations only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Filters rsmu/dft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Up to 10 focus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Groups by RTL file</a:t>
            </a:r>
          </a:p>
        </p:txBody>
      </p:sp>
      <p:sp>
        <p:nvSpPr>
          <p:cNvPr id="123" name="s5a3"/>
          <p:cNvSpPr>
            <a:spLocks noGrp="1"/>
          </p:cNvSpPr>
          <p:nvPr/>
        </p:nvSpPr>
        <p:spPr>
          <a:xfrm>
            <a:off x="7187184" y="1417320"/>
            <a:ext cx="2212848" cy="45720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5at3"/>
          <p:cNvSpPr>
            <a:spLocks noGrp="1"/>
          </p:cNvSpPr>
          <p:nvPr/>
        </p:nvSpPr>
        <p:spPr>
          <a:xfrm>
            <a:off x="7187184" y="1417320"/>
            <a:ext cx="2212848" cy="4114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5al3"/>
          <p:cNvSpPr>
            <a:spLocks noGrp="1"/>
          </p:cNvSpPr>
          <p:nvPr/>
        </p:nvSpPr>
        <p:spPr>
          <a:xfrm>
            <a:off x="7187184" y="1417320"/>
            <a:ext cx="41148" cy="45720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s5an3"/>
          <p:cNvSpPr txBox="1">
            <a:spLocks noGrp="1"/>
          </p:cNvSpPr>
          <p:nvPr/>
        </p:nvSpPr>
        <p:spPr>
          <a:xfrm>
            <a:off x="7278624" y="149047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SpgDFT</a:t>
            </a:r>
          </a:p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Precondition</a:t>
            </a:r>
          </a:p>
        </p:txBody>
      </p:sp>
      <p:sp>
        <p:nvSpPr>
          <p:cNvPr id="127" name="s5am_bg3"/>
          <p:cNvSpPr>
            <a:spLocks noGrp="1"/>
          </p:cNvSpPr>
          <p:nvPr/>
        </p:nvSpPr>
        <p:spPr>
          <a:xfrm>
            <a:off x="8622792" y="1490472"/>
            <a:ext cx="694944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5am3"/>
          <p:cNvSpPr txBox="1">
            <a:spLocks noGrp="1"/>
          </p:cNvSpPr>
          <p:nvPr/>
        </p:nvSpPr>
        <p:spPr>
          <a:xfrm>
            <a:off x="8604504" y="149961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900" b="0" i="0" dirty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129" name="s5ad3"/>
          <p:cNvSpPr txBox="1">
            <a:spLocks noGrp="1"/>
          </p:cNvSpPr>
          <p:nvPr/>
        </p:nvSpPr>
        <p:spPr>
          <a:xfrm>
            <a:off x="7278624" y="1892808"/>
            <a:ext cx="2048256" cy="3931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Reads moresimple.rpt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(blackbox section only)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BlackboxModule entries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Module names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needs_library?</a:t>
            </a:r>
          </a:p>
        </p:txBody>
      </p:sp>
      <p:sp>
        <p:nvSpPr>
          <p:cNvPr id="130" name="s5a4"/>
          <p:cNvSpPr>
            <a:spLocks noGrp="1"/>
          </p:cNvSpPr>
          <p:nvPr/>
        </p:nvSpPr>
        <p:spPr>
          <a:xfrm>
            <a:off x="9445752" y="1417320"/>
            <a:ext cx="2212848" cy="45720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5at4"/>
          <p:cNvSpPr>
            <a:spLocks noGrp="1"/>
          </p:cNvSpPr>
          <p:nvPr/>
        </p:nvSpPr>
        <p:spPr>
          <a:xfrm>
            <a:off x="9445752" y="1417320"/>
            <a:ext cx="2212848" cy="411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5al4"/>
          <p:cNvSpPr>
            <a:spLocks noGrp="1"/>
          </p:cNvSpPr>
          <p:nvPr/>
        </p:nvSpPr>
        <p:spPr>
          <a:xfrm>
            <a:off x="9445752" y="1417320"/>
            <a:ext cx="41148" cy="4572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5an4"/>
          <p:cNvSpPr txBox="1">
            <a:spLocks noGrp="1"/>
          </p:cNvSpPr>
          <p:nvPr/>
        </p:nvSpPr>
        <p:spPr>
          <a:xfrm>
            <a:off x="9537192" y="149047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2ECC71"/>
                </a:solidFill>
                <a:latin typeface="Arial"/>
              </a:rPr>
              <a:t>SpgDFT</a:t>
            </a:r>
          </a:p>
          <a:p>
            <a:pPr algn="l"/>
            <a:r>
              <a:rPr lang="en-US" sz="1300" b="1" i="0" dirty="0">
                <a:solidFill>
                  <a:srgbClr val="2ECC71"/>
                </a:solidFill>
                <a:latin typeface="Arial"/>
              </a:rPr>
              <a:t>Extractor</a:t>
            </a:r>
          </a:p>
        </p:txBody>
      </p:sp>
      <p:sp>
        <p:nvSpPr>
          <p:cNvPr id="134" name="s5am_bg4"/>
          <p:cNvSpPr>
            <a:spLocks noGrp="1"/>
          </p:cNvSpPr>
          <p:nvPr/>
        </p:nvSpPr>
        <p:spPr>
          <a:xfrm>
            <a:off x="10881360" y="1490472"/>
            <a:ext cx="694944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5am4"/>
          <p:cNvSpPr txBox="1">
            <a:spLocks noGrp="1"/>
          </p:cNvSpPr>
          <p:nvPr/>
        </p:nvSpPr>
        <p:spPr>
          <a:xfrm>
            <a:off x="10863072" y="149961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900" b="0" i="0" dirty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136" name="s5ad4"/>
          <p:cNvSpPr txBox="1">
            <a:spLocks noGrp="1"/>
          </p:cNvSpPr>
          <p:nvPr/>
        </p:nvSpPr>
        <p:spPr>
          <a:xfrm>
            <a:off x="9537192" y="1892808"/>
            <a:ext cx="2048256" cy="3931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Reads spec file (not rpt)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Pre-computed filter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Summary table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→ Unfiltered Error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   Details section</a:t>
            </a:r>
          </a:p>
        </p:txBody>
      </p:sp>
      <p:sp>
        <p:nvSpPr>
          <p:cNvPr id="137" name="s5note"/>
          <p:cNvSpPr txBox="1">
            <a:spLocks noGrp="1"/>
          </p:cNvSpPr>
          <p:nvPr/>
        </p:nvSpPr>
        <p:spPr>
          <a:xfrm>
            <a:off x="411480" y="608076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100" b="0" i="0" dirty="0">
                <a:solidFill>
                  <a:srgbClr val="00C2DE"/>
                </a:solidFill>
                <a:latin typeface="Arial"/>
              </a:rPr>
              <a:t>All 5 agents run in PARALLEL  →  Writes: data/&lt;tag&gt;_precondition_*.json  &amp;  data/&lt;tag&gt;_extractor_*.json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Skip Logic Gate — Intelligent Agent Skipping</a:t>
            </a:r>
          </a:p>
        </p:txBody>
      </p:sp>
      <p:sp>
        <p:nvSpPr>
          <p:cNvPr id="102" name="s6intro"/>
          <p:cNvSpPr txBox="1">
            <a:spLocks noGrp="1"/>
          </p:cNvSpPr>
          <p:nvPr/>
        </p:nvSpPr>
        <p:spPr>
          <a:xfrm>
            <a:off x="502920" y="1371600"/>
            <a:ext cx="11338560" cy="45720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0" i="0" dirty="0">
                <a:solidFill>
                  <a:srgbClr val="D5D5D5"/>
                </a:solidFill>
                <a:latin typeface="Arial"/>
              </a:rPr>
              <a:t>After Wave 1, Claude evaluates each check before spawning RTL analyzers. Zero-violation checks are skipped — no wasted compute.</a:t>
            </a:r>
          </a:p>
        </p:txBody>
      </p:sp>
      <p:sp>
        <p:nvSpPr>
          <p:cNvPr id="103" name="s6c0"/>
          <p:cNvSpPr>
            <a:spLocks noGrp="1"/>
          </p:cNvSpPr>
          <p:nvPr/>
        </p:nvSpPr>
        <p:spPr>
          <a:xfrm>
            <a:off x="457200" y="1901952"/>
            <a:ext cx="914400" cy="62179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6cn0"/>
          <p:cNvSpPr txBox="1">
            <a:spLocks noGrp="1"/>
          </p:cNvSpPr>
          <p:nvPr/>
        </p:nvSpPr>
        <p:spPr>
          <a:xfrm>
            <a:off x="457200" y="1901952"/>
            <a:ext cx="932688" cy="6400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Arial"/>
              </a:rPr>
              <a:t>CDC</a:t>
            </a:r>
          </a:p>
        </p:txBody>
      </p:sp>
      <p:sp>
        <p:nvSpPr>
          <p:cNvPr id="105" name="s6cond0"/>
          <p:cNvSpPr>
            <a:spLocks noGrp="1"/>
          </p:cNvSpPr>
          <p:nvPr/>
        </p:nvSpPr>
        <p:spPr>
          <a:xfrm>
            <a:off x="1481328" y="1901952"/>
            <a:ext cx="274320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6condt0"/>
          <p:cNvSpPr txBox="1">
            <a:spLocks noGrp="1"/>
          </p:cNvSpPr>
          <p:nvPr/>
        </p:nvSpPr>
        <p:spPr>
          <a:xfrm>
            <a:off x="1554480" y="1947672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107" name="s6arr10"/>
          <p:cNvSpPr txBox="1">
            <a:spLocks noGrp="1"/>
          </p:cNvSpPr>
          <p:nvPr/>
        </p:nvSpPr>
        <p:spPr>
          <a:xfrm>
            <a:off x="4315968" y="201168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1" i="0" dirty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108" name="s6cl0"/>
          <p:cNvSpPr>
            <a:spLocks noGrp="1"/>
          </p:cNvSpPr>
          <p:nvPr/>
        </p:nvSpPr>
        <p:spPr>
          <a:xfrm>
            <a:off x="4846320" y="1901952"/>
            <a:ext cx="2103120" cy="6217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6clb0"/>
          <p:cNvSpPr>
            <a:spLocks noGrp="1"/>
          </p:cNvSpPr>
          <p:nvPr/>
        </p:nvSpPr>
        <p:spPr>
          <a:xfrm>
            <a:off x="4846320" y="1901952"/>
            <a:ext cx="36576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6clt0"/>
          <p:cNvSpPr txBox="1">
            <a:spLocks noGrp="1"/>
          </p:cNvSpPr>
          <p:nvPr/>
        </p:nvSpPr>
        <p:spPr>
          <a:xfrm>
            <a:off x="4937760" y="199339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2ECC71"/>
                </a:solidFill>
                <a:latin typeface="Arial"/>
              </a:rPr>
              <a:t>✓  CDC CLEAN</a:t>
            </a:r>
          </a:p>
        </p:txBody>
      </p:sp>
      <p:sp>
        <p:nvSpPr>
          <p:cNvPr id="111" name="s6arr20"/>
          <p:cNvSpPr txBox="1">
            <a:spLocks noGrp="1"/>
          </p:cNvSpPr>
          <p:nvPr/>
        </p:nvSpPr>
        <p:spPr>
          <a:xfrm>
            <a:off x="7040880" y="201168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0" i="0" dirty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112" name="s6sk0"/>
          <p:cNvSpPr>
            <a:spLocks noGrp="1"/>
          </p:cNvSpPr>
          <p:nvPr/>
        </p:nvSpPr>
        <p:spPr>
          <a:xfrm>
            <a:off x="7589520" y="1901952"/>
            <a:ext cx="420624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6skt0"/>
          <p:cNvSpPr txBox="1">
            <a:spLocks noGrp="1"/>
          </p:cNvSpPr>
          <p:nvPr/>
        </p:nvSpPr>
        <p:spPr>
          <a:xfrm>
            <a:off x="7680960" y="1993392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9D9FA2"/>
                </a:solidFill>
                <a:latin typeface="Arial"/>
              </a:rPr>
              <a:t>Skip CDC RTL Analyzers</a:t>
            </a:r>
          </a:p>
        </p:txBody>
      </p:sp>
      <p:sp>
        <p:nvSpPr>
          <p:cNvPr id="114" name="s6c1"/>
          <p:cNvSpPr>
            <a:spLocks noGrp="1"/>
          </p:cNvSpPr>
          <p:nvPr/>
        </p:nvSpPr>
        <p:spPr>
          <a:xfrm>
            <a:off x="457200" y="2670048"/>
            <a:ext cx="914400" cy="62179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6cn1"/>
          <p:cNvSpPr txBox="1">
            <a:spLocks noGrp="1"/>
          </p:cNvSpPr>
          <p:nvPr/>
        </p:nvSpPr>
        <p:spPr>
          <a:xfrm>
            <a:off x="457200" y="2670048"/>
            <a:ext cx="932688" cy="6400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Arial"/>
              </a:rPr>
              <a:t>RDC</a:t>
            </a:r>
          </a:p>
        </p:txBody>
      </p:sp>
      <p:sp>
        <p:nvSpPr>
          <p:cNvPr id="116" name="s6cond1"/>
          <p:cNvSpPr>
            <a:spLocks noGrp="1"/>
          </p:cNvSpPr>
          <p:nvPr/>
        </p:nvSpPr>
        <p:spPr>
          <a:xfrm>
            <a:off x="1481328" y="2670048"/>
            <a:ext cx="274320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6condt1"/>
          <p:cNvSpPr txBox="1">
            <a:spLocks noGrp="1"/>
          </p:cNvSpPr>
          <p:nvPr/>
        </p:nvSpPr>
        <p:spPr>
          <a:xfrm>
            <a:off x="1554480" y="2715768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118" name="s6arr11"/>
          <p:cNvSpPr txBox="1">
            <a:spLocks noGrp="1"/>
          </p:cNvSpPr>
          <p:nvPr/>
        </p:nvSpPr>
        <p:spPr>
          <a:xfrm>
            <a:off x="4315968" y="277977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1" i="0" dirty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119" name="s6cl1"/>
          <p:cNvSpPr>
            <a:spLocks noGrp="1"/>
          </p:cNvSpPr>
          <p:nvPr/>
        </p:nvSpPr>
        <p:spPr>
          <a:xfrm>
            <a:off x="4846320" y="2670048"/>
            <a:ext cx="2103120" cy="6217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6clb1"/>
          <p:cNvSpPr>
            <a:spLocks noGrp="1"/>
          </p:cNvSpPr>
          <p:nvPr/>
        </p:nvSpPr>
        <p:spPr>
          <a:xfrm>
            <a:off x="4846320" y="2670048"/>
            <a:ext cx="36576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6clt1"/>
          <p:cNvSpPr txBox="1">
            <a:spLocks noGrp="1"/>
          </p:cNvSpPr>
          <p:nvPr/>
        </p:nvSpPr>
        <p:spPr>
          <a:xfrm>
            <a:off x="4937760" y="276148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2ECC71"/>
                </a:solidFill>
                <a:latin typeface="Arial"/>
              </a:rPr>
              <a:t>✓  RDC CLEAN</a:t>
            </a:r>
          </a:p>
        </p:txBody>
      </p:sp>
      <p:sp>
        <p:nvSpPr>
          <p:cNvPr id="122" name="s6arr21"/>
          <p:cNvSpPr txBox="1">
            <a:spLocks noGrp="1"/>
          </p:cNvSpPr>
          <p:nvPr/>
        </p:nvSpPr>
        <p:spPr>
          <a:xfrm>
            <a:off x="7040880" y="277977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0" i="0" dirty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123" name="s6sk1"/>
          <p:cNvSpPr>
            <a:spLocks noGrp="1"/>
          </p:cNvSpPr>
          <p:nvPr/>
        </p:nvSpPr>
        <p:spPr>
          <a:xfrm>
            <a:off x="7589520" y="2670048"/>
            <a:ext cx="420624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6skt1"/>
          <p:cNvSpPr txBox="1">
            <a:spLocks noGrp="1"/>
          </p:cNvSpPr>
          <p:nvPr/>
        </p:nvSpPr>
        <p:spPr>
          <a:xfrm>
            <a:off x="7680960" y="2761488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9D9FA2"/>
                </a:solidFill>
                <a:latin typeface="Arial"/>
              </a:rPr>
              <a:t>Skip RDC RTL Analyzers</a:t>
            </a:r>
          </a:p>
        </p:txBody>
      </p:sp>
      <p:sp>
        <p:nvSpPr>
          <p:cNvPr id="125" name="s6c2"/>
          <p:cNvSpPr>
            <a:spLocks noGrp="1"/>
          </p:cNvSpPr>
          <p:nvPr/>
        </p:nvSpPr>
        <p:spPr>
          <a:xfrm>
            <a:off x="457200" y="3438144"/>
            <a:ext cx="914400" cy="621792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s6cn2"/>
          <p:cNvSpPr txBox="1">
            <a:spLocks noGrp="1"/>
          </p:cNvSpPr>
          <p:nvPr/>
        </p:nvSpPr>
        <p:spPr>
          <a:xfrm>
            <a:off x="457200" y="3438144"/>
            <a:ext cx="932688" cy="6400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Arial"/>
              </a:rPr>
              <a:t>Lint</a:t>
            </a:r>
          </a:p>
        </p:txBody>
      </p:sp>
      <p:sp>
        <p:nvSpPr>
          <p:cNvPr id="127" name="s6cond2"/>
          <p:cNvSpPr>
            <a:spLocks noGrp="1"/>
          </p:cNvSpPr>
          <p:nvPr/>
        </p:nvSpPr>
        <p:spPr>
          <a:xfrm>
            <a:off x="1481328" y="3438144"/>
            <a:ext cx="274320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6condt2"/>
          <p:cNvSpPr txBox="1">
            <a:spLocks noGrp="1"/>
          </p:cNvSpPr>
          <p:nvPr/>
        </p:nvSpPr>
        <p:spPr>
          <a:xfrm>
            <a:off x="1554480" y="3483864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129" name="s6arr12"/>
          <p:cNvSpPr txBox="1">
            <a:spLocks noGrp="1"/>
          </p:cNvSpPr>
          <p:nvPr/>
        </p:nvSpPr>
        <p:spPr>
          <a:xfrm>
            <a:off x="4315968" y="354787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1" i="0" dirty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130" name="s6cl2"/>
          <p:cNvSpPr>
            <a:spLocks noGrp="1"/>
          </p:cNvSpPr>
          <p:nvPr/>
        </p:nvSpPr>
        <p:spPr>
          <a:xfrm>
            <a:off x="4846320" y="3438144"/>
            <a:ext cx="2103120" cy="6217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6clb2"/>
          <p:cNvSpPr>
            <a:spLocks noGrp="1"/>
          </p:cNvSpPr>
          <p:nvPr/>
        </p:nvSpPr>
        <p:spPr>
          <a:xfrm>
            <a:off x="4846320" y="3438144"/>
            <a:ext cx="36576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6clt2"/>
          <p:cNvSpPr txBox="1">
            <a:spLocks noGrp="1"/>
          </p:cNvSpPr>
          <p:nvPr/>
        </p:nvSpPr>
        <p:spPr>
          <a:xfrm>
            <a:off x="4937760" y="3529584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2ECC71"/>
                </a:solidFill>
                <a:latin typeface="Arial"/>
              </a:rPr>
              <a:t>✓  Lint CLEAN</a:t>
            </a:r>
          </a:p>
        </p:txBody>
      </p:sp>
      <p:sp>
        <p:nvSpPr>
          <p:cNvPr id="133" name="s6arr22"/>
          <p:cNvSpPr txBox="1">
            <a:spLocks noGrp="1"/>
          </p:cNvSpPr>
          <p:nvPr/>
        </p:nvSpPr>
        <p:spPr>
          <a:xfrm>
            <a:off x="7040880" y="354787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0" i="0" dirty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134" name="s6sk2"/>
          <p:cNvSpPr>
            <a:spLocks noGrp="1"/>
          </p:cNvSpPr>
          <p:nvPr/>
        </p:nvSpPr>
        <p:spPr>
          <a:xfrm>
            <a:off x="7589520" y="3438144"/>
            <a:ext cx="420624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6skt2"/>
          <p:cNvSpPr txBox="1">
            <a:spLocks noGrp="1"/>
          </p:cNvSpPr>
          <p:nvPr/>
        </p:nvSpPr>
        <p:spPr>
          <a:xfrm>
            <a:off x="7680960" y="3529584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9D9FA2"/>
                </a:solidFill>
                <a:latin typeface="Arial"/>
              </a:rPr>
              <a:t>Skip Lint RTL Analyzers</a:t>
            </a:r>
          </a:p>
        </p:txBody>
      </p:sp>
      <p:sp>
        <p:nvSpPr>
          <p:cNvPr id="136" name="s6c3"/>
          <p:cNvSpPr>
            <a:spLocks noGrp="1"/>
          </p:cNvSpPr>
          <p:nvPr/>
        </p:nvSpPr>
        <p:spPr>
          <a:xfrm>
            <a:off x="457200" y="4206240"/>
            <a:ext cx="91440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s6cn3"/>
          <p:cNvSpPr txBox="1">
            <a:spLocks noGrp="1"/>
          </p:cNvSpPr>
          <p:nvPr/>
        </p:nvSpPr>
        <p:spPr>
          <a:xfrm>
            <a:off x="457200" y="4206240"/>
            <a:ext cx="932688" cy="6400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Arial"/>
              </a:rPr>
              <a:t>SpgDFT</a:t>
            </a:r>
          </a:p>
        </p:txBody>
      </p:sp>
      <p:sp>
        <p:nvSpPr>
          <p:cNvPr id="138" name="s6cond3"/>
          <p:cNvSpPr>
            <a:spLocks noGrp="1"/>
          </p:cNvSpPr>
          <p:nvPr/>
        </p:nvSpPr>
        <p:spPr>
          <a:xfrm>
            <a:off x="1481328" y="4206240"/>
            <a:ext cx="274320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s6condt3"/>
          <p:cNvSpPr txBox="1">
            <a:spLocks noGrp="1"/>
          </p:cNvSpPr>
          <p:nvPr/>
        </p:nvSpPr>
        <p:spPr>
          <a:xfrm>
            <a:off x="1554480" y="425196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140" name="s6arr13"/>
          <p:cNvSpPr txBox="1">
            <a:spLocks noGrp="1"/>
          </p:cNvSpPr>
          <p:nvPr/>
        </p:nvSpPr>
        <p:spPr>
          <a:xfrm>
            <a:off x="4315968" y="4315968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1" i="0" dirty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141" name="s6cl3"/>
          <p:cNvSpPr>
            <a:spLocks noGrp="1"/>
          </p:cNvSpPr>
          <p:nvPr/>
        </p:nvSpPr>
        <p:spPr>
          <a:xfrm>
            <a:off x="4846320" y="4206240"/>
            <a:ext cx="2103120" cy="6217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6clb3"/>
          <p:cNvSpPr>
            <a:spLocks noGrp="1"/>
          </p:cNvSpPr>
          <p:nvPr/>
        </p:nvSpPr>
        <p:spPr>
          <a:xfrm>
            <a:off x="4846320" y="4206240"/>
            <a:ext cx="36576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6clt3"/>
          <p:cNvSpPr txBox="1">
            <a:spLocks noGrp="1"/>
          </p:cNvSpPr>
          <p:nvPr/>
        </p:nvSpPr>
        <p:spPr>
          <a:xfrm>
            <a:off x="4937760" y="429768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2ECC71"/>
                </a:solidFill>
                <a:latin typeface="Arial"/>
              </a:rPr>
              <a:t>✓  SpgDFT CLEAN</a:t>
            </a:r>
          </a:p>
        </p:txBody>
      </p:sp>
      <p:sp>
        <p:nvSpPr>
          <p:cNvPr id="144" name="s6arr23"/>
          <p:cNvSpPr txBox="1">
            <a:spLocks noGrp="1"/>
          </p:cNvSpPr>
          <p:nvPr/>
        </p:nvSpPr>
        <p:spPr>
          <a:xfrm>
            <a:off x="7040880" y="4315968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0" i="0" dirty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145" name="s6sk3"/>
          <p:cNvSpPr>
            <a:spLocks noGrp="1"/>
          </p:cNvSpPr>
          <p:nvPr/>
        </p:nvSpPr>
        <p:spPr>
          <a:xfrm>
            <a:off x="7589520" y="4206240"/>
            <a:ext cx="420624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s6skt3"/>
          <p:cNvSpPr txBox="1">
            <a:spLocks noGrp="1"/>
          </p:cNvSpPr>
          <p:nvPr/>
        </p:nvSpPr>
        <p:spPr>
          <a:xfrm>
            <a:off x="7680960" y="429768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9D9FA2"/>
                </a:solidFill>
                <a:latin typeface="Arial"/>
              </a:rPr>
              <a:t>Skip SpgDFT RTL Analyzers</a:t>
            </a:r>
          </a:p>
        </p:txBody>
      </p:sp>
      <p:sp>
        <p:nvSpPr>
          <p:cNvPr id="147" name="s6c4"/>
          <p:cNvSpPr>
            <a:spLocks noGrp="1"/>
          </p:cNvSpPr>
          <p:nvPr/>
        </p:nvSpPr>
        <p:spPr>
          <a:xfrm>
            <a:off x="457200" y="4974336"/>
            <a:ext cx="914400" cy="62179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s6cn4"/>
          <p:cNvSpPr txBox="1">
            <a:spLocks noGrp="1"/>
          </p:cNvSpPr>
          <p:nvPr/>
        </p:nvSpPr>
        <p:spPr>
          <a:xfrm>
            <a:off x="457200" y="4974336"/>
            <a:ext cx="932688" cy="6400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Arial"/>
              </a:rPr>
              <a:t>Library</a:t>
            </a:r>
          </a:p>
        </p:txBody>
      </p:sp>
      <p:sp>
        <p:nvSpPr>
          <p:cNvPr id="149" name="s6cond4"/>
          <p:cNvSpPr>
            <a:spLocks noGrp="1"/>
          </p:cNvSpPr>
          <p:nvPr/>
        </p:nvSpPr>
        <p:spPr>
          <a:xfrm>
            <a:off x="1481328" y="4974336"/>
            <a:ext cx="274320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6condt4"/>
          <p:cNvSpPr txBox="1">
            <a:spLocks noGrp="1"/>
          </p:cNvSpPr>
          <p:nvPr/>
        </p:nvSpPr>
        <p:spPr>
          <a:xfrm>
            <a:off x="1554480" y="5020056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D5D5D5"/>
                </a:solidFill>
                <a:latin typeface="Arial"/>
              </a:rPr>
              <a:t>unresolved == 0 &amp;</a:t>
            </a:r>
          </a:p>
          <a:p>
            <a:pPr algn="l"/>
            <a:r>
              <a:rPr lang="en-US" sz="1100" b="0" i="1" dirty="0">
                <a:solidFill>
                  <a:srgbClr val="D5D5D5"/>
                </a:solidFill>
                <a:latin typeface="Arial"/>
              </a:rPr>
              <a:t>blackbox == 0</a:t>
            </a:r>
          </a:p>
        </p:txBody>
      </p:sp>
      <p:sp>
        <p:nvSpPr>
          <p:cNvPr id="151" name="s6arr14"/>
          <p:cNvSpPr txBox="1">
            <a:spLocks noGrp="1"/>
          </p:cNvSpPr>
          <p:nvPr/>
        </p:nvSpPr>
        <p:spPr>
          <a:xfrm>
            <a:off x="4315968" y="5084064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1" i="0" dirty="0">
                <a:solidFill>
                  <a:srgbClr val="F26522"/>
                </a:solidFill>
                <a:latin typeface="Arial"/>
              </a:rPr>
              <a:t>→</a:t>
            </a:r>
          </a:p>
        </p:txBody>
      </p:sp>
      <p:sp>
        <p:nvSpPr>
          <p:cNvPr id="152" name="s6cl4"/>
          <p:cNvSpPr>
            <a:spLocks noGrp="1"/>
          </p:cNvSpPr>
          <p:nvPr/>
        </p:nvSpPr>
        <p:spPr>
          <a:xfrm>
            <a:off x="4846320" y="4974336"/>
            <a:ext cx="2103120" cy="6217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s6clb4"/>
          <p:cNvSpPr>
            <a:spLocks noGrp="1"/>
          </p:cNvSpPr>
          <p:nvPr/>
        </p:nvSpPr>
        <p:spPr>
          <a:xfrm>
            <a:off x="4846320" y="4974336"/>
            <a:ext cx="36576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s6clt4"/>
          <p:cNvSpPr txBox="1">
            <a:spLocks noGrp="1"/>
          </p:cNvSpPr>
          <p:nvPr/>
        </p:nvSpPr>
        <p:spPr>
          <a:xfrm>
            <a:off x="4937760" y="5065776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2ECC71"/>
                </a:solidFill>
                <a:latin typeface="Arial"/>
              </a:rPr>
              <a:t>✓  No missing libs</a:t>
            </a:r>
          </a:p>
        </p:txBody>
      </p:sp>
      <p:sp>
        <p:nvSpPr>
          <p:cNvPr id="155" name="s6arr24"/>
          <p:cNvSpPr txBox="1">
            <a:spLocks noGrp="1"/>
          </p:cNvSpPr>
          <p:nvPr/>
        </p:nvSpPr>
        <p:spPr>
          <a:xfrm>
            <a:off x="7040880" y="5084064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800" b="0" i="0" dirty="0">
                <a:solidFill>
                  <a:srgbClr val="9D9FA2"/>
                </a:solidFill>
                <a:latin typeface="Arial"/>
              </a:rPr>
              <a:t>→</a:t>
            </a:r>
          </a:p>
        </p:txBody>
      </p:sp>
      <p:sp>
        <p:nvSpPr>
          <p:cNvPr id="156" name="s6sk4"/>
          <p:cNvSpPr>
            <a:spLocks noGrp="1"/>
          </p:cNvSpPr>
          <p:nvPr/>
        </p:nvSpPr>
        <p:spPr>
          <a:xfrm>
            <a:off x="7589520" y="4974336"/>
            <a:ext cx="4206240" cy="6217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s6skt4"/>
          <p:cNvSpPr txBox="1">
            <a:spLocks noGrp="1"/>
          </p:cNvSpPr>
          <p:nvPr/>
        </p:nvSpPr>
        <p:spPr>
          <a:xfrm>
            <a:off x="7680960" y="5065776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1" dirty="0">
                <a:solidFill>
                  <a:srgbClr val="9D9FA2"/>
                </a:solidFill>
                <a:latin typeface="Arial"/>
              </a:rPr>
              <a:t>Skip Library Finder</a:t>
            </a:r>
          </a:p>
        </p:txBody>
      </p:sp>
      <p:sp>
        <p:nvSpPr>
          <p:cNvPr id="158" name="s6warn_bg"/>
          <p:cNvSpPr>
            <a:spLocks noGrp="1"/>
          </p:cNvSpPr>
          <p:nvPr/>
        </p:nvSpPr>
        <p:spPr>
          <a:xfrm>
            <a:off x="457200" y="5724144"/>
            <a:ext cx="1133856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s6warn"/>
          <p:cNvSpPr txBox="1">
            <a:spLocks noGrp="1"/>
          </p:cNvSpPr>
          <p:nvPr/>
        </p:nvSpPr>
        <p:spPr>
          <a:xfrm>
            <a:off x="548640" y="576072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200" b="0" i="0" dirty="0">
                <a:solidFill>
                  <a:srgbClr val="C1A968"/>
                </a:solidFill>
                <a:latin typeface="Arial"/>
              </a:rPr>
              <a:t>⚠  Precondition agents are NEVER skipped — even a 'zero inferred' result belongs in the report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Wave 2 — RTL Analyzer Agents (Parallel)</a:t>
            </a:r>
          </a:p>
        </p:txBody>
      </p:sp>
      <p:sp>
        <p:nvSpPr>
          <p:cNvPr id="102" name="s7a0"/>
          <p:cNvSpPr>
            <a:spLocks noGrp="1"/>
          </p:cNvSpPr>
          <p:nvPr/>
        </p:nvSpPr>
        <p:spPr>
          <a:xfrm>
            <a:off x="320040" y="1371600"/>
            <a:ext cx="2880360" cy="50749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7ah0"/>
          <p:cNvSpPr>
            <a:spLocks noGrp="1"/>
          </p:cNvSpPr>
          <p:nvPr/>
        </p:nvSpPr>
        <p:spPr>
          <a:xfrm>
            <a:off x="320040" y="1371600"/>
            <a:ext cx="288036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7an0"/>
          <p:cNvSpPr txBox="1">
            <a:spLocks noGrp="1"/>
          </p:cNvSpPr>
          <p:nvPr/>
        </p:nvSpPr>
        <p:spPr>
          <a:xfrm>
            <a:off x="411480" y="138988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CDC/RDC RTL</a:t>
            </a:r>
          </a:p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Analyzer</a:t>
            </a:r>
          </a:p>
        </p:txBody>
      </p:sp>
      <p:sp>
        <p:nvSpPr>
          <p:cNvPr id="105" name="s7am_bg0"/>
          <p:cNvSpPr>
            <a:spLocks noGrp="1"/>
          </p:cNvSpPr>
          <p:nvPr/>
        </p:nvSpPr>
        <p:spPr>
          <a:xfrm>
            <a:off x="2423160" y="1444752"/>
            <a:ext cx="694944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7am0"/>
          <p:cNvSpPr txBox="1">
            <a:spLocks noGrp="1"/>
          </p:cNvSpPr>
          <p:nvPr/>
        </p:nvSpPr>
        <p:spPr>
          <a:xfrm>
            <a:off x="2404872" y="145389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900" b="0" i="0" dirty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107" name="s7ad0"/>
          <p:cNvSpPr txBox="1">
            <a:spLocks noGrp="1"/>
          </p:cNvSpPr>
          <p:nvPr/>
        </p:nvSpPr>
        <p:spPr>
          <a:xfrm>
            <a:off x="411480" y="1901952"/>
            <a:ext cx="2715768" cy="43891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Checks LEARNING.md first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Finds RTL file via grep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Understands clock domains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Traces to leaf tech cell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Reads constraint file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WHY statement formulation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Risk: HIGH / MED / LOW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Fix: rtl_fix / constraint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  / investigate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ZERO waivers</a:t>
            </a:r>
          </a:p>
        </p:txBody>
      </p:sp>
      <p:sp>
        <p:nvSpPr>
          <p:cNvPr id="108" name="s7a1"/>
          <p:cNvSpPr>
            <a:spLocks noGrp="1"/>
          </p:cNvSpPr>
          <p:nvPr/>
        </p:nvSpPr>
        <p:spPr>
          <a:xfrm>
            <a:off x="3282696" y="1371600"/>
            <a:ext cx="2880360" cy="50749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7ah1"/>
          <p:cNvSpPr>
            <a:spLocks noGrp="1"/>
          </p:cNvSpPr>
          <p:nvPr/>
        </p:nvSpPr>
        <p:spPr>
          <a:xfrm>
            <a:off x="3282696" y="1371600"/>
            <a:ext cx="2880360" cy="457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7an1"/>
          <p:cNvSpPr txBox="1">
            <a:spLocks noGrp="1"/>
          </p:cNvSpPr>
          <p:nvPr/>
        </p:nvSpPr>
        <p:spPr>
          <a:xfrm>
            <a:off x="3374136" y="138988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Lint RTL</a:t>
            </a:r>
          </a:p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Analyzer</a:t>
            </a:r>
          </a:p>
        </p:txBody>
      </p:sp>
      <p:sp>
        <p:nvSpPr>
          <p:cNvPr id="111" name="s7am_bg1"/>
          <p:cNvSpPr>
            <a:spLocks noGrp="1"/>
          </p:cNvSpPr>
          <p:nvPr/>
        </p:nvSpPr>
        <p:spPr>
          <a:xfrm>
            <a:off x="5385816" y="1444752"/>
            <a:ext cx="694944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7am1"/>
          <p:cNvSpPr txBox="1">
            <a:spLocks noGrp="1"/>
          </p:cNvSpPr>
          <p:nvPr/>
        </p:nvSpPr>
        <p:spPr>
          <a:xfrm>
            <a:off x="5367528" y="145389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900" b="0" i="0" dirty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113" name="s7ad1"/>
          <p:cNvSpPr txBox="1">
            <a:spLocks noGrp="1"/>
          </p:cNvSpPr>
          <p:nvPr/>
        </p:nvSpPr>
        <p:spPr>
          <a:xfrm>
            <a:off x="3374136" y="1901952"/>
            <a:ext cx="2715768" cy="43891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Checks lint/LEARNING.md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ONE agent per RTL FILE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(not per violation)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Reads full RTL file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Checks waiver file (ctx)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Fix: rtl_fix — real bug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Fix: tie_off — debug port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Fix: investigate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ZERO waivers</a:t>
            </a:r>
          </a:p>
        </p:txBody>
      </p:sp>
      <p:sp>
        <p:nvSpPr>
          <p:cNvPr id="114" name="s7a2"/>
          <p:cNvSpPr>
            <a:spLocks noGrp="1"/>
          </p:cNvSpPr>
          <p:nvPr/>
        </p:nvSpPr>
        <p:spPr>
          <a:xfrm>
            <a:off x="6245352" y="1371600"/>
            <a:ext cx="2880360" cy="50749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7ah2"/>
          <p:cNvSpPr>
            <a:spLocks noGrp="1"/>
          </p:cNvSpPr>
          <p:nvPr/>
        </p:nvSpPr>
        <p:spPr>
          <a:xfrm>
            <a:off x="6245352" y="1371600"/>
            <a:ext cx="288036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s7an2"/>
          <p:cNvSpPr txBox="1">
            <a:spLocks noGrp="1"/>
          </p:cNvSpPr>
          <p:nvPr/>
        </p:nvSpPr>
        <p:spPr>
          <a:xfrm>
            <a:off x="6336792" y="138988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SpgDFT RTL</a:t>
            </a:r>
          </a:p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Analyzer</a:t>
            </a:r>
          </a:p>
        </p:txBody>
      </p:sp>
      <p:sp>
        <p:nvSpPr>
          <p:cNvPr id="117" name="s7am_bg2"/>
          <p:cNvSpPr>
            <a:spLocks noGrp="1"/>
          </p:cNvSpPr>
          <p:nvPr/>
        </p:nvSpPr>
        <p:spPr>
          <a:xfrm>
            <a:off x="8348472" y="1444752"/>
            <a:ext cx="694944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7am2"/>
          <p:cNvSpPr txBox="1">
            <a:spLocks noGrp="1"/>
          </p:cNvSpPr>
          <p:nvPr/>
        </p:nvSpPr>
        <p:spPr>
          <a:xfrm>
            <a:off x="8330184" y="145389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900" b="0" i="0" dirty="0">
                <a:solidFill>
                  <a:srgbClr val="9D9FA2"/>
                </a:solidFill>
                <a:latin typeface="Arial"/>
              </a:rPr>
              <a:t>sonnet</a:t>
            </a:r>
          </a:p>
        </p:txBody>
      </p:sp>
      <p:sp>
        <p:nvSpPr>
          <p:cNvPr id="119" name="s7ad2"/>
          <p:cNvSpPr txBox="1">
            <a:spLocks noGrp="1"/>
          </p:cNvSpPr>
          <p:nvPr/>
        </p:nvSpPr>
        <p:spPr>
          <a:xfrm>
            <a:off x="6336792" y="1901952"/>
            <a:ext cx="2715768" cy="43891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Checks spgdft/LEARNING.md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Identifies violation type: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    async → PIN_CONSTRAINT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    clock → SGDC constraint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    undriven → tie-off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Reads project.params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Fix: rtl_fix / tie_off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Fix: SPGDFT_PIN_CONSTRAINT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Fix: sgdc_constraint</a:t>
            </a:r>
          </a:p>
        </p:txBody>
      </p:sp>
      <p:sp>
        <p:nvSpPr>
          <p:cNvPr id="120" name="s7a3"/>
          <p:cNvSpPr>
            <a:spLocks noGrp="1"/>
          </p:cNvSpPr>
          <p:nvPr/>
        </p:nvSpPr>
        <p:spPr>
          <a:xfrm>
            <a:off x="9208008" y="1371600"/>
            <a:ext cx="2880360" cy="50749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7ah3"/>
          <p:cNvSpPr>
            <a:spLocks noGrp="1"/>
          </p:cNvSpPr>
          <p:nvPr/>
        </p:nvSpPr>
        <p:spPr>
          <a:xfrm>
            <a:off x="9208008" y="1371600"/>
            <a:ext cx="2880360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7an3"/>
          <p:cNvSpPr txBox="1">
            <a:spLocks noGrp="1"/>
          </p:cNvSpPr>
          <p:nvPr/>
        </p:nvSpPr>
        <p:spPr>
          <a:xfrm>
            <a:off x="9299448" y="138988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Library</a:t>
            </a:r>
          </a:p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Finder</a:t>
            </a:r>
          </a:p>
        </p:txBody>
      </p:sp>
      <p:sp>
        <p:nvSpPr>
          <p:cNvPr id="123" name="s7am_bg3"/>
          <p:cNvSpPr>
            <a:spLocks noGrp="1"/>
          </p:cNvSpPr>
          <p:nvPr/>
        </p:nvSpPr>
        <p:spPr>
          <a:xfrm>
            <a:off x="11311128" y="1444752"/>
            <a:ext cx="694944" cy="256032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7am3"/>
          <p:cNvSpPr txBox="1">
            <a:spLocks noGrp="1"/>
          </p:cNvSpPr>
          <p:nvPr/>
        </p:nvSpPr>
        <p:spPr>
          <a:xfrm>
            <a:off x="11292840" y="145389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900" b="0" i="0" dirty="0">
                <a:solidFill>
                  <a:srgbClr val="9D9FA2"/>
                </a:solidFill>
                <a:latin typeface="Arial"/>
              </a:rPr>
              <a:t>haiku</a:t>
            </a:r>
          </a:p>
        </p:txBody>
      </p:sp>
      <p:sp>
        <p:nvSpPr>
          <p:cNvPr id="125" name="s7ad3"/>
          <p:cNvSpPr txBox="1">
            <a:spLocks noGrp="1"/>
          </p:cNvSpPr>
          <p:nvPr/>
        </p:nvSpPr>
        <p:spPr>
          <a:xfrm>
            <a:off x="9299448" y="1901952"/>
            <a:ext cx="2715768" cy="43891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Only if unresolved or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blackbox modules found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  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Finds lib.list manifest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Searches library files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grep -l 'module &lt;name&gt;'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  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Returns: lib path,</a:t>
            </a:r>
          </a:p>
          <a:p>
            <a:pPr algn="l"/>
            <a:r>
              <a:rPr lang="en-US" sz="1050" b="0" i="0" dirty="0">
                <a:solidFill>
                  <a:srgbClr val="D5D5D5"/>
                </a:solidFill>
                <a:latin typeface="Arial"/>
              </a:rPr>
              <a:t>→ already in lib.list?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Wave 2.5 — Fix Consolidator</a:t>
            </a:r>
          </a:p>
        </p:txBody>
      </p:sp>
      <p:sp>
        <p:nvSpPr>
          <p:cNvPr id="102" name="s8l"/>
          <p:cNvSpPr>
            <a:spLocks noGrp="1"/>
          </p:cNvSpPr>
          <p:nvPr/>
        </p:nvSpPr>
        <p:spPr>
          <a:xfrm>
            <a:off x="457200" y="1417320"/>
            <a:ext cx="5394960" cy="50749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8ll"/>
          <p:cNvSpPr>
            <a:spLocks noGrp="1"/>
          </p:cNvSpPr>
          <p:nvPr/>
        </p:nvSpPr>
        <p:spPr>
          <a:xfrm>
            <a:off x="457200" y="1417320"/>
            <a:ext cx="50292" cy="5074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8ltitle"/>
          <p:cNvSpPr txBox="1">
            <a:spLocks noGrp="1"/>
          </p:cNvSpPr>
          <p:nvPr/>
        </p:nvSpPr>
        <p:spPr>
          <a:xfrm>
            <a:off x="566928" y="1508760"/>
            <a:ext cx="516636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1" i="0" dirty="0">
                <a:solidFill>
                  <a:srgbClr val="2ECC71"/>
                </a:solidFill>
                <a:latin typeface="Arial"/>
              </a:rPr>
              <a:t>WHY IT'S NEEDED</a:t>
            </a:r>
          </a:p>
        </p:txBody>
      </p:sp>
      <p:sp>
        <p:nvSpPr>
          <p:cNvPr id="105" name="s8p0"/>
          <p:cNvSpPr>
            <a:spLocks noGrp="1"/>
          </p:cNvSpPr>
          <p:nvPr/>
        </p:nvSpPr>
        <p:spPr>
          <a:xfrm>
            <a:off x="566928" y="1965960"/>
            <a:ext cx="5166360" cy="132588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8pt0"/>
          <p:cNvSpPr txBox="1">
            <a:spLocks noGrp="1"/>
          </p:cNvSpPr>
          <p:nvPr/>
        </p:nvSpPr>
        <p:spPr>
          <a:xfrm>
            <a:off x="658368" y="2020824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F26522"/>
                </a:solidFill>
                <a:latin typeface="Arial"/>
              </a:rPr>
              <a:t>⚡  Duplicate Fixes</a:t>
            </a:r>
          </a:p>
        </p:txBody>
      </p:sp>
      <p:sp>
        <p:nvSpPr>
          <p:cNvPr id="107" name="s8pd0"/>
          <p:cNvSpPr txBox="1">
            <a:spLocks noGrp="1"/>
          </p:cNvSpPr>
          <p:nvPr/>
        </p:nvSpPr>
        <p:spPr>
          <a:xfrm>
            <a:off x="658368" y="2404872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Agents 2 &amp; 4 both suggest registering the same tech cell — one fix is wasted.</a:t>
            </a:r>
          </a:p>
        </p:txBody>
      </p:sp>
      <p:sp>
        <p:nvSpPr>
          <p:cNvPr id="108" name="s8p1"/>
          <p:cNvSpPr>
            <a:spLocks noGrp="1"/>
          </p:cNvSpPr>
          <p:nvPr/>
        </p:nvSpPr>
        <p:spPr>
          <a:xfrm>
            <a:off x="566928" y="3410712"/>
            <a:ext cx="5166360" cy="132588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8pt1"/>
          <p:cNvSpPr txBox="1">
            <a:spLocks noGrp="1"/>
          </p:cNvSpPr>
          <p:nvPr/>
        </p:nvSpPr>
        <p:spPr>
          <a:xfrm>
            <a:off x="658368" y="3465576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F26522"/>
                </a:solidFill>
                <a:latin typeface="Arial"/>
              </a:rPr>
              <a:t>🔀  Instance vs Module</a:t>
            </a:r>
          </a:p>
        </p:txBody>
      </p:sp>
      <p:sp>
        <p:nvSpPr>
          <p:cNvPr id="110" name="s8pd1"/>
          <p:cNvSpPr txBox="1">
            <a:spLocks noGrp="1"/>
          </p:cNvSpPr>
          <p:nvPr/>
        </p:nvSpPr>
        <p:spPr>
          <a:xfrm>
            <a:off x="658368" y="3849624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Violation path uses instance name, but CDC tool needs module name for custom sync.</a:t>
            </a:r>
          </a:p>
        </p:txBody>
      </p:sp>
      <p:sp>
        <p:nvSpPr>
          <p:cNvPr id="111" name="s8p2"/>
          <p:cNvSpPr>
            <a:spLocks noGrp="1"/>
          </p:cNvSpPr>
          <p:nvPr/>
        </p:nvSpPr>
        <p:spPr>
          <a:xfrm>
            <a:off x="566928" y="4855464"/>
            <a:ext cx="5166360" cy="132588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8pt2"/>
          <p:cNvSpPr txBox="1">
            <a:spLocks noGrp="1"/>
          </p:cNvSpPr>
          <p:nvPr/>
        </p:nvSpPr>
        <p:spPr>
          <a:xfrm>
            <a:off x="658368" y="491032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F26522"/>
                </a:solidFill>
                <a:latin typeface="Arial"/>
              </a:rPr>
              <a:t>🔍  Shallow Trace</a:t>
            </a:r>
          </a:p>
        </p:txBody>
      </p:sp>
      <p:sp>
        <p:nvSpPr>
          <p:cNvPr id="113" name="s8pd2"/>
          <p:cNvSpPr txBox="1">
            <a:spLocks noGrp="1"/>
          </p:cNvSpPr>
          <p:nvPr/>
        </p:nvSpPr>
        <p:spPr>
          <a:xfrm>
            <a:off x="658368" y="5294376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Agent stopped at UMCSYNC wrapper — didn't trace to leaf cell (SYNC3 → two_dff).</a:t>
            </a:r>
          </a:p>
        </p:txBody>
      </p:sp>
      <p:sp>
        <p:nvSpPr>
          <p:cNvPr id="114" name="s8r1"/>
          <p:cNvSpPr>
            <a:spLocks noGrp="1"/>
          </p:cNvSpPr>
          <p:nvPr/>
        </p:nvSpPr>
        <p:spPr>
          <a:xfrm>
            <a:off x="6126480" y="1417320"/>
            <a:ext cx="5669280" cy="2514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8r1t"/>
          <p:cNvSpPr>
            <a:spLocks noGrp="1"/>
          </p:cNvSpPr>
          <p:nvPr/>
        </p:nvSpPr>
        <p:spPr>
          <a:xfrm>
            <a:off x="6126480" y="1417320"/>
            <a:ext cx="5669280" cy="411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s8r1title"/>
          <p:cNvSpPr txBox="1">
            <a:spLocks noGrp="1"/>
          </p:cNvSpPr>
          <p:nvPr/>
        </p:nvSpPr>
        <p:spPr>
          <a:xfrm>
            <a:off x="6263640" y="1508760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1" i="0" dirty="0">
                <a:solidFill>
                  <a:srgbClr val="2ECC71"/>
                </a:solidFill>
                <a:latin typeface="Arial"/>
              </a:rPr>
              <a:t>WHAT IT DOES</a:t>
            </a:r>
          </a:p>
        </p:txBody>
      </p:sp>
      <p:sp>
        <p:nvSpPr>
          <p:cNvPr id="117" name="s8a0"/>
          <p:cNvSpPr txBox="1">
            <a:spLocks noGrp="1"/>
          </p:cNvSpPr>
          <p:nvPr/>
        </p:nvSpPr>
        <p:spPr>
          <a:xfrm>
            <a:off x="6263640" y="1965960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✓  Reads ALL RTL analyzer JSON for its check type</a:t>
            </a:r>
          </a:p>
        </p:txBody>
      </p:sp>
      <p:sp>
        <p:nvSpPr>
          <p:cNvPr id="118" name="s8a1"/>
          <p:cNvSpPr txBox="1">
            <a:spLocks noGrp="1"/>
          </p:cNvSpPr>
          <p:nvPr/>
        </p:nvSpPr>
        <p:spPr>
          <a:xfrm>
            <a:off x="6263640" y="2386584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✓  Removes duplicate fix suggestions</a:t>
            </a:r>
          </a:p>
        </p:txBody>
      </p:sp>
      <p:sp>
        <p:nvSpPr>
          <p:cNvPr id="119" name="s8a2"/>
          <p:cNvSpPr txBox="1">
            <a:spLocks noGrp="1"/>
          </p:cNvSpPr>
          <p:nvPr/>
        </p:nvSpPr>
        <p:spPr>
          <a:xfrm>
            <a:off x="6263640" y="2807208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✓  Resolves instance → correct module name</a:t>
            </a:r>
          </a:p>
        </p:txBody>
      </p:sp>
      <p:sp>
        <p:nvSpPr>
          <p:cNvPr id="120" name="s8a3"/>
          <p:cNvSpPr txBox="1">
            <a:spLocks noGrp="1"/>
          </p:cNvSpPr>
          <p:nvPr/>
        </p:nvSpPr>
        <p:spPr>
          <a:xfrm>
            <a:off x="6263640" y="3227832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✓  Verifies tech-cell traces to leaf level</a:t>
            </a:r>
          </a:p>
        </p:txBody>
      </p:sp>
      <p:sp>
        <p:nvSpPr>
          <p:cNvPr id="121" name="s8a4"/>
          <p:cNvSpPr txBox="1">
            <a:spLocks noGrp="1"/>
          </p:cNvSpPr>
          <p:nvPr/>
        </p:nvSpPr>
        <p:spPr>
          <a:xfrm>
            <a:off x="6263640" y="3648456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✓  Writes one unified, deduplicated fix set</a:t>
            </a:r>
          </a:p>
        </p:txBody>
      </p:sp>
      <p:sp>
        <p:nvSpPr>
          <p:cNvPr id="122" name="s8r2"/>
          <p:cNvSpPr>
            <a:spLocks noGrp="1"/>
          </p:cNvSpPr>
          <p:nvPr/>
        </p:nvSpPr>
        <p:spPr>
          <a:xfrm>
            <a:off x="6126480" y="4041648"/>
            <a:ext cx="5669280" cy="245059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8r2title"/>
          <p:cNvSpPr txBox="1">
            <a:spLocks noGrp="1"/>
          </p:cNvSpPr>
          <p:nvPr/>
        </p:nvSpPr>
        <p:spPr>
          <a:xfrm>
            <a:off x="6263640" y="4133087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2ECC71"/>
                </a:solidFill>
                <a:latin typeface="Arial"/>
              </a:rPr>
              <a:t>SPAWN WHEN</a:t>
            </a:r>
          </a:p>
        </p:txBody>
      </p:sp>
      <p:sp>
        <p:nvSpPr>
          <p:cNvPr id="124" name="s8c0"/>
          <p:cNvSpPr txBox="1">
            <a:spLocks noGrp="1"/>
          </p:cNvSpPr>
          <p:nvPr/>
        </p:nvSpPr>
        <p:spPr>
          <a:xfrm>
            <a:off x="6263640" y="45720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  CDC      if focus &gt; 0      → data/&lt;tag&gt;_consolidated_cdc.json</a:t>
            </a:r>
          </a:p>
        </p:txBody>
      </p:sp>
      <p:sp>
        <p:nvSpPr>
          <p:cNvPr id="125" name="s8c1"/>
          <p:cNvSpPr txBox="1">
            <a:spLocks noGrp="1"/>
          </p:cNvSpPr>
          <p:nvPr/>
        </p:nvSpPr>
        <p:spPr>
          <a:xfrm>
            <a:off x="6263640" y="4974336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  RDC      if focus &gt; 0      → data/&lt;tag&gt;_consolidated_rdc.json</a:t>
            </a:r>
          </a:p>
        </p:txBody>
      </p:sp>
      <p:sp>
        <p:nvSpPr>
          <p:cNvPr id="126" name="s8c2"/>
          <p:cNvSpPr txBox="1">
            <a:spLocks noGrp="1"/>
          </p:cNvSpPr>
          <p:nvPr/>
        </p:nvSpPr>
        <p:spPr>
          <a:xfrm>
            <a:off x="6263640" y="537667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  Lint     if focus &gt; 0      → data/&lt;tag&gt;_consolidated_lint.json</a:t>
            </a:r>
          </a:p>
        </p:txBody>
      </p:sp>
      <p:sp>
        <p:nvSpPr>
          <p:cNvPr id="127" name="s8c3"/>
          <p:cNvSpPr txBox="1">
            <a:spLocks noGrp="1"/>
          </p:cNvSpPr>
          <p:nvPr/>
        </p:nvSpPr>
        <p:spPr>
          <a:xfrm>
            <a:off x="6263640" y="577900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D5D5D5"/>
                </a:solidFill>
                <a:latin typeface="Arial"/>
              </a:rPr>
              <a:t>  SpgDFT   if focus &gt; 0      → data/&lt;tag&gt;_consolidated_spgdft.json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Analyze-Fixer Mode — Auto-Fix Loop</a:t>
            </a:r>
          </a:p>
        </p:txBody>
      </p:sp>
      <p:sp>
        <p:nvSpPr>
          <p:cNvPr id="102" name="s9l"/>
          <p:cNvSpPr>
            <a:spLocks noGrp="1"/>
          </p:cNvSpPr>
          <p:nvPr/>
        </p:nvSpPr>
        <p:spPr>
          <a:xfrm>
            <a:off x="457200" y="1417320"/>
            <a:ext cx="5486400" cy="50749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9ll"/>
          <p:cNvSpPr>
            <a:spLocks noGrp="1"/>
          </p:cNvSpPr>
          <p:nvPr/>
        </p:nvSpPr>
        <p:spPr>
          <a:xfrm>
            <a:off x="457200" y="1417320"/>
            <a:ext cx="50292" cy="50749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9ltitle"/>
          <p:cNvSpPr txBox="1">
            <a:spLocks noGrp="1"/>
          </p:cNvSpPr>
          <p:nvPr/>
        </p:nvSpPr>
        <p:spPr>
          <a:xfrm>
            <a:off x="566928" y="1508760"/>
            <a:ext cx="525780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1" i="0" dirty="0">
                <a:solidFill>
                  <a:srgbClr val="ED1C24"/>
                </a:solidFill>
                <a:latin typeface="Arial"/>
              </a:rPr>
              <a:t>PER-ROUND FLOW</a:t>
            </a:r>
          </a:p>
        </p:txBody>
      </p:sp>
      <p:sp>
        <p:nvSpPr>
          <p:cNvPr id="105" name="s9s0"/>
          <p:cNvSpPr>
            <a:spLocks noGrp="1"/>
          </p:cNvSpPr>
          <p:nvPr/>
        </p:nvSpPr>
        <p:spPr>
          <a:xfrm>
            <a:off x="566928" y="1993392"/>
            <a:ext cx="457200" cy="457200"/>
          </a:xfrm>
          <a:prstGeom prst="rect">
            <a:avLst/>
          </a:prstGeom>
          <a:solidFill>
            <a:srgbClr val="9D9FA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9sn0"/>
          <p:cNvSpPr txBox="1">
            <a:spLocks noGrp="1"/>
          </p:cNvSpPr>
          <p:nvPr/>
        </p:nvSpPr>
        <p:spPr>
          <a:xfrm>
            <a:off x="566928" y="199339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07" name="s9sd0"/>
          <p:cNvSpPr txBox="1">
            <a:spLocks noGrp="1"/>
          </p:cNvSpPr>
          <p:nvPr/>
        </p:nvSpPr>
        <p:spPr>
          <a:xfrm>
            <a:off x="1115568" y="2039112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Build fix_history from all previous rounds</a:t>
            </a:r>
          </a:p>
        </p:txBody>
      </p:sp>
      <p:sp>
        <p:nvSpPr>
          <p:cNvPr id="108" name="s9s1"/>
          <p:cNvSpPr>
            <a:spLocks noGrp="1"/>
          </p:cNvSpPr>
          <p:nvPr/>
        </p:nvSpPr>
        <p:spPr>
          <a:xfrm>
            <a:off x="566928" y="2523744"/>
            <a:ext cx="457200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9sn1"/>
          <p:cNvSpPr txBox="1">
            <a:spLocks noGrp="1"/>
          </p:cNvSpPr>
          <p:nvPr/>
        </p:nvSpPr>
        <p:spPr>
          <a:xfrm>
            <a:off x="566928" y="252374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200" b="1" i="0" dirty="0">
                <a:solidFill>
                  <a:srgbClr val="0F0F10"/>
                </a:solidFill>
                <a:latin typeface="Arial"/>
              </a:rPr>
              <a:t>1</a:t>
            </a:r>
          </a:p>
        </p:txBody>
      </p:sp>
      <p:sp>
        <p:nvSpPr>
          <p:cNvPr id="110" name="s9sd1"/>
          <p:cNvSpPr txBox="1">
            <a:spLocks noGrp="1"/>
          </p:cNvSpPr>
          <p:nvPr/>
        </p:nvSpPr>
        <p:spPr>
          <a:xfrm>
            <a:off x="1115568" y="256946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Run full analysis pipeline (Waves 1→2.5)</a:t>
            </a:r>
          </a:p>
        </p:txBody>
      </p:sp>
      <p:sp>
        <p:nvSpPr>
          <p:cNvPr id="111" name="s9s2"/>
          <p:cNvSpPr>
            <a:spLocks noGrp="1"/>
          </p:cNvSpPr>
          <p:nvPr/>
        </p:nvSpPr>
        <p:spPr>
          <a:xfrm>
            <a:off x="566928" y="3054096"/>
            <a:ext cx="457200" cy="4572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9sn2"/>
          <p:cNvSpPr txBox="1">
            <a:spLocks noGrp="1"/>
          </p:cNvSpPr>
          <p:nvPr/>
        </p:nvSpPr>
        <p:spPr>
          <a:xfrm>
            <a:off x="566928" y="305409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200" b="1" i="0" dirty="0">
                <a:solidFill>
                  <a:srgbClr val="0F0F10"/>
                </a:solidFill>
                <a:latin typeface="Arial"/>
              </a:rPr>
              <a:t>2</a:t>
            </a:r>
          </a:p>
        </p:txBody>
      </p:sp>
      <p:sp>
        <p:nvSpPr>
          <p:cNvPr id="113" name="s9sd2"/>
          <p:cNvSpPr txBox="1">
            <a:spLocks noGrp="1"/>
          </p:cNvSpPr>
          <p:nvPr/>
        </p:nvSpPr>
        <p:spPr>
          <a:xfrm>
            <a:off x="1115568" y="3099816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Fix Implementor — apply all fixes</a:t>
            </a:r>
          </a:p>
        </p:txBody>
      </p:sp>
      <p:sp>
        <p:nvSpPr>
          <p:cNvPr id="114" name="s9s3"/>
          <p:cNvSpPr>
            <a:spLocks noGrp="1"/>
          </p:cNvSpPr>
          <p:nvPr/>
        </p:nvSpPr>
        <p:spPr>
          <a:xfrm>
            <a:off x="566928" y="3584448"/>
            <a:ext cx="4572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9sn3"/>
          <p:cNvSpPr txBox="1">
            <a:spLocks noGrp="1"/>
          </p:cNvSpPr>
          <p:nvPr/>
        </p:nvSpPr>
        <p:spPr>
          <a:xfrm>
            <a:off x="566928" y="358444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200" b="1" i="0" dirty="0">
                <a:solidFill>
                  <a:srgbClr val="0F0F10"/>
                </a:solidFill>
                <a:latin typeface="Arial"/>
              </a:rPr>
              <a:t>2b</a:t>
            </a:r>
          </a:p>
        </p:txBody>
      </p:sp>
      <p:sp>
        <p:nvSpPr>
          <p:cNvPr id="116" name="s9sd3"/>
          <p:cNvSpPr txBox="1">
            <a:spLocks noGrp="1"/>
          </p:cNvSpPr>
          <p:nvPr/>
        </p:nvSpPr>
        <p:spPr>
          <a:xfrm>
            <a:off x="1115568" y="363016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Deep-Dive Agents — resolve 'investigate' items</a:t>
            </a:r>
          </a:p>
        </p:txBody>
      </p:sp>
      <p:sp>
        <p:nvSpPr>
          <p:cNvPr id="117" name="s9s4"/>
          <p:cNvSpPr>
            <a:spLocks noGrp="1"/>
          </p:cNvSpPr>
          <p:nvPr/>
        </p:nvSpPr>
        <p:spPr>
          <a:xfrm>
            <a:off x="566928" y="4114800"/>
            <a:ext cx="457200" cy="4572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9sn4"/>
          <p:cNvSpPr txBox="1">
            <a:spLocks noGrp="1"/>
          </p:cNvSpPr>
          <p:nvPr/>
        </p:nvSpPr>
        <p:spPr>
          <a:xfrm>
            <a:off x="566928" y="41148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200" b="1" i="0" dirty="0">
                <a:solidFill>
                  <a:srgbClr val="0F0F10"/>
                </a:solidFill>
                <a:latin typeface="Arial"/>
              </a:rPr>
              <a:t>3</a:t>
            </a:r>
          </a:p>
        </p:txBody>
      </p:sp>
      <p:sp>
        <p:nvSpPr>
          <p:cNvPr id="119" name="s9sd4"/>
          <p:cNvSpPr txBox="1">
            <a:spLocks noGrp="1"/>
          </p:cNvSpPr>
          <p:nvPr/>
        </p:nvSpPr>
        <p:spPr>
          <a:xfrm>
            <a:off x="1115568" y="4160520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Compile round HTML report</a:t>
            </a:r>
          </a:p>
        </p:txBody>
      </p:sp>
      <p:sp>
        <p:nvSpPr>
          <p:cNvPr id="120" name="s9s5"/>
          <p:cNvSpPr>
            <a:spLocks noGrp="1"/>
          </p:cNvSpPr>
          <p:nvPr/>
        </p:nvSpPr>
        <p:spPr>
          <a:xfrm>
            <a:off x="566928" y="4645152"/>
            <a:ext cx="457200" cy="4572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9sn5"/>
          <p:cNvSpPr txBox="1">
            <a:spLocks noGrp="1"/>
          </p:cNvSpPr>
          <p:nvPr/>
        </p:nvSpPr>
        <p:spPr>
          <a:xfrm>
            <a:off x="566928" y="464515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200" b="1" i="0" dirty="0">
                <a:solidFill>
                  <a:srgbClr val="0F0F10"/>
                </a:solidFill>
                <a:latin typeface="Arial"/>
              </a:rPr>
              <a:t>4</a:t>
            </a:r>
          </a:p>
        </p:txBody>
      </p:sp>
      <p:sp>
        <p:nvSpPr>
          <p:cNvPr id="122" name="s9sd5"/>
          <p:cNvSpPr txBox="1">
            <a:spLocks noGrp="1"/>
          </p:cNvSpPr>
          <p:nvPr/>
        </p:nvSpPr>
        <p:spPr>
          <a:xfrm>
            <a:off x="1115568" y="4690872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Send round email</a:t>
            </a:r>
          </a:p>
        </p:txBody>
      </p:sp>
      <p:sp>
        <p:nvSpPr>
          <p:cNvPr id="123" name="s9s6"/>
          <p:cNvSpPr>
            <a:spLocks noGrp="1"/>
          </p:cNvSpPr>
          <p:nvPr/>
        </p:nvSpPr>
        <p:spPr>
          <a:xfrm>
            <a:off x="566928" y="5175504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9sn6"/>
          <p:cNvSpPr txBox="1">
            <a:spLocks noGrp="1"/>
          </p:cNvSpPr>
          <p:nvPr/>
        </p:nvSpPr>
        <p:spPr>
          <a:xfrm>
            <a:off x="566928" y="517550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5" name="s9sd6"/>
          <p:cNvSpPr txBox="1">
            <a:spLocks noGrp="1"/>
          </p:cNvSpPr>
          <p:nvPr/>
        </p:nvSpPr>
        <p:spPr>
          <a:xfrm>
            <a:off x="1115568" y="522122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Check termination — loop or stop</a:t>
            </a:r>
          </a:p>
        </p:txBody>
      </p:sp>
      <p:sp>
        <p:nvSpPr>
          <p:cNvPr id="126" name="s9r1"/>
          <p:cNvSpPr>
            <a:spLocks noGrp="1"/>
          </p:cNvSpPr>
          <p:nvPr/>
        </p:nvSpPr>
        <p:spPr>
          <a:xfrm>
            <a:off x="6217920" y="1417320"/>
            <a:ext cx="5577840" cy="2331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9r1t"/>
          <p:cNvSpPr>
            <a:spLocks noGrp="1"/>
          </p:cNvSpPr>
          <p:nvPr/>
        </p:nvSpPr>
        <p:spPr>
          <a:xfrm>
            <a:off x="6217920" y="1417320"/>
            <a:ext cx="55778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9r1title"/>
          <p:cNvSpPr txBox="1">
            <a:spLocks noGrp="1"/>
          </p:cNvSpPr>
          <p:nvPr/>
        </p:nvSpPr>
        <p:spPr>
          <a:xfrm>
            <a:off x="6355080" y="1508760"/>
            <a:ext cx="534924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1" i="0" dirty="0">
                <a:solidFill>
                  <a:srgbClr val="2ECC71"/>
                </a:solidFill>
                <a:latin typeface="Arial"/>
              </a:rPr>
              <a:t>TERMINATION STATES</a:t>
            </a:r>
          </a:p>
        </p:txBody>
      </p:sp>
      <p:sp>
        <p:nvSpPr>
          <p:cNvPr id="129" name="s9t0"/>
          <p:cNvSpPr txBox="1">
            <a:spLocks noGrp="1"/>
          </p:cNvSpPr>
          <p:nvPr/>
        </p:nvSpPr>
        <p:spPr>
          <a:xfrm>
            <a:off x="6355080" y="193852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2ECC71"/>
                </a:solidFill>
                <a:latin typeface="Arial"/>
              </a:rPr>
              <a:t>✅ CLEAN</a:t>
            </a:r>
          </a:p>
        </p:txBody>
      </p:sp>
      <p:sp>
        <p:nvSpPr>
          <p:cNvPr id="130" name="s9tc0"/>
          <p:cNvSpPr txBox="1">
            <a:spLocks noGrp="1"/>
          </p:cNvSpPr>
          <p:nvPr/>
        </p:nvSpPr>
        <p:spPr>
          <a:xfrm>
            <a:off x="8686800" y="201168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focus_violations == 0</a:t>
            </a:r>
          </a:p>
        </p:txBody>
      </p:sp>
      <p:sp>
        <p:nvSpPr>
          <p:cNvPr id="131" name="s9t1"/>
          <p:cNvSpPr txBox="1">
            <a:spLocks noGrp="1"/>
          </p:cNvSpPr>
          <p:nvPr/>
        </p:nvSpPr>
        <p:spPr>
          <a:xfrm>
            <a:off x="6355080" y="253288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C1A968"/>
                </a:solidFill>
                <a:latin typeface="Arial"/>
              </a:rPr>
              <a:t>⚠ STALLED</a:t>
            </a:r>
          </a:p>
        </p:txBody>
      </p:sp>
      <p:sp>
        <p:nvSpPr>
          <p:cNvPr id="132" name="s9tc1"/>
          <p:cNvSpPr txBox="1">
            <a:spLocks noGrp="1"/>
          </p:cNvSpPr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No new fixes applied</a:t>
            </a:r>
          </a:p>
        </p:txBody>
      </p:sp>
      <p:sp>
        <p:nvSpPr>
          <p:cNvPr id="133" name="s9t2"/>
          <p:cNvSpPr txBox="1">
            <a:spLocks noGrp="1"/>
          </p:cNvSpPr>
          <p:nvPr/>
        </p:nvSpPr>
        <p:spPr>
          <a:xfrm>
            <a:off x="6355080" y="312724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ED1C24"/>
                </a:solidFill>
                <a:latin typeface="Arial"/>
              </a:rPr>
              <a:t>🔴 MAX ROUNDS</a:t>
            </a:r>
          </a:p>
        </p:txBody>
      </p:sp>
      <p:sp>
        <p:nvSpPr>
          <p:cNvPr id="134" name="s9tc2"/>
          <p:cNvSpPr txBox="1">
            <a:spLocks noGrp="1"/>
          </p:cNvSpPr>
          <p:nvPr/>
        </p:nvSpPr>
        <p:spPr>
          <a:xfrm>
            <a:off x="8686800" y="320040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Round &gt;= 5</a:t>
            </a:r>
          </a:p>
        </p:txBody>
      </p:sp>
      <p:sp>
        <p:nvSpPr>
          <p:cNvPr id="135" name="s9r2"/>
          <p:cNvSpPr>
            <a:spLocks noGrp="1"/>
          </p:cNvSpPr>
          <p:nvPr/>
        </p:nvSpPr>
        <p:spPr>
          <a:xfrm>
            <a:off x="6217920" y="3858768"/>
            <a:ext cx="5577840" cy="2633472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s9r2t"/>
          <p:cNvSpPr>
            <a:spLocks noGrp="1"/>
          </p:cNvSpPr>
          <p:nvPr/>
        </p:nvSpPr>
        <p:spPr>
          <a:xfrm>
            <a:off x="6217920" y="3858768"/>
            <a:ext cx="557784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s9r2title"/>
          <p:cNvSpPr txBox="1">
            <a:spLocks noGrp="1"/>
          </p:cNvSpPr>
          <p:nvPr/>
        </p:nvSpPr>
        <p:spPr>
          <a:xfrm>
            <a:off x="6355080" y="3950208"/>
            <a:ext cx="534924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F26522"/>
                </a:solidFill>
                <a:latin typeface="Arial"/>
              </a:rPr>
              <a:t>WHAT GETS AUTO-APPLIED</a:t>
            </a:r>
          </a:p>
        </p:txBody>
      </p:sp>
      <p:sp>
        <p:nvSpPr>
          <p:cNvPr id="138" name="s9ap0"/>
          <p:cNvSpPr txBox="1">
            <a:spLocks noGrp="1"/>
          </p:cNvSpPr>
          <p:nvPr/>
        </p:nvSpPr>
        <p:spPr>
          <a:xfrm>
            <a:off x="6355080" y="438912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  CDC/RDC     constraint → project.0in_ctrl.v.tcl</a:t>
            </a:r>
          </a:p>
        </p:txBody>
      </p:sp>
      <p:sp>
        <p:nvSpPr>
          <p:cNvPr id="139" name="s9ap1"/>
          <p:cNvSpPr txBox="1">
            <a:spLocks noGrp="1"/>
          </p:cNvSpPr>
          <p:nvPr/>
        </p:nvSpPr>
        <p:spPr>
          <a:xfrm>
            <a:off x="6355080" y="4791456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  CDC/RDC     rtl_fix → insert synchronizer in src/rtl/</a:t>
            </a:r>
          </a:p>
        </p:txBody>
      </p:sp>
      <p:sp>
        <p:nvSpPr>
          <p:cNvPr id="140" name="s9ap2"/>
          <p:cNvSpPr txBox="1">
            <a:spLocks noGrp="1"/>
          </p:cNvSpPr>
          <p:nvPr/>
        </p:nvSpPr>
        <p:spPr>
          <a:xfrm>
            <a:off x="6355080" y="5193792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  Lint        rtl_fix / tie_off → src/rtl/</a:t>
            </a:r>
          </a:p>
        </p:txBody>
      </p:sp>
      <p:sp>
        <p:nvSpPr>
          <p:cNvPr id="141" name="s9ap3"/>
          <p:cNvSpPr txBox="1">
            <a:spLocks noGrp="1"/>
          </p:cNvSpPr>
          <p:nvPr/>
        </p:nvSpPr>
        <p:spPr>
          <a:xfrm>
            <a:off x="6355080" y="5596128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  SpgDFT      constraint → project.params</a:t>
            </a:r>
          </a:p>
        </p:txBody>
      </p:sp>
      <p:sp>
        <p:nvSpPr>
          <p:cNvPr id="142" name="s9ap4"/>
          <p:cNvSpPr txBox="1">
            <a:spLocks noGrp="1"/>
          </p:cNvSpPr>
          <p:nvPr/>
        </p:nvSpPr>
        <p:spPr>
          <a:xfrm>
            <a:off x="6355080" y="5998464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  SpgDFT      rtl_fix → path as-is (stable)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Reliability — Agent Forgetting Prevention</a:t>
            </a:r>
          </a:p>
        </p:txBody>
      </p:sp>
      <p:sp>
        <p:nvSpPr>
          <p:cNvPr id="102" name="s10intro"/>
          <p:cNvSpPr txBox="1">
            <a:spLocks noGrp="1"/>
          </p:cNvSpPr>
          <p:nvPr/>
        </p:nvSpPr>
        <p:spPr>
          <a:xfrm>
            <a:off x="457200" y="1389888"/>
            <a:ext cx="11338560" cy="45720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0" i="0" dirty="0">
                <a:solidFill>
                  <a:srgbClr val="D5D5D5"/>
                </a:solidFill>
                <a:latin typeface="Arial"/>
              </a:rPr>
              <a:t>As agents accumulate RTL content their context fills up — critical rules can be displaced. Two layers defend against this.</a:t>
            </a:r>
          </a:p>
        </p:txBody>
      </p:sp>
      <p:sp>
        <p:nvSpPr>
          <p:cNvPr id="103" name="s10d0"/>
          <p:cNvSpPr>
            <a:spLocks noGrp="1"/>
          </p:cNvSpPr>
          <p:nvPr/>
        </p:nvSpPr>
        <p:spPr>
          <a:xfrm>
            <a:off x="457200" y="1920240"/>
            <a:ext cx="5669280" cy="45720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10dh0"/>
          <p:cNvSpPr>
            <a:spLocks noGrp="1"/>
          </p:cNvSpPr>
          <p:nvPr/>
        </p:nvSpPr>
        <p:spPr>
          <a:xfrm>
            <a:off x="457200" y="1920240"/>
            <a:ext cx="56692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s10dl0"/>
          <p:cNvSpPr>
            <a:spLocks noGrp="1"/>
          </p:cNvSpPr>
          <p:nvPr/>
        </p:nvSpPr>
        <p:spPr>
          <a:xfrm>
            <a:off x="457200" y="1920240"/>
            <a:ext cx="50292" cy="45720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10dn0"/>
          <p:cNvSpPr txBox="1">
            <a:spLocks noGrp="1"/>
          </p:cNvSpPr>
          <p:nvPr/>
        </p:nvSpPr>
        <p:spPr>
          <a:xfrm>
            <a:off x="548640" y="193852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1" i="0" dirty="0">
                <a:solidFill>
                  <a:srgbClr val="00C2DE"/>
                </a:solidFill>
                <a:latin typeface="Arial"/>
              </a:rPr>
              <a:t>🛡  Layer 1</a:t>
            </a:r>
          </a:p>
        </p:txBody>
      </p:sp>
      <p:sp>
        <p:nvSpPr>
          <p:cNvPr id="107" name="s10dt0"/>
          <p:cNvSpPr txBox="1">
            <a:spLocks noGrp="1"/>
          </p:cNvSpPr>
          <p:nvPr/>
        </p:nvSpPr>
        <p:spPr>
          <a:xfrm>
            <a:off x="548640" y="242316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CRITICAL_RULES.md — Prevention</a:t>
            </a:r>
          </a:p>
        </p:txBody>
      </p:sp>
      <p:sp>
        <p:nvSpPr>
          <p:cNvPr id="108" name="s10dp0"/>
          <p:cNvSpPr txBox="1">
            <a:spLocks noGrp="1"/>
          </p:cNvSpPr>
          <p:nvPr/>
        </p:nvSpPr>
        <p:spPr>
          <a:xfrm>
            <a:off x="566928" y="2852928"/>
            <a:ext cx="5486400" cy="3474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config/analyze_agents/shared/CRITICAL_RULES.md  (≤25 lines)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Read by orchestrator at startup → stored as CRITICAL_RULES_BLOCK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Prepended at TOP of every sub-agent prompt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Rules: p4 edit ONLY for src/meta/tools/ (never src/rtl/)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Rules: CDC/Lint RTL paths → src/rtl/ (publish_rtl/ wiped each rerun)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Rules: SPG_DFT RTL path as-is (publish_rtl/ stable for SpgDFT)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Rules: Output JSON MUST be written to disk with Write tool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Rules: Fix Implementors run SEQUENTIALLY for full_static_check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Rules: ZERO waivers across all check types</a:t>
            </a:r>
          </a:p>
        </p:txBody>
      </p:sp>
      <p:sp>
        <p:nvSpPr>
          <p:cNvPr id="109" name="s10d1"/>
          <p:cNvSpPr>
            <a:spLocks noGrp="1"/>
          </p:cNvSpPr>
          <p:nvPr/>
        </p:nvSpPr>
        <p:spPr>
          <a:xfrm>
            <a:off x="6355080" y="1920240"/>
            <a:ext cx="5669280" cy="45720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0dh1"/>
          <p:cNvSpPr>
            <a:spLocks noGrp="1"/>
          </p:cNvSpPr>
          <p:nvPr/>
        </p:nvSpPr>
        <p:spPr>
          <a:xfrm>
            <a:off x="6355080" y="1920240"/>
            <a:ext cx="56692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10dl1"/>
          <p:cNvSpPr>
            <a:spLocks noGrp="1"/>
          </p:cNvSpPr>
          <p:nvPr/>
        </p:nvSpPr>
        <p:spPr>
          <a:xfrm>
            <a:off x="6355080" y="1920240"/>
            <a:ext cx="50292" cy="45720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10dn1"/>
          <p:cNvSpPr txBox="1">
            <a:spLocks noGrp="1"/>
          </p:cNvSpPr>
          <p:nvPr/>
        </p:nvSpPr>
        <p:spPr>
          <a:xfrm>
            <a:off x="6446520" y="193852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400" b="1" i="0" dirty="0">
                <a:solidFill>
                  <a:srgbClr val="F26522"/>
                </a:solidFill>
                <a:latin typeface="Arial"/>
              </a:rPr>
              <a:t>🔄  Layer 2</a:t>
            </a:r>
          </a:p>
        </p:txBody>
      </p:sp>
      <p:sp>
        <p:nvSpPr>
          <p:cNvPr id="113" name="s10dt1"/>
          <p:cNvSpPr txBox="1">
            <a:spLocks noGrp="1"/>
          </p:cNvSpPr>
          <p:nvPr/>
        </p:nvSpPr>
        <p:spPr>
          <a:xfrm>
            <a:off x="6446520" y="242316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Arial"/>
              </a:rPr>
              <a:t>Output Validation + Retry — Recovery</a:t>
            </a:r>
          </a:p>
        </p:txBody>
      </p:sp>
      <p:sp>
        <p:nvSpPr>
          <p:cNvPr id="114" name="s10dp1"/>
          <p:cNvSpPr txBox="1">
            <a:spLocks noGrp="1"/>
          </p:cNvSpPr>
          <p:nvPr/>
        </p:nvSpPr>
        <p:spPr>
          <a:xfrm>
            <a:off x="6464808" y="2852928"/>
            <a:ext cx="5486400" cy="34747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After every sub-agent completes, orchestrator checks: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  ls data/&lt;tag&gt;_&lt;expected_output&gt;.json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EXISTS → proceed to next step normally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MISSING → re-invoke agent once with ⚠️ RETRY message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Still missing after retry → log 'STEP FAILED', continue best-effort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/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Each agent MD ends with a SELF-CHECK block: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  • Did you write your output JSON?</a:t>
            </a:r>
          </a:p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  • Did you avoid p4 edit on RTL files?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File-Based Storage &amp; Fix History</a:t>
            </a:r>
          </a:p>
        </p:txBody>
      </p:sp>
      <p:sp>
        <p:nvSpPr>
          <p:cNvPr id="102" name="s11l"/>
          <p:cNvSpPr>
            <a:spLocks noGrp="1"/>
          </p:cNvSpPr>
          <p:nvPr/>
        </p:nvSpPr>
        <p:spPr>
          <a:xfrm>
            <a:off x="457200" y="1417320"/>
            <a:ext cx="5486400" cy="507492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1ll"/>
          <p:cNvSpPr>
            <a:spLocks noGrp="1"/>
          </p:cNvSpPr>
          <p:nvPr/>
        </p:nvSpPr>
        <p:spPr>
          <a:xfrm>
            <a:off x="457200" y="1417320"/>
            <a:ext cx="50292" cy="507492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11ltitle"/>
          <p:cNvSpPr txBox="1">
            <a:spLocks noGrp="1"/>
          </p:cNvSpPr>
          <p:nvPr/>
        </p:nvSpPr>
        <p:spPr>
          <a:xfrm>
            <a:off x="566928" y="1508760"/>
            <a:ext cx="525780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C1A968"/>
                </a:solidFill>
                <a:latin typeface="Arial"/>
              </a:rPr>
              <a:t>INTERMEDIATE FILE NAMING</a:t>
            </a:r>
          </a:p>
        </p:txBody>
      </p:sp>
      <p:sp>
        <p:nvSpPr>
          <p:cNvPr id="105" name="s11f0"/>
          <p:cNvSpPr txBox="1">
            <a:spLocks noGrp="1"/>
          </p:cNvSpPr>
          <p:nvPr/>
        </p:nvSpPr>
        <p:spPr>
          <a:xfrm>
            <a:off x="566928" y="1993392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data/&lt;tag&gt;_precondition_cdc.json</a:t>
            </a:r>
          </a:p>
        </p:txBody>
      </p:sp>
      <p:sp>
        <p:nvSpPr>
          <p:cNvPr id="106" name="s11fw0"/>
          <p:cNvSpPr txBox="1">
            <a:spLocks noGrp="1"/>
          </p:cNvSpPr>
          <p:nvPr/>
        </p:nvSpPr>
        <p:spPr>
          <a:xfrm>
            <a:off x="3913632" y="20299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CDC/RDC Precondition</a:t>
            </a:r>
          </a:p>
        </p:txBody>
      </p:sp>
      <p:sp>
        <p:nvSpPr>
          <p:cNvPr id="107" name="s11f1"/>
          <p:cNvSpPr txBox="1">
            <a:spLocks noGrp="1"/>
          </p:cNvSpPr>
          <p:nvPr/>
        </p:nvSpPr>
        <p:spPr>
          <a:xfrm>
            <a:off x="566928" y="2441448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data/&lt;tag&gt;_extractor_cdc.json</a:t>
            </a:r>
          </a:p>
        </p:txBody>
      </p:sp>
      <p:sp>
        <p:nvSpPr>
          <p:cNvPr id="108" name="s11fw1"/>
          <p:cNvSpPr txBox="1">
            <a:spLocks noGrp="1"/>
          </p:cNvSpPr>
          <p:nvPr/>
        </p:nvSpPr>
        <p:spPr>
          <a:xfrm>
            <a:off x="3913632" y="24780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CDC/RDC Extractor</a:t>
            </a:r>
          </a:p>
        </p:txBody>
      </p:sp>
      <p:sp>
        <p:nvSpPr>
          <p:cNvPr id="109" name="s11f2"/>
          <p:cNvSpPr txBox="1">
            <a:spLocks noGrp="1"/>
          </p:cNvSpPr>
          <p:nvPr/>
        </p:nvSpPr>
        <p:spPr>
          <a:xfrm>
            <a:off x="566928" y="2889504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data/&lt;tag&gt;_extractor_lint.json</a:t>
            </a:r>
          </a:p>
        </p:txBody>
      </p:sp>
      <p:sp>
        <p:nvSpPr>
          <p:cNvPr id="110" name="s11fw2"/>
          <p:cNvSpPr txBox="1">
            <a:spLocks noGrp="1"/>
          </p:cNvSpPr>
          <p:nvPr/>
        </p:nvSpPr>
        <p:spPr>
          <a:xfrm>
            <a:off x="3913632" y="29260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Lint Extractor</a:t>
            </a:r>
          </a:p>
        </p:txBody>
      </p:sp>
      <p:sp>
        <p:nvSpPr>
          <p:cNvPr id="111" name="s11f3"/>
          <p:cNvSpPr txBox="1">
            <a:spLocks noGrp="1"/>
          </p:cNvSpPr>
          <p:nvPr/>
        </p:nvSpPr>
        <p:spPr>
          <a:xfrm>
            <a:off x="566928" y="3337560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data/&lt;tag&gt;_extractor_spgdft.json</a:t>
            </a:r>
          </a:p>
        </p:txBody>
      </p:sp>
      <p:sp>
        <p:nvSpPr>
          <p:cNvPr id="112" name="s11fw3"/>
          <p:cNvSpPr txBox="1">
            <a:spLocks noGrp="1"/>
          </p:cNvSpPr>
          <p:nvPr/>
        </p:nvSpPr>
        <p:spPr>
          <a:xfrm>
            <a:off x="3913632" y="337413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SpgDFT Extractor</a:t>
            </a:r>
          </a:p>
        </p:txBody>
      </p:sp>
      <p:sp>
        <p:nvSpPr>
          <p:cNvPr id="113" name="s11f4"/>
          <p:cNvSpPr txBox="1">
            <a:spLocks noGrp="1"/>
          </p:cNvSpPr>
          <p:nvPr/>
        </p:nvSpPr>
        <p:spPr>
          <a:xfrm>
            <a:off x="566928" y="3785616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data/&lt;tag&gt;_rtl_cdc_&lt;N&gt;.json</a:t>
            </a:r>
          </a:p>
        </p:txBody>
      </p:sp>
      <p:sp>
        <p:nvSpPr>
          <p:cNvPr id="114" name="s11fw4"/>
          <p:cNvSpPr txBox="1">
            <a:spLocks noGrp="1"/>
          </p:cNvSpPr>
          <p:nvPr/>
        </p:nvSpPr>
        <p:spPr>
          <a:xfrm>
            <a:off x="3913632" y="38221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CDC RTL Analyzer</a:t>
            </a:r>
          </a:p>
        </p:txBody>
      </p:sp>
      <p:sp>
        <p:nvSpPr>
          <p:cNvPr id="115" name="s11f5"/>
          <p:cNvSpPr txBox="1">
            <a:spLocks noGrp="1"/>
          </p:cNvSpPr>
          <p:nvPr/>
        </p:nvSpPr>
        <p:spPr>
          <a:xfrm>
            <a:off x="566928" y="4233672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data/&lt;tag&gt;_rtl_lint_&lt;N&gt;.json</a:t>
            </a:r>
          </a:p>
        </p:txBody>
      </p:sp>
      <p:sp>
        <p:nvSpPr>
          <p:cNvPr id="116" name="s11fw5"/>
          <p:cNvSpPr txBox="1">
            <a:spLocks noGrp="1"/>
          </p:cNvSpPr>
          <p:nvPr/>
        </p:nvSpPr>
        <p:spPr>
          <a:xfrm>
            <a:off x="3913632" y="427024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Lint RTL Analyzer (per file)</a:t>
            </a:r>
          </a:p>
        </p:txBody>
      </p:sp>
      <p:sp>
        <p:nvSpPr>
          <p:cNvPr id="117" name="s11f6"/>
          <p:cNvSpPr txBox="1">
            <a:spLocks noGrp="1"/>
          </p:cNvSpPr>
          <p:nvPr/>
        </p:nvSpPr>
        <p:spPr>
          <a:xfrm>
            <a:off x="566928" y="4681728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data/&lt;tag&gt;_consolidated_cdc.json</a:t>
            </a:r>
          </a:p>
        </p:txBody>
      </p:sp>
      <p:sp>
        <p:nvSpPr>
          <p:cNvPr id="118" name="s11fw6"/>
          <p:cNvSpPr txBox="1">
            <a:spLocks noGrp="1"/>
          </p:cNvSpPr>
          <p:nvPr/>
        </p:nvSpPr>
        <p:spPr>
          <a:xfrm>
            <a:off x="3913632" y="471830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Fix Consolidator CDC</a:t>
            </a:r>
          </a:p>
        </p:txBody>
      </p:sp>
      <p:sp>
        <p:nvSpPr>
          <p:cNvPr id="119" name="s11f7"/>
          <p:cNvSpPr txBox="1">
            <a:spLocks noGrp="1"/>
          </p:cNvSpPr>
          <p:nvPr/>
        </p:nvSpPr>
        <p:spPr>
          <a:xfrm>
            <a:off x="566928" y="5129784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data/&lt;tag&gt;_fix_applied_cdc.json</a:t>
            </a:r>
          </a:p>
        </p:txBody>
      </p:sp>
      <p:sp>
        <p:nvSpPr>
          <p:cNvPr id="120" name="s11fw7"/>
          <p:cNvSpPr txBox="1">
            <a:spLocks noGrp="1"/>
          </p:cNvSpPr>
          <p:nvPr/>
        </p:nvSpPr>
        <p:spPr>
          <a:xfrm>
            <a:off x="3913632" y="51663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Fix Implementor</a:t>
            </a:r>
          </a:p>
        </p:txBody>
      </p:sp>
      <p:sp>
        <p:nvSpPr>
          <p:cNvPr id="121" name="s11f8"/>
          <p:cNvSpPr txBox="1">
            <a:spLocks noGrp="1"/>
          </p:cNvSpPr>
          <p:nvPr/>
        </p:nvSpPr>
        <p:spPr>
          <a:xfrm>
            <a:off x="566928" y="5577840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data/&lt;tag&gt;_deepdive_&lt;N&gt;.json</a:t>
            </a:r>
          </a:p>
        </p:txBody>
      </p:sp>
      <p:sp>
        <p:nvSpPr>
          <p:cNvPr id="122" name="s11fw8"/>
          <p:cNvSpPr txBox="1">
            <a:spLocks noGrp="1"/>
          </p:cNvSpPr>
          <p:nvPr/>
        </p:nvSpPr>
        <p:spPr>
          <a:xfrm>
            <a:off x="3913632" y="561441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Deep-Dive Agent</a:t>
            </a:r>
          </a:p>
        </p:txBody>
      </p:sp>
      <p:sp>
        <p:nvSpPr>
          <p:cNvPr id="123" name="s11f9"/>
          <p:cNvSpPr txBox="1">
            <a:spLocks noGrp="1"/>
          </p:cNvSpPr>
          <p:nvPr/>
        </p:nvSpPr>
        <p:spPr>
          <a:xfrm>
            <a:off x="566928" y="6025896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00C2DE"/>
                </a:solidFill>
                <a:latin typeface="Arial"/>
              </a:rPr>
              <a:t>data/&lt;tag&gt;_analysis_cdc.html</a:t>
            </a:r>
          </a:p>
        </p:txBody>
      </p:sp>
      <p:sp>
        <p:nvSpPr>
          <p:cNvPr id="124" name="s11fw9"/>
          <p:cNvSpPr txBox="1">
            <a:spLocks noGrp="1"/>
          </p:cNvSpPr>
          <p:nvPr/>
        </p:nvSpPr>
        <p:spPr>
          <a:xfrm>
            <a:off x="3913632" y="60624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0" dirty="0">
                <a:solidFill>
                  <a:srgbClr val="9D9FA2"/>
                </a:solidFill>
                <a:latin typeface="Arial"/>
              </a:rPr>
              <a:t>← Report Compiler</a:t>
            </a:r>
          </a:p>
        </p:txBody>
      </p:sp>
      <p:sp>
        <p:nvSpPr>
          <p:cNvPr id="125" name="s11r1"/>
          <p:cNvSpPr>
            <a:spLocks noGrp="1"/>
          </p:cNvSpPr>
          <p:nvPr/>
        </p:nvSpPr>
        <p:spPr>
          <a:xfrm>
            <a:off x="6172200" y="1417320"/>
            <a:ext cx="557784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s11r1t"/>
          <p:cNvSpPr>
            <a:spLocks noGrp="1"/>
          </p:cNvSpPr>
          <p:nvPr/>
        </p:nvSpPr>
        <p:spPr>
          <a:xfrm>
            <a:off x="6172200" y="1417320"/>
            <a:ext cx="5577840" cy="36576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1r1ttl"/>
          <p:cNvSpPr txBox="1">
            <a:spLocks noGrp="1"/>
          </p:cNvSpPr>
          <p:nvPr/>
        </p:nvSpPr>
        <p:spPr>
          <a:xfrm>
            <a:off x="6309360" y="1508760"/>
            <a:ext cx="534924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F26522"/>
                </a:solidFill>
                <a:latin typeface="Arial"/>
              </a:rPr>
              <a:t>FIX HISTORY — Round Memory</a:t>
            </a:r>
          </a:p>
        </p:txBody>
      </p:sp>
      <p:sp>
        <p:nvSpPr>
          <p:cNvPr id="128" name="s11hist"/>
          <p:cNvSpPr txBox="1">
            <a:spLocks noGrp="1"/>
          </p:cNvSpPr>
          <p:nvPr/>
        </p:nvSpPr>
        <p:spPr>
          <a:xfrm>
            <a:off x="6309360" y="1965960"/>
            <a:ext cx="5349240" cy="178308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000" b="0" i="1" dirty="0">
                <a:solidFill>
                  <a:srgbClr val="00C2DE"/>
                </a:solidFill>
                <a:latin typeface="Arial"/>
              </a:rPr>
              <a:t>Round 1: fix_history = {}</a:t>
            </a:r>
          </a:p>
          <a:p>
            <a:pPr algn="l"/>
            <a:r>
              <a:rPr lang="en-US" sz="1000" b="0" i="1" dirty="0">
                <a:solidFill>
                  <a:srgbClr val="00C2DE"/>
                </a:solidFill>
                <a:latin typeface="Arial"/>
              </a:rPr>
              <a:t/>
            </a:r>
          </a:p>
          <a:p>
            <a:pPr algn="l"/>
            <a:r>
              <a:rPr lang="en-US" sz="1000" b="0" i="1" dirty="0">
                <a:solidFill>
                  <a:srgbClr val="00C2DE"/>
                </a:solidFill>
                <a:latin typeface="Arial"/>
              </a:rPr>
              <a:t>Round 2: fix_history = {</a:t>
            </a:r>
          </a:p>
          <a:p>
            <a:pPr algn="l"/>
            <a:r>
              <a:rPr lang="en-US" sz="1000" b="0" i="1" dirty="0">
                <a:solidFill>
                  <a:srgbClr val="00C2DE"/>
                </a:solidFill>
                <a:latin typeface="Arial"/>
              </a:rPr>
              <a:t>  "signal": [{round:1, fix:"rtl_fix",</a:t>
            </a:r>
          </a:p>
          <a:p>
            <a:pPr algn="l"/>
            <a:r>
              <a:rPr lang="en-US" sz="1000" b="0" i="1" dirty="0">
                <a:solidFill>
                  <a:srgbClr val="00C2DE"/>
                </a:solidFill>
                <a:latin typeface="Arial"/>
              </a:rPr>
              <a:t>              status:"applied"}]</a:t>
            </a:r>
          </a:p>
          <a:p>
            <a:pPr algn="l"/>
            <a:r>
              <a:rPr lang="en-US" sz="1000" b="0" i="1" dirty="0">
                <a:solidFill>
                  <a:srgbClr val="00C2DE"/>
                </a:solidFill>
                <a:latin typeface="Arial"/>
              </a:rPr>
              <a:t>}</a:t>
            </a:r>
          </a:p>
          <a:p>
            <a:pPr algn="l"/>
            <a:r>
              <a:rPr lang="en-US" sz="1000" b="0" i="1" dirty="0">
                <a:solidFill>
                  <a:srgbClr val="00C2DE"/>
                </a:solidFill>
                <a:latin typeface="Arial"/>
              </a:rPr>
              <a:t/>
            </a:r>
          </a:p>
          <a:p>
            <a:pPr algn="l"/>
            <a:r>
              <a:rPr lang="en-US" sz="1000" b="0" i="1" dirty="0">
                <a:solidFill>
                  <a:srgbClr val="00C2DE"/>
                </a:solidFill>
                <a:latin typeface="Arial"/>
              </a:rPr>
              <a:t>Round 3+: same signal → try different</a:t>
            </a:r>
          </a:p>
          <a:p>
            <a:pPr algn="l"/>
            <a:r>
              <a:rPr lang="en-US" sz="1000" b="0" i="1" dirty="0">
                <a:solidFill>
                  <a:srgbClr val="00C2DE"/>
                </a:solidFill>
                <a:latin typeface="Arial"/>
              </a:rPr>
              <a:t>          2+ failures → "investigate"</a:t>
            </a:r>
          </a:p>
        </p:txBody>
      </p:sp>
      <p:sp>
        <p:nvSpPr>
          <p:cNvPr id="129" name="s11r2"/>
          <p:cNvSpPr>
            <a:spLocks noGrp="1"/>
          </p:cNvSpPr>
          <p:nvPr/>
        </p:nvSpPr>
        <p:spPr>
          <a:xfrm>
            <a:off x="6172200" y="3977639"/>
            <a:ext cx="5577840" cy="25146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s11r2t"/>
          <p:cNvSpPr>
            <a:spLocks noGrp="1"/>
          </p:cNvSpPr>
          <p:nvPr/>
        </p:nvSpPr>
        <p:spPr>
          <a:xfrm>
            <a:off x="6172200" y="3977639"/>
            <a:ext cx="55778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1r2ttl"/>
          <p:cNvSpPr txBox="1">
            <a:spLocks noGrp="1"/>
          </p:cNvSpPr>
          <p:nvPr/>
        </p:nvSpPr>
        <p:spPr>
          <a:xfrm>
            <a:off x="6309360" y="4069080"/>
            <a:ext cx="534924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2ECC71"/>
                </a:solidFill>
                <a:latin typeface="Arial"/>
              </a:rPr>
              <a:t>WHY FILE-BASED?</a:t>
            </a:r>
          </a:p>
        </p:txBody>
      </p:sp>
      <p:sp>
        <p:nvSpPr>
          <p:cNvPr id="132" name="s11r0"/>
          <p:cNvSpPr txBox="1">
            <a:spLocks noGrp="1"/>
          </p:cNvSpPr>
          <p:nvPr/>
        </p:nvSpPr>
        <p:spPr>
          <a:xfrm>
            <a:off x="6309360" y="4526280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✓  Survives context interruption — no findings lost</a:t>
            </a:r>
          </a:p>
        </p:txBody>
      </p:sp>
      <p:sp>
        <p:nvSpPr>
          <p:cNvPr id="133" name="s11r1"/>
          <p:cNvSpPr txBox="1">
            <a:spLocks noGrp="1"/>
          </p:cNvSpPr>
          <p:nvPr/>
        </p:nvSpPr>
        <p:spPr>
          <a:xfrm>
            <a:off x="6309360" y="4910328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✓  No context bloat — compilers read only what they need</a:t>
            </a:r>
          </a:p>
        </p:txBody>
      </p:sp>
      <p:sp>
        <p:nvSpPr>
          <p:cNvPr id="134" name="s11r2"/>
          <p:cNvSpPr txBox="1">
            <a:spLocks noGrp="1"/>
          </p:cNvSpPr>
          <p:nvPr/>
        </p:nvSpPr>
        <p:spPr>
          <a:xfrm>
            <a:off x="6309360" y="5294376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✓  Resumable — partial analyses can be continued</a:t>
            </a:r>
          </a:p>
        </p:txBody>
      </p:sp>
      <p:sp>
        <p:nvSpPr>
          <p:cNvPr id="135" name="s11r3"/>
          <p:cNvSpPr txBox="1">
            <a:spLocks noGrp="1"/>
          </p:cNvSpPr>
          <p:nvPr/>
        </p:nvSpPr>
        <p:spPr>
          <a:xfrm>
            <a:off x="6309360" y="5678424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✓  Auditable — each agent's raw output inspectable</a:t>
            </a:r>
          </a:p>
        </p:txBody>
      </p:sp>
      <p:sp>
        <p:nvSpPr>
          <p:cNvPr id="136" name="s11r4"/>
          <p:cNvSpPr txBox="1">
            <a:spLocks noGrp="1"/>
          </p:cNvSpPr>
          <p:nvPr/>
        </p:nvSpPr>
        <p:spPr>
          <a:xfrm>
            <a:off x="6309360" y="6062472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100" b="0" i="0" dirty="0">
                <a:solidFill>
                  <a:srgbClr val="D5D5D5"/>
                </a:solidFill>
                <a:latin typeface="Arial"/>
              </a:rPr>
              <a:t>✓  Parallel-safe — each agent writes its own file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1" name="s12ttl"/>
          <p:cNvSpPr txBox="1">
            <a:spLocks noGrp="1"/>
          </p:cNvSpPr>
          <p:nvPr/>
        </p:nvSpPr>
        <p:spPr>
          <a:xfrm>
            <a:off x="548640" y="91440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102" name="s12line"/>
          <p:cNvSpPr>
            <a:spLocks noGrp="1"/>
          </p:cNvSpPr>
          <p:nvPr/>
        </p:nvSpPr>
        <p:spPr>
          <a:xfrm>
            <a:off x="548640" y="1554480"/>
            <a:ext cx="4114800" cy="5029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12kb0"/>
          <p:cNvSpPr>
            <a:spLocks noGrp="1"/>
          </p:cNvSpPr>
          <p:nvPr/>
        </p:nvSpPr>
        <p:spPr>
          <a:xfrm>
            <a:off x="548640" y="1737360"/>
            <a:ext cx="36576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12kt0"/>
          <p:cNvSpPr txBox="1">
            <a:spLocks noGrp="1"/>
          </p:cNvSpPr>
          <p:nvPr/>
        </p:nvSpPr>
        <p:spPr>
          <a:xfrm>
            <a:off x="658368" y="173736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4 Entry Points</a:t>
            </a:r>
          </a:p>
        </p:txBody>
      </p:sp>
      <p:sp>
        <p:nvSpPr>
          <p:cNvPr id="105" name="s12kd0"/>
          <p:cNvSpPr txBox="1">
            <a:spLocks noGrp="1"/>
          </p:cNvSpPr>
          <p:nvPr/>
        </p:nvSpPr>
        <p:spPr>
          <a:xfrm>
            <a:off x="2944368" y="179222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Run+Analyze · Only · Fixer · Fixer-Only</a:t>
            </a:r>
          </a:p>
        </p:txBody>
      </p:sp>
      <p:sp>
        <p:nvSpPr>
          <p:cNvPr id="106" name="s12kb1"/>
          <p:cNvSpPr>
            <a:spLocks noGrp="1"/>
          </p:cNvSpPr>
          <p:nvPr/>
        </p:nvSpPr>
        <p:spPr>
          <a:xfrm>
            <a:off x="548640" y="2331720"/>
            <a:ext cx="36576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12kt1"/>
          <p:cNvSpPr txBox="1">
            <a:spLocks noGrp="1"/>
          </p:cNvSpPr>
          <p:nvPr/>
        </p:nvSpPr>
        <p:spPr>
          <a:xfrm>
            <a:off x="658368" y="233172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4-Wave Pipeline</a:t>
            </a:r>
          </a:p>
        </p:txBody>
      </p:sp>
      <p:sp>
        <p:nvSpPr>
          <p:cNvPr id="108" name="s12kd1"/>
          <p:cNvSpPr txBox="1">
            <a:spLocks noGrp="1"/>
          </p:cNvSpPr>
          <p:nvPr/>
        </p:nvSpPr>
        <p:spPr>
          <a:xfrm>
            <a:off x="2944368" y="238658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Extract → Gate → Analyze → Consolidate → Report</a:t>
            </a:r>
          </a:p>
        </p:txBody>
      </p:sp>
      <p:sp>
        <p:nvSpPr>
          <p:cNvPr id="109" name="s12kb2"/>
          <p:cNvSpPr>
            <a:spLocks noGrp="1"/>
          </p:cNvSpPr>
          <p:nvPr/>
        </p:nvSpPr>
        <p:spPr>
          <a:xfrm>
            <a:off x="548640" y="2926080"/>
            <a:ext cx="36576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12kt2"/>
          <p:cNvSpPr txBox="1">
            <a:spLocks noGrp="1"/>
          </p:cNvSpPr>
          <p:nvPr/>
        </p:nvSpPr>
        <p:spPr>
          <a:xfrm>
            <a:off x="658368" y="292608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Parallel Agents</a:t>
            </a:r>
          </a:p>
        </p:txBody>
      </p:sp>
      <p:sp>
        <p:nvSpPr>
          <p:cNvPr id="111" name="s12kd2"/>
          <p:cNvSpPr txBox="1">
            <a:spLocks noGrp="1"/>
          </p:cNvSpPr>
          <p:nvPr/>
        </p:nvSpPr>
        <p:spPr>
          <a:xfrm>
            <a:off x="2944368" y="298094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N agents simultaneously — one per violation/file</a:t>
            </a:r>
          </a:p>
        </p:txBody>
      </p:sp>
      <p:sp>
        <p:nvSpPr>
          <p:cNvPr id="112" name="s12kb3"/>
          <p:cNvSpPr>
            <a:spLocks noGrp="1"/>
          </p:cNvSpPr>
          <p:nvPr/>
        </p:nvSpPr>
        <p:spPr>
          <a:xfrm>
            <a:off x="548640" y="3520440"/>
            <a:ext cx="36576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s12kt3"/>
          <p:cNvSpPr txBox="1">
            <a:spLocks noGrp="1"/>
          </p:cNvSpPr>
          <p:nvPr/>
        </p:nvSpPr>
        <p:spPr>
          <a:xfrm>
            <a:off x="658368" y="352044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File-Based</a:t>
            </a:r>
          </a:p>
        </p:txBody>
      </p:sp>
      <p:sp>
        <p:nvSpPr>
          <p:cNvPr id="114" name="s12kd3"/>
          <p:cNvSpPr txBox="1">
            <a:spLocks noGrp="1"/>
          </p:cNvSpPr>
          <p:nvPr/>
        </p:nvSpPr>
        <p:spPr>
          <a:xfrm>
            <a:off x="2944368" y="357530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JSON on disk — resumable, auditable, crash-safe</a:t>
            </a:r>
          </a:p>
        </p:txBody>
      </p:sp>
      <p:sp>
        <p:nvSpPr>
          <p:cNvPr id="115" name="s12kb4"/>
          <p:cNvSpPr>
            <a:spLocks noGrp="1"/>
          </p:cNvSpPr>
          <p:nvPr/>
        </p:nvSpPr>
        <p:spPr>
          <a:xfrm>
            <a:off x="548640" y="4114800"/>
            <a:ext cx="36576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s12kt4"/>
          <p:cNvSpPr txBox="1">
            <a:spLocks noGrp="1"/>
          </p:cNvSpPr>
          <p:nvPr/>
        </p:nvSpPr>
        <p:spPr>
          <a:xfrm>
            <a:off x="658368" y="41148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Auto-Fix Loop</a:t>
            </a:r>
          </a:p>
        </p:txBody>
      </p:sp>
      <p:sp>
        <p:nvSpPr>
          <p:cNvPr id="117" name="s12kd4"/>
          <p:cNvSpPr txBox="1">
            <a:spLocks noGrp="1"/>
          </p:cNvSpPr>
          <p:nvPr/>
        </p:nvSpPr>
        <p:spPr>
          <a:xfrm>
            <a:off x="2944368" y="416966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Up to 5 rounds — CLEAN / STALLED / MAX ROUNDS</a:t>
            </a:r>
          </a:p>
        </p:txBody>
      </p:sp>
      <p:sp>
        <p:nvSpPr>
          <p:cNvPr id="118" name="s12kb5"/>
          <p:cNvSpPr>
            <a:spLocks noGrp="1"/>
          </p:cNvSpPr>
          <p:nvPr/>
        </p:nvSpPr>
        <p:spPr>
          <a:xfrm>
            <a:off x="548640" y="4709160"/>
            <a:ext cx="36576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12kt5"/>
          <p:cNvSpPr txBox="1">
            <a:spLocks noGrp="1"/>
          </p:cNvSpPr>
          <p:nvPr/>
        </p:nvSpPr>
        <p:spPr>
          <a:xfrm>
            <a:off x="658368" y="470916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ZERO Waivers</a:t>
            </a:r>
          </a:p>
        </p:txBody>
      </p:sp>
      <p:sp>
        <p:nvSpPr>
          <p:cNvPr id="120" name="s12kd5"/>
          <p:cNvSpPr txBox="1">
            <a:spLocks noGrp="1"/>
          </p:cNvSpPr>
          <p:nvPr/>
        </p:nvSpPr>
        <p:spPr>
          <a:xfrm>
            <a:off x="2944368" y="476402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All violations fixed in RTL or constraints only</a:t>
            </a:r>
          </a:p>
        </p:txBody>
      </p:sp>
      <p:sp>
        <p:nvSpPr>
          <p:cNvPr id="121" name="s12kb6"/>
          <p:cNvSpPr>
            <a:spLocks noGrp="1"/>
          </p:cNvSpPr>
          <p:nvPr/>
        </p:nvSpPr>
        <p:spPr>
          <a:xfrm>
            <a:off x="548640" y="5303520"/>
            <a:ext cx="36576" cy="4572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12kt6"/>
          <p:cNvSpPr txBox="1">
            <a:spLocks noGrp="1"/>
          </p:cNvSpPr>
          <p:nvPr/>
        </p:nvSpPr>
        <p:spPr>
          <a:xfrm>
            <a:off x="658368" y="530352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Reliability</a:t>
            </a:r>
          </a:p>
        </p:txBody>
      </p:sp>
      <p:sp>
        <p:nvSpPr>
          <p:cNvPr id="123" name="s12kd6"/>
          <p:cNvSpPr txBox="1">
            <a:spLocks noGrp="1"/>
          </p:cNvSpPr>
          <p:nvPr/>
        </p:nvSpPr>
        <p:spPr>
          <a:xfrm>
            <a:off x="2944368" y="535838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CRITICAL_RULES.md + output validation + retry</a:t>
            </a:r>
          </a:p>
        </p:txBody>
      </p:sp>
      <p:sp>
        <p:nvSpPr>
          <p:cNvPr id="124" name="s12rp"/>
          <p:cNvSpPr>
            <a:spLocks noGrp="1"/>
          </p:cNvSpPr>
          <p:nvPr/>
        </p:nvSpPr>
        <p:spPr>
          <a:xfrm>
            <a:off x="8503920" y="1417320"/>
            <a:ext cx="329184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s12cttl"/>
          <p:cNvSpPr txBox="1">
            <a:spLocks noGrp="1"/>
          </p:cNvSpPr>
          <p:nvPr/>
        </p:nvSpPr>
        <p:spPr>
          <a:xfrm>
            <a:off x="8641080" y="1508760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300" b="1" i="0" dirty="0">
                <a:solidFill>
                  <a:srgbClr val="00C2DE"/>
                </a:solidFill>
                <a:latin typeface="Arial"/>
              </a:rPr>
              <a:t>CHECK TYPES</a:t>
            </a:r>
          </a:p>
        </p:txBody>
      </p:sp>
      <p:sp>
        <p:nvSpPr>
          <p:cNvPr id="126" name="s12ct0"/>
          <p:cNvSpPr>
            <a:spLocks noGrp="1"/>
          </p:cNvSpPr>
          <p:nvPr/>
        </p:nvSpPr>
        <p:spPr>
          <a:xfrm>
            <a:off x="8503920" y="1965960"/>
            <a:ext cx="3291840" cy="13716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12ctl0"/>
          <p:cNvSpPr>
            <a:spLocks noGrp="1"/>
          </p:cNvSpPr>
          <p:nvPr/>
        </p:nvSpPr>
        <p:spPr>
          <a:xfrm>
            <a:off x="8503920" y="1965960"/>
            <a:ext cx="50292" cy="13716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12ctn0"/>
          <p:cNvSpPr txBox="1">
            <a:spLocks noGrp="1"/>
          </p:cNvSpPr>
          <p:nvPr/>
        </p:nvSpPr>
        <p:spPr>
          <a:xfrm>
            <a:off x="8595360" y="2075688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500" b="1" i="0" dirty="0">
                <a:solidFill>
                  <a:srgbClr val="ED1C24"/>
                </a:solidFill>
                <a:latin typeface="Arial"/>
              </a:rPr>
              <a:t>CDC / RDC</a:t>
            </a:r>
          </a:p>
        </p:txBody>
      </p:sp>
      <p:sp>
        <p:nvSpPr>
          <p:cNvPr id="129" name="s12ctd0"/>
          <p:cNvSpPr txBox="1">
            <a:spLocks noGrp="1"/>
          </p:cNvSpPr>
          <p:nvPr/>
        </p:nvSpPr>
        <p:spPr>
          <a:xfrm>
            <a:off x="8595360" y="2496312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Clock/Reset Domain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Crossing analysis</a:t>
            </a:r>
          </a:p>
        </p:txBody>
      </p:sp>
      <p:sp>
        <p:nvSpPr>
          <p:cNvPr id="130" name="s12ct1"/>
          <p:cNvSpPr>
            <a:spLocks noGrp="1"/>
          </p:cNvSpPr>
          <p:nvPr/>
        </p:nvSpPr>
        <p:spPr>
          <a:xfrm>
            <a:off x="8503920" y="3447288"/>
            <a:ext cx="3291840" cy="13716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12ctl1"/>
          <p:cNvSpPr>
            <a:spLocks noGrp="1"/>
          </p:cNvSpPr>
          <p:nvPr/>
        </p:nvSpPr>
        <p:spPr>
          <a:xfrm>
            <a:off x="8503920" y="3447288"/>
            <a:ext cx="50292" cy="1371600"/>
          </a:xfrm>
          <a:prstGeom prst="rect">
            <a:avLst/>
          </a:prstGeom>
          <a:solidFill>
            <a:srgbClr val="C1A9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12ctn1"/>
          <p:cNvSpPr txBox="1">
            <a:spLocks noGrp="1"/>
          </p:cNvSpPr>
          <p:nvPr/>
        </p:nvSpPr>
        <p:spPr>
          <a:xfrm>
            <a:off x="8595360" y="3557016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500" b="1" i="0" dirty="0">
                <a:solidFill>
                  <a:srgbClr val="C1A968"/>
                </a:solidFill>
                <a:latin typeface="Arial"/>
              </a:rPr>
              <a:t>Lint</a:t>
            </a:r>
          </a:p>
        </p:txBody>
      </p:sp>
      <p:sp>
        <p:nvSpPr>
          <p:cNvPr id="133" name="s12ctd1"/>
          <p:cNvSpPr txBox="1">
            <a:spLocks noGrp="1"/>
          </p:cNvSpPr>
          <p:nvPr/>
        </p:nvSpPr>
        <p:spPr>
          <a:xfrm>
            <a:off x="8595360" y="397764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RTL code quality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violation analysis</a:t>
            </a:r>
          </a:p>
        </p:txBody>
      </p:sp>
      <p:sp>
        <p:nvSpPr>
          <p:cNvPr id="134" name="s12ct2"/>
          <p:cNvSpPr>
            <a:spLocks noGrp="1"/>
          </p:cNvSpPr>
          <p:nvPr/>
        </p:nvSpPr>
        <p:spPr>
          <a:xfrm>
            <a:off x="8503920" y="4928616"/>
            <a:ext cx="3291840" cy="1371600"/>
          </a:xfrm>
          <a:prstGeom prst="rect">
            <a:avLst/>
          </a:prstGeom>
          <a:solidFill>
            <a:srgbClr val="3A3A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12ctl2"/>
          <p:cNvSpPr>
            <a:spLocks noGrp="1"/>
          </p:cNvSpPr>
          <p:nvPr/>
        </p:nvSpPr>
        <p:spPr>
          <a:xfrm>
            <a:off x="8503920" y="4928616"/>
            <a:ext cx="50292" cy="1371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s12ctn2"/>
          <p:cNvSpPr txBox="1">
            <a:spLocks noGrp="1"/>
          </p:cNvSpPr>
          <p:nvPr/>
        </p:nvSpPr>
        <p:spPr>
          <a:xfrm>
            <a:off x="8595360" y="503834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500" b="1" i="0" dirty="0">
                <a:solidFill>
                  <a:srgbClr val="2ECC71"/>
                </a:solidFill>
                <a:latin typeface="Arial"/>
              </a:rPr>
              <a:t>SpgDFT</a:t>
            </a:r>
          </a:p>
        </p:txBody>
      </p:sp>
      <p:sp>
        <p:nvSpPr>
          <p:cNvPr id="137" name="s12ctd2"/>
          <p:cNvSpPr txBox="1">
            <a:spLocks noGrp="1"/>
          </p:cNvSpPr>
          <p:nvPr/>
        </p:nvSpPr>
        <p:spPr>
          <a:xfrm>
            <a:off x="8595360" y="5458968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wrap="wrap" lIns="45720" rIns="45720" tIns="45720" bIns="45720"/>
          <a:lstStyle/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Design-for-Test</a:t>
            </a:r>
          </a:p>
          <a:p>
            <a:pPr algn="l"/>
            <a:r>
              <a:rPr lang="en-US" sz="1200" b="0" i="0" dirty="0">
                <a:solidFill>
                  <a:srgbClr val="D5D5D5"/>
                </a:solidFill>
                <a:latin typeface="Arial"/>
              </a:rPr>
              <a:t>violation analysis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 - 2024 update -v1.2" id="{952D021A-6A0B-49CB-832E-9DCCDC055701}" vid="{8B090628-2708-4125-B695-55346B67B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1,"isValidatorEnabled":false,"isLocked":false,"elementsMetadata":[],"slideId":"637629098780874432","enableDocumentContentUpdater":tru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],"slideId":"637629098780942318","enableDocumentContentUpdater":true,"version":"2.0"}]]></TemplafySlideTemplateConfiguration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],"slideId":"637629098780858672","enableDocumentContentUpdater":true,"version":"2.0"}]]></TemplafySlideTemplateConfiguration>
</file>

<file path=customXml/item12.xml><?xml version="1.0" encoding="utf-8"?>
<TemplafySlideTemplateConfiguration><![CDATA[{"slideVersion":1,"isValidatorEnabled":false,"isLocked":false,"elementsMetadata":[],"slideId":"637629098780898812","enableDocumentContentUpdater":tru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slideVersion":1,"isValidatorEnabled":false,"isLocked":false,"elementsMetadata":[],"slideId":"637629098780810453","enableDocumentContentUpdater":true,"version":"2.0"}]]></TemplafySlideTemplateConfiguration>
</file>

<file path=customXml/item15.xml><?xml version="1.0" encoding="utf-8"?>
<TemplafySlideTemplateConfiguration><![CDATA[{"slideVersion":1,"isValidatorEnabled":false,"isLocked":false,"elementsMetadata":[],"slideId":"637629098780815282","enableDocumentContentUpdater":true,"version":"2.0"}]]></TemplafySlideTemplateConfiguration>
</file>

<file path=customXml/item16.xml><?xml version="1.0" encoding="utf-8"?>
<TemplafySlideTemplateConfiguration><![CDATA[{"slideVersion":1,"isValidatorEnabled":false,"isLocked":false,"elementsMetadata":[],"slideId":"637629098780864969","enableDocumentContentUpdater":true,"version":"2.0"}]]></TemplafySlideTemplate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TemplateConfiguration><![CDATA[{"slideVersion":1,"isValidatorEnabled":false,"isLocked":false,"elementsMetadata":[],"slideId":"637629098780802172","enableDocumentContentUpdater":true,"version":"2.0"}]]></TemplafySlideTemplateConfiguration>
</file>

<file path=customXml/item21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22.xml><?xml version="1.0" encoding="utf-8"?>
<TemplafySlideTemplateConfiguration><![CDATA[{"slideVersion":1,"isValidatorEnabled":false,"isLocked":false,"elementsMetadata":[],"slideId":"637629098780820470","enableDocumentContentUpdater":tru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slideVersion":1,"isValidatorEnabled":false,"isLocked":false,"elementsMetadata":[],"slideId":"637629098780933985","enableDocumentContentUpdater":true,"version":"2.0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TemplateConfiguration><![CDATA[{"slideVersion":1,"isValidatorEnabled":false,"isLocked":false,"elementsMetadata":[],"slideId":"637629098780882757","enableDocumentContentUpdater":true,"version":"2.0"}]]></TemplafySlideTemplateConfiguration>
</file>

<file path=customXml/item30.xml><?xml version="1.0" encoding="utf-8"?>
<TemplafySlideTemplateConfiguration><![CDATA[{"slideVersion":1,"isValidatorEnabled":false,"isLocked":false,"elementsMetadata":[],"slideId":"637629098780868991","enableDocumentContentUpdater":true,"version":"2.0"}]]></TemplafySlideTemplateConfiguration>
</file>

<file path=customXml/item31.xml><?xml version="1.0" encoding="utf-8"?>
<TemplafySlideTemplateConfiguration><![CDATA[{"slideVersion":1,"isValidatorEnabled":false,"isLocked":false,"elementsMetadata":[],"slideId":"637629098780935963","enableDocumentContentUpdater":true,"version":"2.0"}]]></TemplafySlideTemplateConfiguration>
</file>

<file path=customXml/item32.xml><?xml version="1.0" encoding="utf-8"?>
<TemplafySlideTemplateConfiguration><![CDATA[{"slideVersion":1,"isValidatorEnabled":false,"isLocked":false,"elementsMetadata":[],"slideId":"637629098780938070","enableDocumentContentUpdater":true,"version":"2.0"}]]></TemplafySlideTemplateConfiguration>
</file>

<file path=customXml/item33.xml><?xml version="1.0" encoding="utf-8"?>
<TemplafySlideTemplateConfiguration><![CDATA[{"slideVersion":1,"isValidatorEnabled":false,"isLocked":false,"elementsMetadata":[],"slideId":"637629098780805369","enableDocumentContentUpdater":true,"version":"2.0"}]]></TemplafySlideTemplateConfiguration>
</file>

<file path=customXml/item34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35.xml><?xml version="1.0" encoding="utf-8"?>
<TemplafySlideTemplateConfiguration><![CDATA[{"slideVersion":1,"isValidatorEnabled":false,"isLocked":false,"elementsMetadata":[],"slideId":"637629098780861368","enableDocumentContentUpdater":true,"version":"2.0"}]]></TemplafySlideTemplateConfiguration>
</file>

<file path=customXml/item36.xml><?xml version="1.0" encoding="utf-8"?>
<TemplafySlideTemplateConfiguration><![CDATA[{"slideVersion":1,"isValidatorEnabled":false,"isLocked":false,"elementsMetadata":[],"slideId":"637629098780855834","enableDocumentContentUpdater":true,"version":"2.0"}]]></TemplafySlideTemplateConfiguration>
</file>

<file path=customXml/item37.xml><?xml version="1.0" encoding="utf-8"?>
<TemplafySlideTemplateConfiguration><![CDATA[{"slideVersion":1,"isValidatorEnabled":false,"isLocked":false,"elementsMetadata":[],"slideId":"637629098780891892","enableDocumentContentUpdater":true,"version":"2.0"}]]></TemplafySlideTemplateConfiguration>
</file>

<file path=customXml/item38.xml><?xml version="1.0" encoding="utf-8"?>
<TemplafySlideTemplateConfiguration><![CDATA[{"slideVersion":1,"isValidatorEnabled":false,"isLocked":false,"elementsMetadata":[],"slideId":"637629098780929168","enableDocumentContentUpdater":true,"version":"2.0"}]]></TemplafySlideTemplateConfiguration>
</file>

<file path=customXml/item39.xml><?xml version="1.0" encoding="utf-8"?>
<TemplafySlideTemplateConfiguration><![CDATA[{"slideVersion":1,"isValidatorEnabled":false,"isLocked":false,"elementsMetadata":[],"slideId":"637629098780942318","enableDocumentContentUpdater":true,"version":"2.0"}]]></TemplafySlideTemplateConfiguration>
</file>

<file path=customXml/item40.xml><?xml version="1.0" encoding="utf-8"?>
<TemplafySlideTemplateConfiguration><![CDATA[{"slideVersion":1,"isValidatorEnabled":false,"isLocked":false,"elementsMetadata":[],"slideId":"637629098780818133","enableDocumentContentUpdater":true,"version":"2.0"}]]></TemplafySlideTemplateConfiguration>
</file>

<file path=customXml/item41.xml><?xml version="1.0" encoding="utf-8"?>
<TemplafySlideFormConfiguration><![CDATA[{"formFields":[],"formDataEntries":[]}]]></TemplafySlideFormConfiguration>
</file>

<file path=customXml/item42.xml><?xml version="1.0" encoding="utf-8"?>
<TemplafySlideFormConfiguration><![CDATA[{"formFields":[],"formDataEntries":[]}]]></TemplafySlideFormConfiguration>
</file>

<file path=customXml/item43.xml><?xml version="1.0" encoding="utf-8"?>
<TemplafySlideFormConfiguration><![CDATA[{"formFields":[],"formDataEntries":[]}]]></TemplafySlideForm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FormConfiguration><![CDATA[{"formFields":[],"formDataEntries":[]}]]></TemplafySlideForm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TemplafySlideFormConfiguration><![CDATA[{"formFields":[],"formDataEntries":[]}]]></TemplafySlideFormConfiguration>
</file>

<file path=customXml/item48.xml><?xml version="1.0" encoding="utf-8"?>
<TemplafySlideFormConfiguration><![CDATA[{"formFields":[],"formDataEntries":[]}]]></TemplafySlideFormConfiguration>
</file>

<file path=customXml/item49.xml><?xml version="1.0" encoding="utf-8"?>
<TemplafySlideTemplateConfiguration><![CDATA[{"slideVersion":1,"isValidatorEnabled":false,"isLocked":false,"elementsMetadata":[],"slideId":"637629098780931945","enableDocumentContentUpdater":true,"version":"2.0"}]]></TemplafySlideTemplateConfiguration>
</file>

<file path=customXml/item50.xml><?xml version="1.0" encoding="utf-8"?>
<TemplafySlideTemplateConfiguration><![CDATA[{"slideVersion":1,"isValidatorEnabled":false,"isLocked":false,"elementsMetadata":[],"slideId":"637629098780819298","enableDocumentContentUpdater":true,"version":"2.0"}]]></TemplafySlideTemplateConfiguration>
</file>

<file path=customXml/item51.xml><?xml version="1.0" encoding="utf-8"?>
<TemplafySlideFormConfiguration><![CDATA[{"formFields":[],"formDataEntries":[]}]]></TemplafySlideFormConfiguration>
</file>

<file path=customXml/item52.xml><?xml version="1.0" encoding="utf-8"?>
<TemplafySlideTemplateConfiguration><![CDATA[{"slideVersion":1,"isValidatorEnabled":false,"isLocked":false,"elementsMetadata":[],"slideId":"637629098780944294","enableDocumentContentUpdater":true,"version":"2.0"}]]></TemplafySlideTemplateConfiguration>
</file>

<file path=customXml/item53.xml><?xml version="1.0" encoding="utf-8"?>
<TemplafySlideTemplateConfiguration><![CDATA[{"slideVersion":1,"isValidatorEnabled":false,"isLocked":false,"elementsMetadata":[],"slideId":"637629098780812520","enableDocumentContentUpdater":true,"version":"2.0"}]]></TemplafySlideTemplate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TemplateConfiguration><![CDATA[{"slideVersion":1,"isValidatorEnabled":false,"isLocked":false,"elementsMetadata":[],"slideId":"637629098780938389","enableDocumentContentUpdater":true,"version":"2.0"}]]></TemplafySlideTemplateConfiguration>
</file>

<file path=customXml/item56.xml><?xml version="1.0" encoding="utf-8"?>
<TemplafySlideTemplateConfiguration><![CDATA[{"slideVersion":1,"isValidatorEnabled":false,"isLocked":false,"elementsMetadata":[],"slideId":"637629098780808397","enableDocumentContentUpdater":true,"version":"2.0"}]]></TemplafySlideTemplateConfiguration>
</file>

<file path=customXml/item57.xml><?xml version="1.0" encoding="utf-8"?>
<TemplafySlideTemplateConfiguration><![CDATA[{"slideVersion":1,"isValidatorEnabled":false,"isLocked":false,"elementsMetadata":[],"slideId":"637629098780863185","enableDocumentContentUpdater":true,"version":"2.0"}]]></TemplafySlideTemplateConfiguration>
</file>

<file path=customXml/item58.xml><?xml version="1.0" encoding="utf-8"?>
<TemplafySlideTemplateConfiguration><![CDATA[{"slideVersion":1,"isValidatorEnabled":false,"isLocked":false,"elementsMetadata":[],"slideId":"637629098780940360","enableDocumentContentUpdater":true,"version":"2.0"}]]></TemplafySlideTemplateConfiguration>
</file>

<file path=customXml/item5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60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1.xml><?xml version="1.0" encoding="utf-8"?>
<TemplafySlideFormConfiguration><![CDATA[{"formFields":[],"formDataEntries":[]}]]></TemplafySlideFormConfiguration>
</file>

<file path=customXml/item62.xml><?xml version="1.0" encoding="utf-8"?>
<TemplafySlideFormConfiguration><![CDATA[{"formFields":[],"formDataEntries":[]}]]></TemplafySlideFormConfiguration>
</file>

<file path=customXml/item63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6A0018E2-8AA5-4CE6-A43B-7E69D37BB663}">
  <ds:schemaRefs/>
</ds:datastoreItem>
</file>

<file path=customXml/itemProps2.xml><?xml version="1.0" encoding="utf-8"?>
<ds:datastoreItem xmlns:ds="http://schemas.openxmlformats.org/officeDocument/2006/customXml" ds:itemID="{DDCC6A1B-7673-40E9-AC3E-C0D8F2784A83}">
  <ds:schemaRefs/>
</ds:datastoreItem>
</file>

<file path=customXml/itemProps3.xml><?xml version="1.0" encoding="utf-8"?>
<ds:datastoreItem xmlns:ds="http://schemas.openxmlformats.org/officeDocument/2006/customXml" ds:itemID="{7BAA13C3-64B7-4D7A-BA49-B0CCD43E2049}">
  <ds:schemaRefs/>
</ds:datastoreItem>
</file>

<file path=customXml/itemProps4.xml><?xml version="1.0" encoding="utf-8"?>
<ds:datastoreItem xmlns:ds="http://schemas.openxmlformats.org/officeDocument/2006/customXml" ds:itemID="{0A230136-8CEC-4C29-A55A-F5FA83CA887A}">
  <ds:schemaRefs/>
</ds:datastoreItem>
</file>

<file path=customXml/itemProps5.xml><?xml version="1.0" encoding="utf-8"?>
<ds:datastoreItem xmlns:ds="http://schemas.openxmlformats.org/officeDocument/2006/customXml" ds:itemID="{75BD4175-2A6A-457D-B03C-89D272FF4835}">
  <ds:schemaRefs/>
</ds:datastoreItem>
</file>

<file path=customXml/itemProps6.xml><?xml version="1.0" encoding="utf-8"?>
<ds:datastoreItem xmlns:ds="http://schemas.openxmlformats.org/officeDocument/2006/customXml" ds:itemID="{2BC0DC1D-8D15-4194-9A1A-EDACA544CFA6}">
  <ds:schemaRefs/>
</ds:datastoreItem>
</file>

<file path=customXml/itemProps7.xml><?xml version="1.0" encoding="utf-8"?>
<ds:datastoreItem xmlns:ds="http://schemas.openxmlformats.org/officeDocument/2006/customXml" ds:itemID="{E3B787A2-A83F-4E87-A90A-111C61F62E24}">
  <ds:schemaRefs/>
</ds:datastoreItem>
</file>

<file path=customXml/itemProps8.xml><?xml version="1.0" encoding="utf-8"?>
<ds:datastoreItem xmlns:ds="http://schemas.openxmlformats.org/officeDocument/2006/customXml" ds:itemID="{C4AC888D-F808-4B42-9E4B-F2C6F179D703}">
  <ds:schemaRefs/>
</ds:datastoreItem>
</file>

<file path=customXml/itemProps9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10.xml><?xml version="1.0" encoding="utf-8"?>
<ds:datastoreItem xmlns:ds="http://schemas.openxmlformats.org/officeDocument/2006/customXml" ds:itemID="{988BE19C-289C-4D51-AC33-2691C170DBEA}">
  <ds:schemaRefs/>
</ds:datastoreItem>
</file>

<file path=customXml/itemProps11.xml><?xml version="1.0" encoding="utf-8"?>
<ds:datastoreItem xmlns:ds="http://schemas.openxmlformats.org/officeDocument/2006/customXml" ds:itemID="{C89A946A-C258-4267-A263-69DA8374B547}">
  <ds:schemaRefs/>
</ds:datastoreItem>
</file>

<file path=customXml/itemProps12.xml><?xml version="1.0" encoding="utf-8"?>
<ds:datastoreItem xmlns:ds="http://schemas.openxmlformats.org/officeDocument/2006/customXml" ds:itemID="{AD9376BE-3D3E-4586-9139-069C1651B477}">
  <ds:schemaRefs/>
</ds:datastoreItem>
</file>

<file path=customXml/itemProps13.xml><?xml version="1.0" encoding="utf-8"?>
<ds:datastoreItem xmlns:ds="http://schemas.openxmlformats.org/officeDocument/2006/customXml" ds:itemID="{C67D3CDE-4F82-4339-9EA4-1EEE33A61958}">
  <ds:schemaRefs/>
</ds:datastoreItem>
</file>

<file path=customXml/itemProps14.xml><?xml version="1.0" encoding="utf-8"?>
<ds:datastoreItem xmlns:ds="http://schemas.openxmlformats.org/officeDocument/2006/customXml" ds:itemID="{915452D2-9D6B-41D9-99FD-4D1CF211FA39}">
  <ds:schemaRefs/>
</ds:datastoreItem>
</file>

<file path=customXml/itemProps15.xml><?xml version="1.0" encoding="utf-8"?>
<ds:datastoreItem xmlns:ds="http://schemas.openxmlformats.org/officeDocument/2006/customXml" ds:itemID="{E4C8E36C-E4C3-4DF8-B9A8-546312449852}">
  <ds:schemaRefs/>
</ds:datastoreItem>
</file>

<file path=customXml/itemProps16.xml><?xml version="1.0" encoding="utf-8"?>
<ds:datastoreItem xmlns:ds="http://schemas.openxmlformats.org/officeDocument/2006/customXml" ds:itemID="{B7066F7B-EA61-4071-B961-E1FA19724DC0}">
  <ds:schemaRefs/>
</ds:datastoreItem>
</file>

<file path=customXml/itemProps17.xml><?xml version="1.0" encoding="utf-8"?>
<ds:datastoreItem xmlns:ds="http://schemas.openxmlformats.org/officeDocument/2006/customXml" ds:itemID="{AE04A922-1222-46EA-85D1-620CD08A927B}">
  <ds:schemaRefs/>
</ds:datastoreItem>
</file>

<file path=customXml/itemProps18.xml><?xml version="1.0" encoding="utf-8"?>
<ds:datastoreItem xmlns:ds="http://schemas.openxmlformats.org/officeDocument/2006/customXml" ds:itemID="{918BDABD-06F7-784A-A8C4-94CF7B723D0F}">
  <ds:schemaRefs/>
</ds:datastoreItem>
</file>

<file path=customXml/itemProps19.xml><?xml version="1.0" encoding="utf-8"?>
<ds:datastoreItem xmlns:ds="http://schemas.openxmlformats.org/officeDocument/2006/customXml" ds:itemID="{08BA5A9A-BB8B-4F8E-93CD-455474EF7276}">
  <ds:schemaRefs/>
</ds:datastoreItem>
</file>

<file path=customXml/itemProps20.xml><?xml version="1.0" encoding="utf-8"?>
<ds:datastoreItem xmlns:ds="http://schemas.openxmlformats.org/officeDocument/2006/customXml" ds:itemID="{BE3BB7DD-0C86-4747-A387-5C5D191BB970}">
  <ds:schemaRefs/>
</ds:datastoreItem>
</file>

<file path=customXml/itemProps21.xml><?xml version="1.0" encoding="utf-8"?>
<ds:datastoreItem xmlns:ds="http://schemas.openxmlformats.org/officeDocument/2006/customXml" ds:itemID="{43BC5722-1D5B-4915-8247-E6D5F513E549}">
  <ds:schemaRefs/>
</ds:datastoreItem>
</file>

<file path=customXml/itemProps22.xml><?xml version="1.0" encoding="utf-8"?>
<ds:datastoreItem xmlns:ds="http://schemas.openxmlformats.org/officeDocument/2006/customXml" ds:itemID="{00BD3ED4-8ED9-4359-B43B-2C197BC490D9}">
  <ds:schemaRefs/>
</ds:datastoreItem>
</file>

<file path=customXml/itemProps23.xml><?xml version="1.0" encoding="utf-8"?>
<ds:datastoreItem xmlns:ds="http://schemas.openxmlformats.org/officeDocument/2006/customXml" ds:itemID="{F82E9EAE-C942-4F71-8479-8192B35558E2}">
  <ds:schemaRefs/>
</ds:datastoreItem>
</file>

<file path=customXml/itemProps24.xml><?xml version="1.0" encoding="utf-8"?>
<ds:datastoreItem xmlns:ds="http://schemas.openxmlformats.org/officeDocument/2006/customXml" ds:itemID="{364650BF-04B4-4ADF-AE61-286BFE5AF2AD}">
  <ds:schemaRefs/>
</ds:datastoreItem>
</file>

<file path=customXml/itemProps25.xml><?xml version="1.0" encoding="utf-8"?>
<ds:datastoreItem xmlns:ds="http://schemas.openxmlformats.org/officeDocument/2006/customXml" ds:itemID="{2A1B10AF-5356-4D21-9E16-9423E20937FC}">
  <ds:schemaRefs/>
</ds:datastoreItem>
</file>

<file path=customXml/itemProps26.xml><?xml version="1.0" encoding="utf-8"?>
<ds:datastoreItem xmlns:ds="http://schemas.openxmlformats.org/officeDocument/2006/customXml" ds:itemID="{D5DFDA8F-B725-4CD6-A843-7349EA123794}">
  <ds:schemaRefs/>
</ds:datastoreItem>
</file>

<file path=customXml/itemProps27.xml><?xml version="1.0" encoding="utf-8"?>
<ds:datastoreItem xmlns:ds="http://schemas.openxmlformats.org/officeDocument/2006/customXml" ds:itemID="{162E1B2B-387B-423C-8FB0-129D0EE7DD83}">
  <ds:schemaRefs/>
</ds:datastoreItem>
</file>

<file path=customXml/itemProps28.xml><?xml version="1.0" encoding="utf-8"?>
<ds:datastoreItem xmlns:ds="http://schemas.openxmlformats.org/officeDocument/2006/customXml" ds:itemID="{D4B66AC3-71C4-4908-9595-93E8B8D76E97}">
  <ds:schemaRefs/>
</ds:datastoreItem>
</file>

<file path=customXml/itemProps29.xml><?xml version="1.0" encoding="utf-8"?>
<ds:datastoreItem xmlns:ds="http://schemas.openxmlformats.org/officeDocument/2006/customXml" ds:itemID="{5265E46D-0749-47B1-8243-3C63764C0EFC}">
  <ds:schemaRefs/>
</ds:datastoreItem>
</file>

<file path=customXml/itemProps30.xml><?xml version="1.0" encoding="utf-8"?>
<ds:datastoreItem xmlns:ds="http://schemas.openxmlformats.org/officeDocument/2006/customXml" ds:itemID="{AC107CF9-7144-4997-BE7D-1990BE189C9A}">
  <ds:schemaRefs/>
</ds:datastoreItem>
</file>

<file path=customXml/itemProps31.xml><?xml version="1.0" encoding="utf-8"?>
<ds:datastoreItem xmlns:ds="http://schemas.openxmlformats.org/officeDocument/2006/customXml" ds:itemID="{1D3A887C-FC1C-482E-BE66-F9B66B0A6227}">
  <ds:schemaRefs/>
</ds:datastoreItem>
</file>

<file path=customXml/itemProps32.xml><?xml version="1.0" encoding="utf-8"?>
<ds:datastoreItem xmlns:ds="http://schemas.openxmlformats.org/officeDocument/2006/customXml" ds:itemID="{3915BD4A-04C4-49F2-B0B9-3E7D336EC799}">
  <ds:schemaRefs/>
</ds:datastoreItem>
</file>

<file path=customXml/itemProps33.xml><?xml version="1.0" encoding="utf-8"?>
<ds:datastoreItem xmlns:ds="http://schemas.openxmlformats.org/officeDocument/2006/customXml" ds:itemID="{95AE8F77-448C-4B7C-8669-DC6D4241F9CE}">
  <ds:schemaRefs/>
</ds:datastoreItem>
</file>

<file path=customXml/itemProps34.xml><?xml version="1.0" encoding="utf-8"?>
<ds:datastoreItem xmlns:ds="http://schemas.openxmlformats.org/officeDocument/2006/customXml" ds:itemID="{6291F803-2EF0-4E47-96D6-4796950CE6BD}">
  <ds:schemaRefs/>
</ds:datastoreItem>
</file>

<file path=customXml/itemProps35.xml><?xml version="1.0" encoding="utf-8"?>
<ds:datastoreItem xmlns:ds="http://schemas.openxmlformats.org/officeDocument/2006/customXml" ds:itemID="{921C0A0B-EE13-4908-9C41-3E7EDF526068}">
  <ds:schemaRefs/>
</ds:datastoreItem>
</file>

<file path=customXml/itemProps36.xml><?xml version="1.0" encoding="utf-8"?>
<ds:datastoreItem xmlns:ds="http://schemas.openxmlformats.org/officeDocument/2006/customXml" ds:itemID="{1669606D-CDD4-43E6-985A-81776140D176}">
  <ds:schemaRefs/>
</ds:datastoreItem>
</file>

<file path=customXml/itemProps37.xml><?xml version="1.0" encoding="utf-8"?>
<ds:datastoreItem xmlns:ds="http://schemas.openxmlformats.org/officeDocument/2006/customXml" ds:itemID="{FC77B9F3-C094-489B-8C01-F272F0AF68C6}">
  <ds:schemaRefs/>
</ds:datastoreItem>
</file>

<file path=customXml/itemProps38.xml><?xml version="1.0" encoding="utf-8"?>
<ds:datastoreItem xmlns:ds="http://schemas.openxmlformats.org/officeDocument/2006/customXml" ds:itemID="{0C0AD6D7-0AAB-4CF7-9869-E9E315BAF875}">
  <ds:schemaRefs/>
</ds:datastoreItem>
</file>

<file path=customXml/itemProps39.xml><?xml version="1.0" encoding="utf-8"?>
<ds:datastoreItem xmlns:ds="http://schemas.openxmlformats.org/officeDocument/2006/customXml" ds:itemID="{30338C60-725E-4230-8732-6C1737FFCF6F}">
  <ds:schemaRefs/>
</ds:datastoreItem>
</file>

<file path=customXml/itemProps40.xml><?xml version="1.0" encoding="utf-8"?>
<ds:datastoreItem xmlns:ds="http://schemas.openxmlformats.org/officeDocument/2006/customXml" ds:itemID="{6B831CAE-95E4-452E-B3C5-B76AAD78A52A}">
  <ds:schemaRefs/>
</ds:datastoreItem>
</file>

<file path=customXml/itemProps41.xml><?xml version="1.0" encoding="utf-8"?>
<ds:datastoreItem xmlns:ds="http://schemas.openxmlformats.org/officeDocument/2006/customXml" ds:itemID="{00121D97-98F5-4946-8A5D-87D090F11338}">
  <ds:schemaRefs/>
</ds:datastoreItem>
</file>

<file path=customXml/itemProps42.xml><?xml version="1.0" encoding="utf-8"?>
<ds:datastoreItem xmlns:ds="http://schemas.openxmlformats.org/officeDocument/2006/customXml" ds:itemID="{2EF89111-4289-441B-97BD-A2D8E126532F}">
  <ds:schemaRefs/>
</ds:datastoreItem>
</file>

<file path=customXml/itemProps43.xml><?xml version="1.0" encoding="utf-8"?>
<ds:datastoreItem xmlns:ds="http://schemas.openxmlformats.org/officeDocument/2006/customXml" ds:itemID="{647B6612-4C79-45CE-9A32-14C2D37B46F1}">
  <ds:schemaRefs/>
</ds:datastoreItem>
</file>

<file path=customXml/itemProps44.xml><?xml version="1.0" encoding="utf-8"?>
<ds:datastoreItem xmlns:ds="http://schemas.openxmlformats.org/officeDocument/2006/customXml" ds:itemID="{CBB24767-B696-4303-95AD-C1F5811D028F}">
  <ds:schemaRefs/>
</ds:datastoreItem>
</file>

<file path=customXml/itemProps45.xml><?xml version="1.0" encoding="utf-8"?>
<ds:datastoreItem xmlns:ds="http://schemas.openxmlformats.org/officeDocument/2006/customXml" ds:itemID="{3D719615-E8C3-42D3-B19D-076A1FC4620D}">
  <ds:schemaRefs/>
</ds:datastoreItem>
</file>

<file path=customXml/itemProps46.xml><?xml version="1.0" encoding="utf-8"?>
<ds:datastoreItem xmlns:ds="http://schemas.openxmlformats.org/officeDocument/2006/customXml" ds:itemID="{8C320EF3-E45D-49A1-86A9-B0DA20C7CC04}">
  <ds:schemaRefs/>
</ds:datastoreItem>
</file>

<file path=customXml/itemProps47.xml><?xml version="1.0" encoding="utf-8"?>
<ds:datastoreItem xmlns:ds="http://schemas.openxmlformats.org/officeDocument/2006/customXml" ds:itemID="{C5DD1971-334A-45E9-9D2B-FB6BD8AAE58A}">
  <ds:schemaRefs/>
</ds:datastoreItem>
</file>

<file path=customXml/itemProps48.xml><?xml version="1.0" encoding="utf-8"?>
<ds:datastoreItem xmlns:ds="http://schemas.openxmlformats.org/officeDocument/2006/customXml" ds:itemID="{682BF6E6-8993-4A0E-A615-E24230C37DAC}">
  <ds:schemaRefs/>
</ds:datastoreItem>
</file>

<file path=customXml/itemProps49.xml><?xml version="1.0" encoding="utf-8"?>
<ds:datastoreItem xmlns:ds="http://schemas.openxmlformats.org/officeDocument/2006/customXml" ds:itemID="{CAFED163-E143-4EEB-A735-81C1226AD9B4}">
  <ds:schemaRefs/>
</ds:datastoreItem>
</file>

<file path=customXml/itemProps50.xml><?xml version="1.0" encoding="utf-8"?>
<ds:datastoreItem xmlns:ds="http://schemas.openxmlformats.org/officeDocument/2006/customXml" ds:itemID="{56B316EE-D9D1-44C3-8C00-AE433A63C836}">
  <ds:schemaRefs/>
</ds:datastoreItem>
</file>

<file path=customXml/itemProps51.xml><?xml version="1.0" encoding="utf-8"?>
<ds:datastoreItem xmlns:ds="http://schemas.openxmlformats.org/officeDocument/2006/customXml" ds:itemID="{7C5C44AF-FBA1-4FF3-8C07-71728D2581FD}">
  <ds:schemaRefs/>
</ds:datastoreItem>
</file>

<file path=customXml/itemProps52.xml><?xml version="1.0" encoding="utf-8"?>
<ds:datastoreItem xmlns:ds="http://schemas.openxmlformats.org/officeDocument/2006/customXml" ds:itemID="{1AB4A281-5EBA-4CA1-A536-6B29C98890B6}">
  <ds:schemaRefs/>
</ds:datastoreItem>
</file>

<file path=customXml/itemProps53.xml><?xml version="1.0" encoding="utf-8"?>
<ds:datastoreItem xmlns:ds="http://schemas.openxmlformats.org/officeDocument/2006/customXml" ds:itemID="{EC53C6C7-14A0-4237-9C9A-FA78B37E53AB}">
  <ds:schemaRefs/>
</ds:datastoreItem>
</file>

<file path=customXml/itemProps54.xml><?xml version="1.0" encoding="utf-8"?>
<ds:datastoreItem xmlns:ds="http://schemas.openxmlformats.org/officeDocument/2006/customXml" ds:itemID="{9DF1E77E-93BB-43A3-BEC8-6478C2794FA6}">
  <ds:schemaRefs/>
</ds:datastoreItem>
</file>

<file path=customXml/itemProps55.xml><?xml version="1.0" encoding="utf-8"?>
<ds:datastoreItem xmlns:ds="http://schemas.openxmlformats.org/officeDocument/2006/customXml" ds:itemID="{A20E27A4-6C3C-428D-ADE7-7DC089C0CD46}">
  <ds:schemaRefs/>
</ds:datastoreItem>
</file>

<file path=customXml/itemProps56.xml><?xml version="1.0" encoding="utf-8"?>
<ds:datastoreItem xmlns:ds="http://schemas.openxmlformats.org/officeDocument/2006/customXml" ds:itemID="{1BCEDA00-0BCE-4F19-A380-8AED6A66E762}">
  <ds:schemaRefs/>
</ds:datastoreItem>
</file>

<file path=customXml/itemProps57.xml><?xml version="1.0" encoding="utf-8"?>
<ds:datastoreItem xmlns:ds="http://schemas.openxmlformats.org/officeDocument/2006/customXml" ds:itemID="{7FD631D3-3AB7-43F0-9FCE-6F65E4127A72}">
  <ds:schemaRefs/>
</ds:datastoreItem>
</file>

<file path=customXml/itemProps58.xml><?xml version="1.0" encoding="utf-8"?>
<ds:datastoreItem xmlns:ds="http://schemas.openxmlformats.org/officeDocument/2006/customXml" ds:itemID="{56A99A3E-A648-468D-B568-4C0AD8B35441}">
  <ds:schemaRefs/>
</ds:datastoreItem>
</file>

<file path=customXml/itemProps59.xml><?xml version="1.0" encoding="utf-8"?>
<ds:datastoreItem xmlns:ds="http://schemas.openxmlformats.org/officeDocument/2006/customXml" ds:itemID="{F990F116-B58F-4255-B05B-DA3808E0E5C6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06670dda-0291-4061-b6e0-f6c0cb392c51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e4aa919a-b200-49cb-beca-4c7e0810321e"/>
    <ds:schemaRef ds:uri="http://schemas.microsoft.com/sharepoint/v3"/>
    <ds:schemaRef ds:uri="http://purl.org/dc/dcmitype/"/>
  </ds:schemaRefs>
</ds:datastoreItem>
</file>

<file path=customXml/itemProps60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1.xml><?xml version="1.0" encoding="utf-8"?>
<ds:datastoreItem xmlns:ds="http://schemas.openxmlformats.org/officeDocument/2006/customXml" ds:itemID="{65B44A9F-1851-42AC-AD3C-FFC343A07D3A}">
  <ds:schemaRefs/>
</ds:datastoreItem>
</file>

<file path=customXml/itemProps62.xml><?xml version="1.0" encoding="utf-8"?>
<ds:datastoreItem xmlns:ds="http://schemas.openxmlformats.org/officeDocument/2006/customXml" ds:itemID="{25EDB0A7-1862-4F58-81F8-88FFEB27A481}">
  <ds:schemaRefs/>
</ds:datastoreItem>
</file>

<file path=customXml/itemProps63.xml><?xml version="1.0" encoding="utf-8"?>
<ds:datastoreItem xmlns:ds="http://schemas.openxmlformats.org/officeDocument/2006/customXml" ds:itemID="{33C2836D-CD36-48F0-AE3F-D27BFE792AB7}">
  <ds:schemaRefs/>
</ds:datastoreItem>
</file>

<file path=docMetadata/LabelInfo.xml><?xml version="1.0" encoding="utf-8"?>
<clbl:labelList xmlns:clbl="http://schemas.microsoft.com/office/2020/mipLabelMetadata">
  <clbl:label id="{dce362fe-1558-4fb5-9f64-8a6240d76441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Consolas</vt:lpstr>
      <vt:lpstr>Segoe UI</vt:lpstr>
      <vt:lpstr>AMD Corporate Template_Dark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&lt;Comms manager name here&gt;</Manager>
  <Company>AMD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AMD Corporate Powerpoint Template</dc:subject>
  <dc:creator>Bin Babah, Azman</dc:creator>
  <cp:keywords>AMD Corporate Powerpoint Template</cp:keywords>
  <dc:description/>
  <cp:lastModifiedBy>Bin Babah, Azman</cp:lastModifiedBy>
  <cp:revision>1</cp:revision>
  <cp:lastPrinted>2020-04-30T18:59:47Z</cp:lastPrinted>
  <dcterms:created xsi:type="dcterms:W3CDTF">2026-04-06T01:29:02Z</dcterms:created>
  <dcterms:modified xsi:type="dcterms:W3CDTF">2026-04-06T01:31:24Z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  <property fmtid="{D5CDD505-2E9C-101B-9397-08002B2CF9AE}" pid="6" name="MSIP_Label_64e4cbe8-b4f6-45dc-bcba-6123dfd2d8bf_Enabled">
    <vt:lpwstr>true</vt:lpwstr>
  </property>
  <property fmtid="{D5CDD505-2E9C-101B-9397-08002B2CF9AE}" pid="7" name="MSIP_Label_64e4cbe8-b4f6-45dc-bcba-6123dfd2d8bf_SetDate">
    <vt:lpwstr>2024-02-15T15:59:13Z</vt:lpwstr>
  </property>
  <property fmtid="{D5CDD505-2E9C-101B-9397-08002B2CF9AE}" pid="8" name="MSIP_Label_64e4cbe8-b4f6-45dc-bcba-6123dfd2d8bf_Method">
    <vt:lpwstr>Privileged</vt:lpwstr>
  </property>
  <property fmtid="{D5CDD505-2E9C-101B-9397-08002B2CF9AE}" pid="9" name="MSIP_Label_64e4cbe8-b4f6-45dc-bcba-6123dfd2d8bf_Name">
    <vt:lpwstr>Non-Business-AIP 2.0</vt:lpwstr>
  </property>
  <property fmtid="{D5CDD505-2E9C-101B-9397-08002B2CF9AE}" pid="10" name="MSIP_Label_64e4cbe8-b4f6-45dc-bcba-6123dfd2d8bf_SiteId">
    <vt:lpwstr>3dd8961f-e488-4e60-8e11-a82d994e183d</vt:lpwstr>
  </property>
  <property fmtid="{D5CDD505-2E9C-101B-9397-08002B2CF9AE}" pid="11" name="MSIP_Label_64e4cbe8-b4f6-45dc-bcba-6123dfd2d8bf_ActionId">
    <vt:lpwstr>c382c031-d868-43ef-a7b1-f4e852747774</vt:lpwstr>
  </property>
  <property fmtid="{D5CDD505-2E9C-101B-9397-08002B2CF9AE}" pid="12" name="MSIP_Label_64e4cbe8-b4f6-45dc-bcba-6123dfd2d8bf_ContentBits">
    <vt:lpwstr>0</vt:lpwstr>
  </property>
  <property fmtid="{D5CDD505-2E9C-101B-9397-08002B2CF9AE}" pid="13" name="ClassificationContentMarkingHeaderLocations">
    <vt:lpwstr>AMD Corporate Template_Dark:6</vt:lpwstr>
  </property>
  <property fmtid="{D5CDD505-2E9C-101B-9397-08002B2CF9AE}" pid="14" name="ClassificationContentMarkingHeaderText">
    <vt:lpwstr>[AMD Official Use Only - AMD Internal Distribution Only]</vt:lpwstr>
  </property>
</Properties>
</file>