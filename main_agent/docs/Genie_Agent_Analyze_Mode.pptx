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67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F4C043-3D1B-C98A-D9B8-74C5E5558AF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30575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FF">
                    <a:alpha val="50000"/>
                  </a:srgbClr>
                </a:solidFill>
                <a:latin typeface="Aptos" panose="020B0004020202020204" pitchFamily="34" charset="0"/>
              </a:rPr>
              <a:t>[AMD Official Use Only - AMD Internal Distribution Only]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069592" y="0"/>
            <a:ext cx="5119359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47702" y="0"/>
            <a:ext cx="54864" cy="68580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ED1C24"/>
                </a:solidFill>
                <a:latin typeface="Arial"/>
              </a:rPr>
              <a:t>GENIE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Analyze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00C2DE"/>
                </a:solidFill>
                <a:latin typeface="Arial"/>
              </a:rPr>
              <a:t>Complete Flow Guide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71800"/>
            <a:ext cx="4114800" cy="36576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310896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5D5D5"/>
                </a:solidFill>
                <a:latin typeface="Arial"/>
              </a:rPr>
              <a:t>From run instruction to analysis report —
CDC/RDC · Lint · SpgDFT · Auto-Fixer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148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D9FA2"/>
                </a:solidFill>
                <a:latin typeface="Arial"/>
              </a:rPr>
              <a:t>AI-powered static check analysis framework
for RTL design verification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35260" y="13716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DE"/>
                </a:solidFill>
                <a:latin typeface="Arial"/>
              </a:rPr>
              <a:t>KEY STATS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35260" y="1920240"/>
            <a:ext cx="640080" cy="54864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35260" y="1920240"/>
            <a:ext cx="6583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678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5D5D5"/>
                </a:solidFill>
                <a:latin typeface="Arial"/>
              </a:rPr>
              <a:t>Entry Points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35260" y="2834640"/>
            <a:ext cx="640080" cy="54864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35260" y="2834640"/>
            <a:ext cx="6583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6780" y="2926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5D5D5"/>
                </a:solidFill>
                <a:latin typeface="Arial"/>
              </a:rPr>
              <a:t>Pipeline Waves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35260" y="3749040"/>
            <a:ext cx="640080" cy="54864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35260" y="3749040"/>
            <a:ext cx="6583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6780" y="3840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5D5D5"/>
                </a:solidFill>
                <a:latin typeface="Arial"/>
              </a:rPr>
              <a:t>Max Fixer Rounds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35260" y="4663440"/>
            <a:ext cx="640080" cy="54864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35260" y="4663440"/>
            <a:ext cx="6583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6780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5D5D5"/>
                </a:solidFill>
                <a:latin typeface="Arial"/>
              </a:rPr>
              <a:t>Waivers Added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D9FA2"/>
                </a:solidFill>
                <a:latin typeface="Arial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008"/>
            <a:ext cx="201168" cy="6748272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26522"/>
                </a:solidFill>
                <a:latin typeface="Arial"/>
              </a:rPr>
              <a:t>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Why Analyze Mode?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3657600" cy="36576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5029200" cy="141732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463040"/>
            <a:ext cx="54864" cy="141732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26522"/>
                </a:solidFill>
                <a:latin typeface="Arial"/>
              </a:rPr>
              <a:t>🔍 Hundreds of Violations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87452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D5D5"/>
                </a:solidFill>
                <a:latin typeface="Arial"/>
              </a:rPr>
              <a:t>Static checks produce CDC/RDC, Lint and SpgDFT violations — manually reviewing them is slow and error-prone.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017520"/>
            <a:ext cx="5029200" cy="141732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3017520"/>
            <a:ext cx="54864" cy="141732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31089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26522"/>
                </a:solidFill>
                <a:latin typeface="Arial"/>
              </a:rPr>
              <a:t>⚠️ Tool Noise vs Real Bugs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42900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D5D5"/>
                </a:solidFill>
                <a:latin typeface="Arial"/>
              </a:rPr>
              <a:t>DFT/RSMU false positives buried with real RTL issues — engineers waste time on irrelevant violations.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572000"/>
            <a:ext cx="5029200" cy="141732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4572000"/>
            <a:ext cx="54864" cy="141732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4663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26522"/>
                </a:solidFill>
                <a:latin typeface="Arial"/>
              </a:rPr>
              <a:t>🔄 Repeat Re-runs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98348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D5D5"/>
                </a:solidFill>
                <a:latin typeface="Arial"/>
              </a:rPr>
              <a:t>Fix one violation, re-run, repeat — no memory of what was tried before across rounds.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463040"/>
            <a:ext cx="5760720" cy="4846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35040" y="1463040"/>
            <a:ext cx="5760720" cy="54864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72200" y="1600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2DE"/>
                </a:solidFill>
                <a:latin typeface="Arial"/>
              </a:rPr>
              <a:t>✅  THE 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103120"/>
            <a:ext cx="5486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D5D5D5"/>
                </a:solidFill>
                <a:latin typeface="Arial"/>
              </a:rPr>
              <a:t>→  Automated parallel agent analysis</a:t>
            </a:r>
          </a:p>
          <a:p>
            <a:pPr algn="l"/>
            <a:r>
              <a:rPr sz="1300">
                <a:solidFill>
                  <a:srgbClr val="D5D5D5"/>
                </a:solidFill>
                <a:latin typeface="Arial"/>
              </a:rPr>
              <a:t>→  Intelligent violation filtering (DFT/RSMU excluded)</a:t>
            </a:r>
          </a:p>
          <a:p>
            <a:pPr algn="l"/>
            <a:r>
              <a:rPr sz="1300">
                <a:solidFill>
                  <a:srgbClr val="D5D5D5"/>
                </a:solidFill>
                <a:latin typeface="Arial"/>
              </a:rPr>
              <a:t>→  RTL-level root cause explanation per violation</a:t>
            </a:r>
          </a:p>
          <a:p>
            <a:pPr algn="l"/>
            <a:r>
              <a:rPr sz="1300">
                <a:solidFill>
                  <a:srgbClr val="D5D5D5"/>
                </a:solidFill>
                <a:latin typeface="Arial"/>
              </a:rPr>
              <a:t>→  Auto-apply fixes — constraint &amp; RTL</a:t>
            </a:r>
          </a:p>
          <a:p>
            <a:pPr algn="l"/>
            <a:r>
              <a:rPr sz="1300">
                <a:solidFill>
                  <a:srgbClr val="D5D5D5"/>
                </a:solidFill>
                <a:latin typeface="Arial"/>
              </a:rPr>
              <a:t>→  Round-to-round fix memory (no repeated mistakes)</a:t>
            </a:r>
          </a:p>
          <a:p>
            <a:pPr algn="l"/>
            <a:r>
              <a:rPr sz="1300">
                <a:solidFill>
                  <a:srgbClr val="D5D5D5"/>
                </a:solidFill>
                <a:latin typeface="Arial"/>
              </a:rPr>
              <a:t>→  HTML report emailed per check type</a:t>
            </a:r>
          </a:p>
          <a:p>
            <a:pPr algn="l"/>
            <a:r>
              <a:rPr sz="1300">
                <a:solidFill>
                  <a:srgbClr val="D5D5D5"/>
                </a:solidFill>
                <a:latin typeface="Arial"/>
              </a:rPr>
              <a:t>→  ZERO waivers — all fixes in RTL or constraints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D9FA2"/>
                </a:solidFill>
                <a:latin typeface="Arial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008"/>
            <a:ext cx="201168" cy="6748272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DE"/>
                </a:solidFill>
                <a:latin typeface="Arial"/>
              </a:rPr>
              <a:t>ENTRY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4 Ways to Trigger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3657600" cy="36576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5486400" cy="214884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502920" cy="214884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417320"/>
            <a:ext cx="521207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52704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D1C24"/>
                </a:solidFill>
                <a:latin typeface="Arial"/>
              </a:rPr>
              <a:t>Run + Analyze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1892808"/>
            <a:ext cx="4389120" cy="27432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1901952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C2DE"/>
                </a:solidFill>
                <a:latin typeface="Arial"/>
              </a:rPr>
              <a:t>--analyze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2402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D5D5"/>
                </a:solidFill>
                <a:latin typeface="Arial"/>
              </a:rPr>
              <a:t>Run static check AND analyze when it completes.
Monitor runs in background — main session stays free.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417320"/>
            <a:ext cx="5486400" cy="214884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60" y="1417320"/>
            <a:ext cx="502920" cy="2148840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1417320"/>
            <a:ext cx="521207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2DE"/>
                </a:solidFill>
                <a:latin typeface="Arial"/>
              </a:rPr>
              <a:t>Analyze Only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03720" y="1892808"/>
            <a:ext cx="4389120" cy="27432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95160" y="1901952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C2DE"/>
                </a:solidFill>
                <a:latin typeface="Arial"/>
              </a:rPr>
              <a:t>--analyze-only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22402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D5D5"/>
                </a:solidFill>
                <a:latin typeface="Arial"/>
              </a:rPr>
              <a:t>Skip re-running — analyze an already-completed run.
Emits SKIP_MONITORING=true to jump straight to agents.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749040"/>
            <a:ext cx="5486400" cy="214884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02920" y="3749040"/>
            <a:ext cx="502920" cy="214884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3749040"/>
            <a:ext cx="521207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85876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26522"/>
                </a:solidFill>
                <a:latin typeface="Arial"/>
              </a:rPr>
              <a:t>Run + Auto-Fix Loop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4224528"/>
            <a:ext cx="4389120" cy="27432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88720" y="4233672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C2DE"/>
                </a:solidFill>
                <a:latin typeface="Arial"/>
              </a:rPr>
              <a:t>--analyze-fixer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57200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D5D5"/>
                </a:solidFill>
                <a:latin typeface="Arial"/>
              </a:rPr>
              <a:t>Run check → analyze → auto-apply all fixes → rerun.
Loop repeats up to 5 rounds or until CLEAN.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749040"/>
            <a:ext cx="5486400" cy="214884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309360" y="3749040"/>
            <a:ext cx="502920" cy="21488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09360" y="3749040"/>
            <a:ext cx="521207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385876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  <a:latin typeface="Arial"/>
              </a:rPr>
              <a:t>Fix Existing Results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03720" y="4224528"/>
            <a:ext cx="4389120" cy="27432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995160" y="4233672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C2DE"/>
                </a:solidFill>
                <a:latin typeface="Arial"/>
              </a:rPr>
              <a:t>--analyze-fixer-only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457200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D5D5"/>
                </a:solidFill>
                <a:latin typeface="Arial"/>
              </a:rPr>
              <a:t>Start the fixer loop from an already-completed run.
No re-run needed — picks up where analysis left off.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D9FA2"/>
                </a:solidFill>
                <a:latin typeface="Arial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008"/>
            <a:ext cx="201168" cy="674827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D1C24"/>
                </a:solidFill>
                <a:latin typeface="Arial"/>
              </a:rPr>
              <a:t>PIPELINE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The 4-Wave Analysis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3657600" cy="36576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9496" y="1508760"/>
            <a:ext cx="1965960" cy="448056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9496" y="1508760"/>
            <a:ext cx="1965960" cy="457200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9496" y="1508760"/>
            <a:ext cx="1965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WAVE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205740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DE"/>
                </a:solidFill>
                <a:latin typeface="Arial"/>
              </a:rPr>
              <a:t>Extractor &amp; Precondition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2578608"/>
            <a:ext cx="1783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5D5D5"/>
                </a:solidFill>
                <a:latin typeface="Arial"/>
              </a:rPr>
              <a:t>5 agents in parallel
CDC Precondition · CDC Extractor · Lint Extractor
SpgDFT Precondition · SpgDFT Extractor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05456" y="3566160"/>
            <a:ext cx="274320" cy="109728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96896" y="3401568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26522"/>
                </a:solidFill>
                <a:latin typeface="Arial"/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25496" y="1508760"/>
            <a:ext cx="1965960" cy="448056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825496" y="1508760"/>
            <a:ext cx="1965960" cy="457200"/>
          </a:xfrm>
          <a:prstGeom prst="rect">
            <a:avLst/>
          </a:prstGeom>
          <a:solidFill>
            <a:srgbClr val="C1A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25496" y="1508760"/>
            <a:ext cx="1965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16936" y="205740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1A968"/>
                </a:solidFill>
                <a:latin typeface="Arial"/>
              </a:rPr>
              <a:t>Skip Logic 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16936" y="2578608"/>
            <a:ext cx="1783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5D5D5"/>
                </a:solidFill>
                <a:latin typeface="Arial"/>
              </a:rPr>
              <a:t>If focus_violations == 0 for a check type
→ skip its RTL analyzers
→ mark as CLEAN in report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91456" y="3566160"/>
            <a:ext cx="274320" cy="109728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82896" y="3401568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26522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1508760"/>
            <a:ext cx="1965960" cy="448056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111496" y="1508760"/>
            <a:ext cx="1965960" cy="45720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11496" y="1508760"/>
            <a:ext cx="1965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WAVE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205740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26522"/>
                </a:solidFill>
                <a:latin typeface="Arial"/>
              </a:rPr>
              <a:t>RTL Analyzer Agents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02936" y="2578608"/>
            <a:ext cx="1783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5D5D5"/>
                </a:solidFill>
                <a:latin typeface="Arial"/>
              </a:rPr>
              <a:t>Parallel agents — one per violation/file
CDC · RDC · Lint · SpgDFT · Library Finder
Reads RTL, traces tech cells, formulates fix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77456" y="3566160"/>
            <a:ext cx="274320" cy="109728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68896" y="3401568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26522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97496" y="1508760"/>
            <a:ext cx="1965960" cy="448056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97496" y="1508760"/>
            <a:ext cx="1965960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97496" y="1508760"/>
            <a:ext cx="1965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WAVE 2.5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205740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  <a:latin typeface="Arial"/>
              </a:rPr>
              <a:t>Fix Consolidator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2578608"/>
            <a:ext cx="1783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5D5D5"/>
                </a:solidFill>
                <a:latin typeface="Arial"/>
              </a:rPr>
              <a:t>Deduplicates fixes across parallel agents
Resolves instance-name vs module-name confusion
Verifies tech-cell traces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63456" y="3566160"/>
            <a:ext cx="274320" cy="109728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454896" y="3401568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26522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83496" y="1508760"/>
            <a:ext cx="1965960" cy="448056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683496" y="1508760"/>
            <a:ext cx="1965960" cy="4572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683496" y="1508760"/>
            <a:ext cx="1965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WAVE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74936" y="205740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D1C24"/>
                </a:solidFill>
                <a:latin typeface="Arial"/>
              </a:rPr>
              <a:t>Report Compiler + Email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74936" y="2578608"/>
            <a:ext cx="1783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5D5D5"/>
                </a:solidFill>
                <a:latin typeface="Arial"/>
              </a:rPr>
              <a:t>3 compilers in parallel → 3 HTML files
3 separate emails (CDC/RDC · Lint · SpgDFT)
File-based storage — survives context interruption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6126480"/>
            <a:ext cx="11457432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" y="6144768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C2DE"/>
                </a:solidFill>
                <a:latin typeface="Arial"/>
              </a:rPr>
              <a:t>📁  All intermediate results written to disk as JSON  →  Survives context interruption  →  Fully auditable  →  Resumable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D9FA2"/>
                </a:solidFill>
                <a:latin typeface="Arial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008"/>
            <a:ext cx="201168" cy="6748272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DE"/>
                </a:solidFill>
                <a:latin typeface="Arial"/>
              </a:rPr>
              <a:t>WAVE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Extractor &amp; Precondition Agents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5029200" cy="36576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3657600" cy="224028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3657600" cy="36576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417320"/>
            <a:ext cx="45720" cy="224028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49047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1C24"/>
                </a:solidFill>
                <a:latin typeface="Arial"/>
              </a:rPr>
              <a:t>CDC/RDC
Precondition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490472"/>
            <a:ext cx="731520" cy="256032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19272" y="1499616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D9FA2"/>
                </a:solidFill>
                <a:latin typeface="Arial"/>
              </a:rPr>
              <a:t>haiku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920240"/>
            <a:ext cx="3429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D5D5"/>
                </a:solidFill>
                <a:latin typeface="Arial"/>
              </a:rPr>
              <a:t>Reads cdc_report.rpt
&amp; rdc_report.rpt
→ Inferred clocks/resets
→ Unresolved modules
→ Blackbox modules
→ Reads constraint file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70832" y="1417320"/>
            <a:ext cx="3657600" cy="224028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70832" y="1417320"/>
            <a:ext cx="3657600" cy="36576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70832" y="1417320"/>
            <a:ext cx="45720" cy="224028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07992" y="149047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6522"/>
                </a:solidFill>
                <a:latin typeface="Arial"/>
              </a:rPr>
              <a:t>CDC/RDC
Extractor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05472" y="1490472"/>
            <a:ext cx="731520" cy="256032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87184" y="1499616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D9FA2"/>
                </a:solidFill>
                <a:latin typeface="Arial"/>
              </a:rPr>
              <a:t>sonnet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7992" y="1920240"/>
            <a:ext cx="3429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D5D5"/>
                </a:solidFill>
                <a:latin typeface="Arial"/>
              </a:rPr>
              <a:t>Reads CDC Section 3
&amp; RDC Section 5
→ ERROR violations only
→ Filters DFT/RSMU
→ 2-3 per bucket
→ All types covered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38744" y="1417320"/>
            <a:ext cx="3657600" cy="224028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238744" y="1417320"/>
            <a:ext cx="3657600" cy="36576"/>
          </a:xfrm>
          <a:prstGeom prst="rect">
            <a:avLst/>
          </a:prstGeom>
          <a:solidFill>
            <a:srgbClr val="C1A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38744" y="1417320"/>
            <a:ext cx="45720" cy="2240280"/>
          </a:xfrm>
          <a:prstGeom prst="rect">
            <a:avLst/>
          </a:prstGeom>
          <a:solidFill>
            <a:srgbClr val="C1A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75904" y="149047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1A968"/>
                </a:solidFill>
                <a:latin typeface="Arial"/>
              </a:rPr>
              <a:t>Lint
Extractor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073384" y="1490472"/>
            <a:ext cx="731520" cy="256032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055096" y="1499616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D9FA2"/>
                </a:solidFill>
                <a:latin typeface="Arial"/>
              </a:rPr>
              <a:t>sonnet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5904" y="1920240"/>
            <a:ext cx="3429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D5D5"/>
                </a:solidFill>
                <a:latin typeface="Arial"/>
              </a:rPr>
              <a:t>Reads leda_waiver.log
→ Error violations only
→ Filters rsmu/dft
→ Up to 10 focus
→ Groups by RTL file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794760"/>
            <a:ext cx="3657600" cy="224028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2920" y="3794760"/>
            <a:ext cx="3657600" cy="36576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02920" y="3794760"/>
            <a:ext cx="45720" cy="2240280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386791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DE"/>
                </a:solidFill>
                <a:latin typeface="Arial"/>
              </a:rPr>
              <a:t>SpgDFT
Precondition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37560" y="3867912"/>
            <a:ext cx="731520" cy="256032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319272" y="3877056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D9FA2"/>
                </a:solidFill>
                <a:latin typeface="Arial"/>
              </a:rPr>
              <a:t>haiku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297680"/>
            <a:ext cx="3429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D5D5"/>
                </a:solidFill>
                <a:latin typeface="Arial"/>
              </a:rPr>
              <a:t>Reads moresimple.rpt
(blackbox only)
→ BlackboxModule entries
→ Module names
→ needs_library?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70832" y="3794760"/>
            <a:ext cx="3657600" cy="224028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370832" y="3794760"/>
            <a:ext cx="36576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370832" y="3794760"/>
            <a:ext cx="45720" cy="2240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07992" y="386791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Arial"/>
              </a:rPr>
              <a:t>SpgDFT
Extractor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05472" y="3867912"/>
            <a:ext cx="731520" cy="256032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187184" y="3877056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D9FA2"/>
                </a:solidFill>
                <a:latin typeface="Arial"/>
              </a:rPr>
              <a:t>sonnet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07992" y="4297680"/>
            <a:ext cx="3429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D5D5"/>
                </a:solidFill>
                <a:latin typeface="Arial"/>
              </a:rPr>
              <a:t>Reads spec file
(not rpt)
→ Pre-computed filter
→ Summary table
→ Unfiltered Error
   Details section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263640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C2DE"/>
                </a:solidFill>
                <a:latin typeface="Arial"/>
              </a:rPr>
              <a:t>All 5 agents run in PARALLEL  →  Results written to data/&lt;tag&gt;_precondition_*.json  &amp;  data/&lt;tag&gt;_extractor_*.json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D9FA2"/>
                </a:solidFill>
                <a:latin typeface="Arial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1A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008"/>
            <a:ext cx="201168" cy="6748272"/>
          </a:xfrm>
          <a:prstGeom prst="rect">
            <a:avLst/>
          </a:prstGeom>
          <a:solidFill>
            <a:srgbClr val="C1A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1A968"/>
                </a:solidFill>
                <a:latin typeface="Arial"/>
              </a:rPr>
              <a:t>SKIP LOGIC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Intelligent Agent Skipping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4114800" cy="36576"/>
          </a:xfrm>
          <a:prstGeom prst="rect">
            <a:avLst/>
          </a:prstGeom>
          <a:solidFill>
            <a:srgbClr val="C1A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5D5D5"/>
                </a:solidFill>
                <a:latin typeface="Arial"/>
              </a:rPr>
              <a:t>After Wave 1 completes, Claude evaluates each check before spawning RTL analyzers.
This prevents wasted compute on checks that are already clean.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57400"/>
            <a:ext cx="914400" cy="59436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057400"/>
            <a:ext cx="93268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CDC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08760" y="2057400"/>
            <a:ext cx="2926080" cy="59436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72768" y="2103120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5D5D5"/>
                </a:solidFill>
                <a:latin typeface="Arial"/>
              </a:rPr>
              <a:t>focus_violations ==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148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26522"/>
                </a:solidFill>
                <a:latin typeface="Arial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2057400"/>
            <a:ext cx="2103120" cy="5943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74920" y="2057400"/>
            <a:ext cx="36576" cy="5943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38928" y="21488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  <a:latin typeface="Arial"/>
              </a:rPr>
              <a:t>✓  CDC CLEAN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2148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D9FA2"/>
                </a:solidFill>
                <a:latin typeface="Arial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18120" y="2057400"/>
            <a:ext cx="3931920" cy="59436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82127" y="214884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D9FA2"/>
                </a:solidFill>
                <a:latin typeface="Arial"/>
              </a:rPr>
              <a:t>Skip CDC RTL Analyzers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825496"/>
            <a:ext cx="914400" cy="59436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2825496"/>
            <a:ext cx="93268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RDC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08760" y="2825496"/>
            <a:ext cx="2926080" cy="59436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572768" y="2871216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5D5D5"/>
                </a:solidFill>
                <a:latin typeface="Arial"/>
              </a:rPr>
              <a:t>focus_violations == 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291693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26522"/>
                </a:solidFill>
                <a:latin typeface="Arial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74920" y="2825496"/>
            <a:ext cx="2103120" cy="5943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74920" y="2825496"/>
            <a:ext cx="36576" cy="5943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38928" y="2916936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  <a:latin typeface="Arial"/>
              </a:rPr>
              <a:t>✓  RDC CLEAN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291693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D9FA2"/>
                </a:solidFill>
                <a:latin typeface="Arial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18120" y="2825496"/>
            <a:ext cx="3931920" cy="59436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882127" y="2916936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D9FA2"/>
                </a:solidFill>
                <a:latin typeface="Arial"/>
              </a:rPr>
              <a:t>Skip RDC RTL Analyzers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593592"/>
            <a:ext cx="914400" cy="594360"/>
          </a:xfrm>
          <a:prstGeom prst="rect">
            <a:avLst/>
          </a:prstGeom>
          <a:solidFill>
            <a:srgbClr val="C1A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3593592"/>
            <a:ext cx="93268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Lint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08760" y="3593592"/>
            <a:ext cx="2926080" cy="59436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572768" y="3639312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5D5D5"/>
                </a:solidFill>
                <a:latin typeface="Arial"/>
              </a:rPr>
              <a:t>focus_violations == 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280" y="36850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26522"/>
                </a:solidFill>
                <a:latin typeface="Arial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74920" y="3593592"/>
            <a:ext cx="2103120" cy="5943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074920" y="3593592"/>
            <a:ext cx="36576" cy="5943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138928" y="368503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  <a:latin typeface="Arial"/>
              </a:rPr>
              <a:t>✓  Lint CLEAN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36850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D9FA2"/>
                </a:solidFill>
                <a:latin typeface="Arial"/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18120" y="3593592"/>
            <a:ext cx="3931920" cy="59436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882127" y="3685032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D9FA2"/>
                </a:solidFill>
                <a:latin typeface="Arial"/>
              </a:rPr>
              <a:t>Skip Lint RTL Analyzers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4361688"/>
            <a:ext cx="914400" cy="5943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2920" y="4361688"/>
            <a:ext cx="93268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SpgDFT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08760" y="4361688"/>
            <a:ext cx="2926080" cy="59436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572768" y="4407408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5D5D5"/>
                </a:solidFill>
                <a:latin typeface="Arial"/>
              </a:rPr>
              <a:t>focus_violations == 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26280" y="44531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26522"/>
                </a:solidFill>
                <a:latin typeface="Arial"/>
              </a:rPr>
              <a:t>→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74920" y="4361688"/>
            <a:ext cx="2103120" cy="5943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074920" y="4361688"/>
            <a:ext cx="36576" cy="5943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138928" y="445312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  <a:latin typeface="Arial"/>
              </a:rPr>
              <a:t>✓  SpgDFT CLEAN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69480" y="44531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D9FA2"/>
                </a:solidFill>
                <a:latin typeface="Arial"/>
              </a:rPr>
              <a:t>→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18120" y="4361688"/>
            <a:ext cx="3931920" cy="59436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882127" y="4453128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D9FA2"/>
                </a:solidFill>
                <a:latin typeface="Arial"/>
              </a:rPr>
              <a:t>Skip SpgDFT RTL Analyzers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5129784"/>
            <a:ext cx="914400" cy="594360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02920" y="5129784"/>
            <a:ext cx="93268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Library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508760" y="5129784"/>
            <a:ext cx="2926080" cy="59436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572768" y="5175504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5D5D5"/>
                </a:solidFill>
                <a:latin typeface="Arial"/>
              </a:rPr>
              <a:t>unresolved == 0
&amp; blackbox == 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26280" y="522122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26522"/>
                </a:solidFill>
                <a:latin typeface="Arial"/>
              </a:rPr>
              <a:t>→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74920" y="5129784"/>
            <a:ext cx="2103120" cy="5943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5074920" y="5129784"/>
            <a:ext cx="36576" cy="5943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38928" y="5221224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  <a:latin typeface="Arial"/>
              </a:rPr>
              <a:t>✓  No missing libs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9480" y="522122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D9FA2"/>
                </a:solidFill>
                <a:latin typeface="Arial"/>
              </a:rPr>
              <a:t>→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818120" y="5129784"/>
            <a:ext cx="3931920" cy="59436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882127" y="5221224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D9FA2"/>
                </a:solidFill>
                <a:latin typeface="Arial"/>
              </a:rPr>
              <a:t>Skip Library Finder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02920" y="6126480"/>
            <a:ext cx="11457432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40080" y="6172200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1A968"/>
                </a:solidFill>
                <a:latin typeface="Arial"/>
              </a:rPr>
              <a:t>⚠  Precondition agents are NEVER skipped — even a 'zero inferred' result belongs in the report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D9FA2"/>
                </a:solidFill>
                <a:latin typeface="Arial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008"/>
            <a:ext cx="201168" cy="6748272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26522"/>
                </a:solidFill>
                <a:latin typeface="Arial"/>
              </a:rPr>
              <a:t>WAVE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RTL Analyzer Agents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3657600" cy="36576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3657600" cy="507492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3657600" cy="4572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426464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CDC/RDC
RTL Analyzer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472184"/>
            <a:ext cx="731520" cy="256032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19272" y="148132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D9FA2"/>
                </a:solidFill>
                <a:latin typeface="Arial"/>
              </a:rPr>
              <a:t>haiku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1938528"/>
            <a:ext cx="3429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D5D5D5"/>
                </a:solidFill>
                <a:latin typeface="Arial"/>
              </a:rPr>
              <a:t>→  Checks LEARNING.md first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→  Finds RTL file via grep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→  Understands clock domains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→  Traces to leaf tech cell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→  Checks constraint file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→  WHY statement formulation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→  Risk: HIGH / MEDIUM / LOW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→  Fix: rtl_fix / constraint
       / investigate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→  ZERO waivers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1417320"/>
            <a:ext cx="3657600" cy="507492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0" y="1417320"/>
            <a:ext cx="3657600" cy="457200"/>
          </a:xfrm>
          <a:prstGeom prst="rect">
            <a:avLst/>
          </a:prstGeom>
          <a:solidFill>
            <a:srgbClr val="C1A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0560" y="1426464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Lint
RTL Analyzer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3760" y="1472184"/>
            <a:ext cx="731520" cy="256032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05472" y="148132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D9FA2"/>
                </a:solidFill>
                <a:latin typeface="Arial"/>
              </a:rPr>
              <a:t>sonnet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1938528"/>
            <a:ext cx="3429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D5D5D5"/>
                </a:solidFill>
                <a:latin typeface="Arial"/>
              </a:rPr>
              <a:t>→  Checks lint/LEARNING.md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→  One agent per RTL FILE
(not per violation)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→  Reads full RTL file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→  Checks waiver file (context)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→  Analyzes ALL violations in file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→  Fix types: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     rtl_fix — real bug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     tie_off — DFT/debug port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     investigate — needs context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5320" y="1417320"/>
            <a:ext cx="3657600" cy="507492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75320" y="1417320"/>
            <a:ext cx="3657600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66760" y="1426464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SpgDFT
RTL Analyzer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109960" y="1472184"/>
            <a:ext cx="731520" cy="256032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091672" y="148132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D9FA2"/>
                </a:solidFill>
                <a:latin typeface="Arial"/>
              </a:rPr>
              <a:t>sonnet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5048" y="1938528"/>
            <a:ext cx="3429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D5D5D5"/>
                </a:solidFill>
                <a:latin typeface="Arial"/>
              </a:rPr>
              <a:t>→  Checks spgdft/LEARNING.md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→  Identifies violation type: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     async not disabled → PIN_CON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     clock uncontrolled → SGDC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     undriven port → tie-off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→  Reads project.params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→  Fix: rtl_fix / tie_off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         SPGDFT_PIN_CONSTRAINT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         sgdc_constraint / filter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9224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C2DE"/>
                </a:solidFill>
                <a:latin typeface="Arial"/>
              </a:rPr>
              <a:t>Also: Library Finder (haiku) — runs in parallel if unresolved or blackbox modules exist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D9FA2"/>
                </a:solidFill>
                <a:latin typeface="Arial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008"/>
            <a:ext cx="201168" cy="67482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Arial"/>
              </a:rPr>
              <a:t>WAVE 2.5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Fix Consolidator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36576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5303520" cy="448056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45720" cy="44805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1508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Arial"/>
              </a:rPr>
              <a:t>WHY NEEDED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D5D5"/>
                </a:solidFill>
                <a:latin typeface="Arial"/>
              </a:rPr>
              <a:t>RTL analyzers run in PARALLEL — can cause: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377440"/>
            <a:ext cx="4937760" cy="100584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24231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26522"/>
                </a:solidFill>
                <a:latin typeface="Arial"/>
              </a:rPr>
              <a:t>⚡  Duplicate Fixes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761488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D5D5"/>
                </a:solidFill>
                <a:latin typeface="Arial"/>
              </a:rPr>
              <a:t>Agents 2 &amp; 4 both suggest registering the same tech cell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520440"/>
            <a:ext cx="4937760" cy="100584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35661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26522"/>
                </a:solidFill>
                <a:latin typeface="Arial"/>
              </a:rPr>
              <a:t>🔀  Instance vs Module 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904488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D5D5"/>
                </a:solidFill>
                <a:latin typeface="Arial"/>
              </a:rPr>
              <a:t>Agent uses instance name from violation path instead of the module name required by the CDC tool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663440"/>
            <a:ext cx="4937760" cy="100584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808" y="47091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26522"/>
                </a:solidFill>
                <a:latin typeface="Arial"/>
              </a:rPr>
              <a:t>🔍  Shallow Tech-Cell Trace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047488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D5D5"/>
                </a:solidFill>
                <a:latin typeface="Arial"/>
              </a:rPr>
              <a:t>Agent stopped at UMCSYNC wrapper instead of tracing to the leaf cell (e.g. SYNC3 → two_dff)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1417320"/>
            <a:ext cx="5806440" cy="4480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89320" y="1417320"/>
            <a:ext cx="580644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26480" y="1508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Arial"/>
              </a:rPr>
              <a:t>WHAT IT DOES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1965960"/>
            <a:ext cx="5486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D5D5D5"/>
                </a:solidFill>
                <a:latin typeface="Arial"/>
              </a:rPr>
              <a:t>✓  Reads ALL RTL analyzer JSON outputs for its check type</a:t>
            </a:r>
          </a:p>
          <a:p>
            <a:r>
              <a:rPr sz="1300">
                <a:solidFill>
                  <a:srgbClr val="D5D5D5"/>
                </a:solidFill>
                <a:latin typeface="Arial"/>
              </a:rPr>
              <a:t>✓  Detects and removes duplicate fix suggestions</a:t>
            </a:r>
          </a:p>
          <a:p>
            <a:r>
              <a:rPr sz="1300">
                <a:solidFill>
                  <a:srgbClr val="D5D5D5"/>
                </a:solidFill>
                <a:latin typeface="Arial"/>
              </a:rPr>
              <a:t>✓  Resolves instance name → correct module name</a:t>
            </a:r>
          </a:p>
          <a:p>
            <a:r>
              <a:rPr sz="1300">
                <a:solidFill>
                  <a:srgbClr val="D5D5D5"/>
                </a:solidFill>
                <a:latin typeface="Arial"/>
              </a:rPr>
              <a:t>✓  Verifies tech-cell traces reach leaf cell level</a:t>
            </a:r>
          </a:p>
          <a:p>
            <a:r>
              <a:rPr sz="1300">
                <a:solidFill>
                  <a:srgbClr val="D5D5D5"/>
                </a:solidFill>
                <a:latin typeface="Arial"/>
              </a:rPr>
              <a:t>✓  Writes single unified, deduplicated fix set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3794760"/>
            <a:ext cx="5806440" cy="210312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26480" y="38587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Arial"/>
              </a:rPr>
              <a:t>SPAWN WHEN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42245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5D5D5"/>
                </a:solidFill>
                <a:latin typeface="Arial"/>
              </a:rPr>
              <a:t>  CDC      CDC focus &gt; 0          → _consolidated_cdc.json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56285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5D5D5"/>
                </a:solidFill>
                <a:latin typeface="Arial"/>
              </a:rPr>
              <a:t>  RDC      RDC focus &gt; 0          → _consolidated_rdc.json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490118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5D5D5"/>
                </a:solidFill>
                <a:latin typeface="Arial"/>
              </a:rPr>
              <a:t>  Lint     Lint focus &gt; 0         → _consolidated_lint.json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523951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5D5D5"/>
                </a:solidFill>
                <a:latin typeface="Arial"/>
              </a:rPr>
              <a:t>  SpgDFT   SpgDFT focus &gt; 0       → _consolidated_spgdft.json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D9FA2"/>
                </a:solidFill>
                <a:latin typeface="Arial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008"/>
            <a:ext cx="201168" cy="674827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D1C24"/>
                </a:solidFill>
                <a:latin typeface="Arial"/>
              </a:rPr>
              <a:t>ANALYZE-FIXER MODE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Auto-Fix Loop — Up to 5 Rounds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5029200" cy="36576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5486400" cy="493776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45720" cy="493776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1508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1C24"/>
                </a:solidFill>
                <a:latin typeface="Arial"/>
              </a:rPr>
              <a:t>PER-ROUND FLOW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1920240"/>
            <a:ext cx="411480" cy="457200"/>
          </a:xfrm>
          <a:prstGeom prst="rect">
            <a:avLst/>
          </a:prstGeom>
          <a:solidFill>
            <a:srgbClr val="9D9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1920240"/>
            <a:ext cx="4297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96596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D5D5"/>
                </a:solidFill>
                <a:latin typeface="Arial"/>
              </a:rPr>
              <a:t>Build fix_history — read all previous fix attempts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96312"/>
            <a:ext cx="411480" cy="457200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2496312"/>
            <a:ext cx="4297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0F10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542032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D5D5"/>
                </a:solidFill>
                <a:latin typeface="Arial"/>
              </a:rPr>
              <a:t>Run full analysis pipeline (Waves 1 → 2.5)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072384"/>
            <a:ext cx="411480" cy="45720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3072384"/>
            <a:ext cx="4297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0F10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11810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D5D5"/>
                </a:solidFill>
                <a:latin typeface="Arial"/>
              </a:rPr>
              <a:t>Fix Implementor — apply constraints &amp; RTL fixes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648456"/>
            <a:ext cx="411480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3648456"/>
            <a:ext cx="4297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0F10"/>
                </a:solidFill>
                <a:latin typeface="Arial"/>
              </a:rPr>
              <a:t>2b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694176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D5D5"/>
                </a:solidFill>
                <a:latin typeface="Arial"/>
              </a:rPr>
              <a:t>Deep-Dive Agents — resolve 'investigate' items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224528"/>
            <a:ext cx="411480" cy="457200"/>
          </a:xfrm>
          <a:prstGeom prst="rect">
            <a:avLst/>
          </a:prstGeom>
          <a:solidFill>
            <a:srgbClr val="C1A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" y="4224528"/>
            <a:ext cx="4297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0F10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27024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D5D5"/>
                </a:solidFill>
                <a:latin typeface="Arial"/>
              </a:rPr>
              <a:t>Compile round report → HTML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800600"/>
            <a:ext cx="411480" cy="4572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" y="4800600"/>
            <a:ext cx="4297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0F10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484632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D5D5"/>
                </a:solidFill>
                <a:latin typeface="Arial"/>
              </a:rPr>
              <a:t>Send round email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376672"/>
            <a:ext cx="4114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8368" y="5376672"/>
            <a:ext cx="4297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0F10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5422392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D5D5"/>
                </a:solidFill>
                <a:latin typeface="Arial"/>
              </a:rPr>
              <a:t>Check termination → loop or stop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1417320"/>
            <a:ext cx="5532120" cy="2331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17920" y="1417320"/>
            <a:ext cx="553212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55080" y="1508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Arial"/>
              </a:rPr>
              <a:t>TERMINATION STATES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19202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Arial"/>
              </a:rPr>
              <a:t>✅ CLEAN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199339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D5D5"/>
                </a:solidFill>
                <a:latin typeface="Arial"/>
              </a:rPr>
              <a:t>focus_violations == 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25146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1A968"/>
                </a:solidFill>
                <a:latin typeface="Arial"/>
              </a:rPr>
              <a:t>⚠ STALLED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258775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D5D5"/>
                </a:solidFill>
                <a:latin typeface="Arial"/>
              </a:rPr>
              <a:t>No new fixes applied this round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31089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1C24"/>
                </a:solidFill>
                <a:latin typeface="Arial"/>
              </a:rPr>
              <a:t>🔴 MAX ROUNDS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318211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D5D5"/>
                </a:solidFill>
                <a:latin typeface="Arial"/>
              </a:rPr>
              <a:t>Round &gt;= 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3840480"/>
            <a:ext cx="5532120" cy="251460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217920" y="3840480"/>
            <a:ext cx="45720" cy="251460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55080" y="3931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6522"/>
                </a:solidFill>
                <a:latin typeface="Arial"/>
              </a:rPr>
              <a:t>WHAT GETS AUTO-APPLIED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4370832"/>
            <a:ext cx="52120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D5D5"/>
                </a:solidFill>
                <a:latin typeface="Arial"/>
              </a:rPr>
              <a:t>  CDC/RDC     constraint → project.0in_ctrl.v.tcl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4736592"/>
            <a:ext cx="52120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D5D5"/>
                </a:solidFill>
                <a:latin typeface="Arial"/>
              </a:rPr>
              <a:t>  CDC/RDC     rtl_fix → insert synchronizer in src/rtl/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5102352"/>
            <a:ext cx="52120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D5D5"/>
                </a:solidFill>
                <a:latin typeface="Arial"/>
              </a:rPr>
              <a:t>  Lint        rtl_fix / tie_off → src/rtl/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5468112"/>
            <a:ext cx="52120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D5D5"/>
                </a:solidFill>
                <a:latin typeface="Arial"/>
              </a:rPr>
              <a:t>  SpgDFT      constraint → project.params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5080" y="5833872"/>
            <a:ext cx="52120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D5D5"/>
                </a:solidFill>
                <a:latin typeface="Arial"/>
              </a:rPr>
              <a:t>  SpgDFT      rtl_fix → path as-is (stable)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D9FA2"/>
                </a:solidFill>
                <a:latin typeface="Arial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008"/>
            <a:ext cx="201168" cy="6748272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DE"/>
                </a:solidFill>
                <a:latin typeface="Arial"/>
              </a:rPr>
              <a:t>RELIABILITY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Agent Forgetting Prevention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5029200" cy="36576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5D5D5"/>
                </a:solidFill>
                <a:latin typeface="Arial"/>
              </a:rPr>
              <a:t>As agents process large RTL files, critical rules can be displaced from context.
Two layers defend against this.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11680"/>
            <a:ext cx="5577840" cy="438912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2011680"/>
            <a:ext cx="45720" cy="4389120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2011680"/>
            <a:ext cx="557784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0299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DE"/>
                </a:solidFill>
                <a:latin typeface="Arial"/>
              </a:rPr>
              <a:t>🛡  Layer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423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CRITICAL_RULES.md — Prevention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83464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D5D5D5"/>
                </a:solidFill>
                <a:latin typeface="Arial"/>
              </a:rPr>
              <a:t>config/analyze_agents/shared/CRITICAL_RULES.md (≤25 lines)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Orchestrator reads it at startup → stores as CRITICAL_RULES_BLOCK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Prepended at TOP of every sub-agent prompt (before detailed instructions)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Rules covered: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  • p4 edit ONLY for src/meta/tools/ — NEVER for src/rtl/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  • CDC/RDC &amp; Lint RTL paths must resolve to src/rtl/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  • SPG_DFT RTL uses path as-is (publish_rtl/ stable)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  • Output JSON MUST be written to disk with Write tool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  • ZERO waivers — all fixes in RTL or constraints only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  • Fix Implementors run SEQUENTIALLY for full_static_check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011680"/>
            <a:ext cx="5577840" cy="438912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60" y="2011680"/>
            <a:ext cx="45720" cy="438912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2011680"/>
            <a:ext cx="557784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20299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26522"/>
                </a:solidFill>
                <a:latin typeface="Arial"/>
              </a:rPr>
              <a:t>🔄  Layer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423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Output Validation + Retry — 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83464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D5D5D5"/>
                </a:solidFill>
                <a:latin typeface="Arial"/>
              </a:rPr>
              <a:t>After every sub-agent, orchestrator checks for required JSON: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  ls data/&lt;tag&gt;_&lt;expected_output&gt;.json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EXISTS → proceed to next step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MISSING → re-invoke agent with '⚠️ RETRY: Write the output JSON'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Still missing after retry → log 'STEP FAILED' in report, continue best-effort</a:t>
            </a:r>
          </a:p>
          <a:p>
            <a:endParaRPr sz="1100">
              <a:solidFill>
                <a:srgbClr val="D5D5D5"/>
              </a:solidFill>
              <a:latin typeface="Arial"/>
            </a:endParaRPr>
          </a:p>
          <a:p>
            <a:r>
              <a:rPr sz="1100">
                <a:solidFill>
                  <a:srgbClr val="D5D5D5"/>
                </a:solidFill>
                <a:latin typeface="Arial"/>
              </a:rPr>
              <a:t>Each agent MD ends with a SELF-CHECK block: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  → Did you write your output JSON?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  → Did you avoid p4 edit on RTL files?</a:t>
            </a:r>
          </a:p>
          <a:p>
            <a:r>
              <a:rPr sz="1100">
                <a:solidFill>
                  <a:srgbClr val="D5D5D5"/>
                </a:solidFill>
                <a:latin typeface="Arial"/>
              </a:rPr>
              <a:t>  → Did you avoid writing to publish_rtl/?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D9FA2"/>
                </a:solidFill>
                <a:latin typeface="Arial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1A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008"/>
            <a:ext cx="201168" cy="6748272"/>
          </a:xfrm>
          <a:prstGeom prst="rect">
            <a:avLst/>
          </a:prstGeom>
          <a:solidFill>
            <a:srgbClr val="C1A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1A968"/>
                </a:solidFill>
                <a:latin typeface="Arial"/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File-Based Storage &amp; Fix History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5029200" cy="36576"/>
          </a:xfrm>
          <a:prstGeom prst="rect">
            <a:avLst/>
          </a:prstGeom>
          <a:solidFill>
            <a:srgbClr val="C1A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5577840" cy="502920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45720" cy="5029200"/>
          </a:xfrm>
          <a:prstGeom prst="rect">
            <a:avLst/>
          </a:prstGeom>
          <a:solidFill>
            <a:srgbClr val="C1A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1508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1A968"/>
                </a:solidFill>
                <a:latin typeface="Arial"/>
              </a:rPr>
              <a:t>INTERMEDIATE FILE NAMING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92024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0C2DE"/>
                </a:solidFill>
                <a:latin typeface="Arial Narrow"/>
              </a:rPr>
              <a:t>data/&lt;tag&gt;_precondition_cdc.json</a:t>
            </a:r>
          </a:p>
          <a:p>
            <a:r>
              <a:rPr sz="1000">
                <a:solidFill>
                  <a:srgbClr val="9D9FA2"/>
                </a:solidFill>
                <a:latin typeface="Arial"/>
              </a:rPr>
              <a:t>  ← CDC/RDC Precondition Agent</a:t>
            </a:r>
          </a:p>
          <a:p>
            <a:r>
              <a:rPr sz="1000">
                <a:solidFill>
                  <a:srgbClr val="00C2DE"/>
                </a:solidFill>
                <a:latin typeface="Arial Narrow"/>
              </a:rPr>
              <a:t>data/&lt;tag&gt;_precondition_spgdft.json</a:t>
            </a:r>
          </a:p>
          <a:p>
            <a:r>
              <a:rPr sz="1000">
                <a:solidFill>
                  <a:srgbClr val="9D9FA2"/>
                </a:solidFill>
                <a:latin typeface="Arial"/>
              </a:rPr>
              <a:t>  ← SpgDFT Precondition Agent</a:t>
            </a:r>
          </a:p>
          <a:p>
            <a:r>
              <a:rPr sz="1000">
                <a:solidFill>
                  <a:srgbClr val="00C2DE"/>
                </a:solidFill>
                <a:latin typeface="Arial Narrow"/>
              </a:rPr>
              <a:t>data/&lt;tag&gt;_extractor_cdc.json</a:t>
            </a:r>
          </a:p>
          <a:p>
            <a:r>
              <a:rPr sz="1000">
                <a:solidFill>
                  <a:srgbClr val="9D9FA2"/>
                </a:solidFill>
                <a:latin typeface="Arial"/>
              </a:rPr>
              <a:t>  ← CDC/RDC Violation Extractor</a:t>
            </a:r>
          </a:p>
          <a:p>
            <a:r>
              <a:rPr sz="1000">
                <a:solidFill>
                  <a:srgbClr val="00C2DE"/>
                </a:solidFill>
                <a:latin typeface="Arial Narrow"/>
              </a:rPr>
              <a:t>data/&lt;tag&gt;_extractor_lint.json</a:t>
            </a:r>
          </a:p>
          <a:p>
            <a:r>
              <a:rPr sz="1000">
                <a:solidFill>
                  <a:srgbClr val="9D9FA2"/>
                </a:solidFill>
                <a:latin typeface="Arial"/>
              </a:rPr>
              <a:t>  ← Lint Violation Extractor</a:t>
            </a:r>
          </a:p>
          <a:p>
            <a:r>
              <a:rPr sz="1000">
                <a:solidFill>
                  <a:srgbClr val="00C2DE"/>
                </a:solidFill>
                <a:latin typeface="Arial Narrow"/>
              </a:rPr>
              <a:t>data/&lt;tag&gt;_extractor_spgdft.json</a:t>
            </a:r>
          </a:p>
          <a:p>
            <a:r>
              <a:rPr sz="1000">
                <a:solidFill>
                  <a:srgbClr val="9D9FA2"/>
                </a:solidFill>
                <a:latin typeface="Arial"/>
              </a:rPr>
              <a:t>  ← SpgDFT Violation Extractor</a:t>
            </a:r>
          </a:p>
          <a:p>
            <a:r>
              <a:rPr sz="1000">
                <a:solidFill>
                  <a:srgbClr val="00C2DE"/>
                </a:solidFill>
                <a:latin typeface="Arial Narrow"/>
              </a:rPr>
              <a:t>data/&lt;tag&gt;_rtl_cdc_&lt;N&gt;.json</a:t>
            </a:r>
          </a:p>
          <a:p>
            <a:r>
              <a:rPr sz="1000">
                <a:solidFill>
                  <a:srgbClr val="9D9FA2"/>
                </a:solidFill>
                <a:latin typeface="Arial"/>
              </a:rPr>
              <a:t>  ← CDC RTL Analyzer (per violation)</a:t>
            </a:r>
          </a:p>
          <a:p>
            <a:r>
              <a:rPr sz="1000">
                <a:solidFill>
                  <a:srgbClr val="00C2DE"/>
                </a:solidFill>
                <a:latin typeface="Arial Narrow"/>
              </a:rPr>
              <a:t>data/&lt;tag&gt;_rtl_lint_&lt;N&gt;.json</a:t>
            </a:r>
          </a:p>
          <a:p>
            <a:r>
              <a:rPr sz="1000">
                <a:solidFill>
                  <a:srgbClr val="9D9FA2"/>
                </a:solidFill>
                <a:latin typeface="Arial"/>
              </a:rPr>
              <a:t>  ← Lint RTL Analyzer (per RTL file)</a:t>
            </a:r>
          </a:p>
          <a:p>
            <a:r>
              <a:rPr sz="1000">
                <a:solidFill>
                  <a:srgbClr val="00C2DE"/>
                </a:solidFill>
                <a:latin typeface="Arial Narrow"/>
              </a:rPr>
              <a:t>data/&lt;tag&gt;_consolidated_cdc.json</a:t>
            </a:r>
          </a:p>
          <a:p>
            <a:r>
              <a:rPr sz="1000">
                <a:solidFill>
                  <a:srgbClr val="9D9FA2"/>
                </a:solidFill>
                <a:latin typeface="Arial"/>
              </a:rPr>
              <a:t>  ← Fix Consolidator — CDC</a:t>
            </a:r>
          </a:p>
          <a:p>
            <a:r>
              <a:rPr sz="1000">
                <a:solidFill>
                  <a:srgbClr val="00C2DE"/>
                </a:solidFill>
                <a:latin typeface="Arial Narrow"/>
              </a:rPr>
              <a:t>data/&lt;tag&gt;_fix_applied_cdc.json</a:t>
            </a:r>
          </a:p>
          <a:p>
            <a:r>
              <a:rPr sz="1000">
                <a:solidFill>
                  <a:srgbClr val="9D9FA2"/>
                </a:solidFill>
                <a:latin typeface="Arial"/>
              </a:rPr>
              <a:t>  ← Fix Implementor output — CDC</a:t>
            </a:r>
          </a:p>
          <a:p>
            <a:r>
              <a:rPr sz="1000">
                <a:solidFill>
                  <a:srgbClr val="00C2DE"/>
                </a:solidFill>
                <a:latin typeface="Arial Narrow"/>
              </a:rPr>
              <a:t>data/&lt;tag&gt;_deepdive_&lt;N&gt;.json</a:t>
            </a:r>
          </a:p>
          <a:p>
            <a:r>
              <a:rPr sz="1000">
                <a:solidFill>
                  <a:srgbClr val="9D9FA2"/>
                </a:solidFill>
                <a:latin typeface="Arial"/>
              </a:rPr>
              <a:t>  ← Deep-Dive Agent output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417320"/>
            <a:ext cx="5532120" cy="23774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5532120" cy="36576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5087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26522"/>
                </a:solidFill>
                <a:latin typeface="Arial"/>
              </a:rPr>
              <a:t>FIX HISTORY — Round-to-Round Memory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6596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C2DE"/>
                </a:solidFill>
                <a:latin typeface="Arial"/>
              </a:rPr>
              <a:t>Round 1: fix_history = {}
Round 2: fix_history = {
  "cfg_out[3:0]": [
    {round:1, fix_type:"rtl_fix", status:"applied"}
  ]
}
Round 3+: if same signal appears → different approach
          if 2+ failures → always "investigate"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886200"/>
            <a:ext cx="5532120" cy="256032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3886200"/>
            <a:ext cx="553212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397763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  <a:latin typeface="Arial"/>
              </a:rPr>
              <a:t>WHY FILE-BASED STORAGE?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407408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D5D5D5"/>
                </a:solidFill>
                <a:latin typeface="Arial"/>
              </a:rPr>
              <a:t>✓  Survives context interruption — findings not lost</a:t>
            </a:r>
          </a:p>
          <a:p>
            <a:r>
              <a:rPr sz="1150">
                <a:solidFill>
                  <a:srgbClr val="D5D5D5"/>
                </a:solidFill>
                <a:latin typeface="Arial"/>
              </a:rPr>
              <a:t>✓  No context bloat — compiler reads only what it needs</a:t>
            </a:r>
          </a:p>
          <a:p>
            <a:r>
              <a:rPr sz="1150">
                <a:solidFill>
                  <a:srgbClr val="D5D5D5"/>
                </a:solidFill>
                <a:latin typeface="Arial"/>
              </a:rPr>
              <a:t>✓  Resumable — partial analyses can be continued</a:t>
            </a:r>
          </a:p>
          <a:p>
            <a:r>
              <a:rPr sz="1150">
                <a:solidFill>
                  <a:srgbClr val="D5D5D5"/>
                </a:solidFill>
                <a:latin typeface="Arial"/>
              </a:rPr>
              <a:t>✓  Auditable — each agent's raw output inspectable</a:t>
            </a:r>
          </a:p>
          <a:p>
            <a:r>
              <a:rPr sz="1150">
                <a:solidFill>
                  <a:srgbClr val="D5D5D5"/>
                </a:solidFill>
                <a:latin typeface="Arial"/>
              </a:rPr>
              <a:t>✓  Parallel-safe — each agent writes its own 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D9FA2"/>
                </a:solidFill>
                <a:latin typeface="Arial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536" y="155666"/>
            <a:ext cx="1173175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Real Run — Before vs After Auto-Fix  (Round 1, Zero Manual Edits)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80560" y="777240"/>
            <a:ext cx="457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804672"/>
            <a:ext cx="84683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D1C24"/>
                </a:solidFill>
              </a:rPr>
              <a:t>BEFORE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97280"/>
            <a:ext cx="39745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ED1C24"/>
                </a:solidFill>
              </a:rPr>
              <a:t>CDC: 110 total  |  16 focus  →  NEEDS ACTION</a:t>
            </a:r>
          </a:p>
        </p:txBody>
      </p:sp>
      <p:pic>
        <p:nvPicPr>
          <p:cNvPr id="6" name="Picture 5" descr="before_f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" y="1474222"/>
            <a:ext cx="6723042" cy="16469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94846" y="4817604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F26522"/>
                </a:solidFill>
              </a:rPr>
              <a:t>➡</a:t>
            </a:r>
          </a:p>
        </p:txBody>
      </p:sp>
      <p:pic>
        <p:nvPicPr>
          <p:cNvPr id="10" name="Picture 9" descr="after_f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4945" y="3943069"/>
            <a:ext cx="5986303" cy="224764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6217920"/>
            <a:ext cx="11731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1A968"/>
                </a:solidFill>
              </a:rPr>
              <a:t>1 CDC constraint auto-applied by analyze-fixer  ·  techind_cdcfpm module registration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4412" y="3196046"/>
            <a:ext cx="72006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00B050"/>
                </a:solidFill>
              </a:rPr>
              <a:t>AFTER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4412" y="3497580"/>
            <a:ext cx="354443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dirty="0">
                <a:solidFill>
                  <a:srgbClr val="00B050"/>
                </a:solidFill>
              </a:rPr>
              <a:t>CDC: 78 total  |  0 unresolved  →  CLEAN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91440"/>
            <a:ext cx="1173175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C2DE"/>
                </a:solidFill>
              </a:rPr>
              <a:t>AI Root Cause Analysis  &amp;  Auto-Generated CDC Constraint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04672"/>
            <a:ext cx="11731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26522"/>
                </a:solidFill>
              </a:rPr>
              <a:t>Root Cause identified by Wave 2 RTL Analyzer  →  Constraint auto-written:</a:t>
            </a:r>
          </a:p>
        </p:txBody>
      </p:sp>
      <p:pic>
        <p:nvPicPr>
          <p:cNvPr id="4" name="Picture 3" descr="explan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15568"/>
            <a:ext cx="8458200" cy="24139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3611880"/>
            <a:ext cx="11731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00B050"/>
                </a:solidFill>
              </a:rPr>
              <a:t>Fix Applied  —  Round 1  (1 constraint written to TCL, original backed up):</a:t>
            </a:r>
          </a:p>
        </p:txBody>
      </p:sp>
      <p:pic>
        <p:nvPicPr>
          <p:cNvPr id="6" name="Picture 5" descr="constra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931920"/>
            <a:ext cx="4754880" cy="248746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069592" y="0"/>
            <a:ext cx="5119359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47702" y="0"/>
            <a:ext cx="54864" cy="68580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1C24"/>
                </a:solidFill>
                <a:latin typeface="Arial"/>
              </a:rPr>
              <a:t>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Genie Agent Analyze Mode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3657600" cy="36576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36576" cy="438912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194560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DE"/>
                </a:solidFill>
                <a:latin typeface="Arial"/>
              </a:rPr>
              <a:t>4 Entry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24942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D5D5"/>
                </a:solidFill>
                <a:latin typeface="Arial"/>
              </a:rPr>
              <a:t>Run+Analyze · Analyze-Only · Fixer · Fixer-Only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70632"/>
            <a:ext cx="36576" cy="438912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770632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DE"/>
                </a:solidFill>
                <a:latin typeface="Arial"/>
              </a:rPr>
              <a:t>4-Wave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82549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D5D5"/>
                </a:solidFill>
                <a:latin typeface="Arial"/>
              </a:rPr>
              <a:t>Extract → Skip → Analyze → Consolidate → Compile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46704"/>
            <a:ext cx="36576" cy="438912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346704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DE"/>
                </a:solidFill>
                <a:latin typeface="Arial"/>
              </a:rPr>
              <a:t>Parallel 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40156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D5D5"/>
                </a:solidFill>
                <a:latin typeface="Arial"/>
              </a:rPr>
              <a:t>Up to N agents running simultaneously per check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22776"/>
            <a:ext cx="36576" cy="438912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3922776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DE"/>
                </a:solidFill>
                <a:latin typeface="Arial"/>
              </a:rPr>
              <a:t>File-Based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397764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D5D5"/>
                </a:solidFill>
                <a:latin typeface="Arial"/>
              </a:rPr>
              <a:t>JSON on disk — resumable, auditable, no context loss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498848"/>
            <a:ext cx="36576" cy="438912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4498848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DE"/>
                </a:solidFill>
                <a:latin typeface="Arial"/>
              </a:rPr>
              <a:t>Auto-Fix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455371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D5D5"/>
                </a:solidFill>
                <a:latin typeface="Arial"/>
              </a:rPr>
              <a:t>Up to 5 rounds — CLEAN / STALLED / MAX ROUNDS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074920"/>
            <a:ext cx="36576" cy="438912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5074920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DE"/>
                </a:solidFill>
                <a:latin typeface="Arial"/>
              </a:rPr>
              <a:t>ZERO Waivers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512978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D5D5"/>
                </a:solidFill>
                <a:latin typeface="Arial"/>
              </a:rPr>
              <a:t>All violations fixed in RTL or constraints only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650992"/>
            <a:ext cx="36576" cy="438912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5650992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DE"/>
                </a:solidFill>
                <a:latin typeface="Arial"/>
              </a:rPr>
              <a:t>Reliability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570585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D5D5"/>
                </a:solidFill>
                <a:latin typeface="Arial"/>
              </a:rPr>
              <a:t>CRITICAL_RULES.md + output validation + retry logic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35260" y="13716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DE"/>
                </a:solidFill>
                <a:latin typeface="Arial"/>
              </a:rPr>
              <a:t>CHECK TYPES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35260" y="1828800"/>
            <a:ext cx="4572000" cy="118872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435260" y="1828800"/>
            <a:ext cx="45720" cy="118872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572420" y="19202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D1C24"/>
                </a:solidFill>
                <a:latin typeface="Arial"/>
              </a:rPr>
              <a:t>CDC / RDC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72420" y="228600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D5D5"/>
                </a:solidFill>
                <a:latin typeface="Arial"/>
              </a:rPr>
              <a:t>Clock/Reset Domain Crossing
Constraint &amp; synchronizer RTL fixes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35260" y="3200400"/>
            <a:ext cx="4572000" cy="118872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435260" y="3200400"/>
            <a:ext cx="45720" cy="1188720"/>
          </a:xfrm>
          <a:prstGeom prst="rect">
            <a:avLst/>
          </a:prstGeom>
          <a:solidFill>
            <a:srgbClr val="C1A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572420" y="32918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1A968"/>
                </a:solidFill>
                <a:latin typeface="Arial"/>
              </a:rPr>
              <a:t>Lint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72420" y="365760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D5D5"/>
                </a:solidFill>
                <a:latin typeface="Arial"/>
              </a:rPr>
              <a:t>RTL code quality violations
RTL fix or tie-off per file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35260" y="4572000"/>
            <a:ext cx="4572000" cy="1188720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435260" y="4572000"/>
            <a:ext cx="45720" cy="1188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572420" y="46634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  <a:latin typeface="Arial"/>
              </a:rPr>
              <a:t>SpgDFT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72420" y="502920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D5D5"/>
                </a:solidFill>
                <a:latin typeface="Arial"/>
              </a:rPr>
              <a:t>Design-for-Test violations
Constraint or pin control fixes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989320"/>
            <a:ext cx="11548872" cy="36576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200" y="6080760"/>
            <a:ext cx="11548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D9FA2"/>
                </a:solidFill>
                <a:latin typeface="Arial"/>
              </a:rPr>
              <a:t>AMD Corporate — Genie AI Agent  |  Analyze Mode v1.4  | 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D9FA2"/>
                </a:solidFill>
                <a:latin typeface="Arial"/>
              </a:rPr>
              <a:t>12 / 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54864"/>
            <a:ext cx="1173162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Before vs After: CDC Analyze-Fixer  (Round 1 — Zero Manual Edits)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58952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D1C24"/>
                </a:solidFill>
              </a:rPr>
              <a:t>BEFORE  ·  CDC: 110 total  |  16 focus violations  |  NEEDS ACTION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15568"/>
            <a:ext cx="11521440" cy="28224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3520440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B050"/>
                </a:solidFill>
              </a:rPr>
              <a:t>AFTER  ·  CDC: 78 total  |  0 unresolved  |  CLEAN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877056"/>
            <a:ext cx="11521440" cy="432589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54864"/>
            <a:ext cx="1173162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C2DE"/>
                </a:solidFill>
              </a:rPr>
              <a:t>AI Root Cause Analysis  &amp;  Auto-Generated CDC Constraint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58952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26522"/>
                </a:solidFill>
              </a:rPr>
              <a:t>Root Cause identified  →  constraint auto-written to TCL: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15568"/>
            <a:ext cx="11521440" cy="3288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3749039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B050"/>
                </a:solidFill>
              </a:rPr>
              <a:t>Fix Applied — Round 1  (1 constraint, original backed up):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114800"/>
            <a:ext cx="6858000" cy="358768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54864"/>
            <a:ext cx="1173162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26522"/>
                </a:solidFill>
              </a:rPr>
              <a:t>Lint Analysis — Violation Summary  (1 Auto-Fixed · 3 Manual)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58952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C1A968"/>
                </a:solidFill>
              </a:rPr>
              <a:t>AI classifies each violation: AUTO-FIX (RTL edit applied inline) or MANUAL (action routed to owner)</a:t>
            </a:r>
          </a:p>
        </p:txBody>
      </p:sp>
      <p:pic>
        <p:nvPicPr>
          <p:cNvPr id="4" name="Picture 3" descr="lint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15568"/>
            <a:ext cx="11521440" cy="362686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54864"/>
            <a:ext cx="1173162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B050"/>
                </a:solidFill>
              </a:rPr>
              <a:t>W164b Width Mismatch  —  RTL Auto-Fixed  (Zero Manual Edits)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58952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B050"/>
                </a:solidFill>
              </a:rPr>
              <a:t>RTL file modified by analyze-fixer:</a:t>
            </a:r>
          </a:p>
        </p:txBody>
      </p:sp>
      <p:pic>
        <p:nvPicPr>
          <p:cNvPr id="4" name="Picture 3" descr="lin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15568"/>
            <a:ext cx="11521440" cy="48035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3566160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C2DE"/>
                </a:solidFill>
              </a:rPr>
              <a:t>Before  →  After  (auto-applied Round 1):</a:t>
            </a:r>
          </a:p>
        </p:txBody>
      </p:sp>
      <p:pic>
        <p:nvPicPr>
          <p:cNvPr id="6" name="Picture 5" descr="lint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931920"/>
            <a:ext cx="11521440" cy="473983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54864"/>
            <a:ext cx="1173162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ED1C24"/>
                </a:solidFill>
              </a:rPr>
              <a:t>ImproperRangeIndex-ML  |  53 Violations  |  Manual Action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58952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26522"/>
                </a:solidFill>
              </a:rPr>
              <a:t>Violation detail  (rtl_umcrecrcq.v — umc IP lib, MEDIUM severity):</a:t>
            </a:r>
          </a:p>
        </p:txBody>
      </p:sp>
      <p:pic>
        <p:nvPicPr>
          <p:cNvPr id="4" name="Picture 3" descr="lint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15568"/>
            <a:ext cx="11521440" cy="619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3657600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ED1C24"/>
                </a:solidFill>
              </a:rPr>
              <a:t>Root Cause  &amp;  Recommended Action:</a:t>
            </a:r>
          </a:p>
        </p:txBody>
      </p:sp>
      <p:pic>
        <p:nvPicPr>
          <p:cNvPr id="6" name="Picture 5" descr="lint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023360"/>
            <a:ext cx="11521440" cy="214871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54864"/>
            <a:ext cx="1173162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ED1C24"/>
                </a:solidFill>
              </a:rPr>
              <a:t>W415a  |  Multiple Assignments in Always Block  |  10 Violations  |  Manual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58952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26522"/>
                </a:solidFill>
              </a:rPr>
              <a:t>Violation detail  (dsn_hp_block_mcd.v — external lib, MEDIUM severity):</a:t>
            </a:r>
          </a:p>
        </p:txBody>
      </p:sp>
      <p:pic>
        <p:nvPicPr>
          <p:cNvPr id="4" name="Picture 3" descr="lint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15568"/>
            <a:ext cx="11521440" cy="41116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3657600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ED1C24"/>
                </a:solidFill>
              </a:rPr>
              <a:t>Root Cause  &amp;  Recommended Action:</a:t>
            </a:r>
          </a:p>
        </p:txBody>
      </p:sp>
      <p:pic>
        <p:nvPicPr>
          <p:cNvPr id="6" name="Picture 5" descr="lint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023360"/>
            <a:ext cx="11521440" cy="145527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54864"/>
            <a:ext cx="1173162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ED1C24"/>
                </a:solidFill>
              </a:rPr>
              <a:t>FlopClockConstant  |  Gated Clock Inference  |  2 Violations  |  Manual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58952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26522"/>
                </a:solidFill>
              </a:rPr>
              <a:t>Violation detail  (dsn_health_pipe_mcd.v — external lib, MEDIUM severity):</a:t>
            </a:r>
          </a:p>
        </p:txBody>
      </p:sp>
      <p:pic>
        <p:nvPicPr>
          <p:cNvPr id="4" name="Picture 3" descr="lint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15568"/>
            <a:ext cx="11521440" cy="59768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3657600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ED1C24"/>
                </a:solidFill>
              </a:rPr>
              <a:t>Root Cause  &amp;  Recommended Action:</a:t>
            </a:r>
          </a:p>
        </p:txBody>
      </p:sp>
      <p:pic>
        <p:nvPicPr>
          <p:cNvPr id="6" name="Picture 5" descr="lint_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023360"/>
            <a:ext cx="11521440" cy="14383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ce362fe-1558-4fb5-9f64-8a6240d76441}" enabled="1" method="Privileged" siteId="{3dd8961f-e488-4e60-8e11-a82d994e183d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2159</Words>
  <Application>Microsoft Office PowerPoint</Application>
  <PresentationFormat>Custom</PresentationFormat>
  <Paragraphs>313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Arial Narrow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Bin Babah, Azman</cp:lastModifiedBy>
  <cp:revision>2</cp:revision>
  <dcterms:created xsi:type="dcterms:W3CDTF">2013-01-27T09:14:16Z</dcterms:created>
  <dcterms:modified xsi:type="dcterms:W3CDTF">2026-04-06T02:52:42Z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[AMD Official Use Only - AMD Internal Distribution Only]</vt:lpwstr>
  </property>
</Properties>
</file>