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6"/>
    <p:sldId id="278" r:id="rId27"/>
    <p:sldId id="279" r:id="rId28"/>
    <p:sldId id="280" r:id="rId29"/>
    <p:sldId id="267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22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n Babah, Azman" userId="2a4c3505-ac8c-4c99-8a0f-f3fcfe6c47dc" providerId="ADAL" clId="{3A136341-A86C-420A-BCE1-07B92F9C7771}"/>
    <pc:docChg chg="modSld">
      <pc:chgData name="Bin Babah, Azman" userId="2a4c3505-ac8c-4c99-8a0f-f3fcfe6c47dc" providerId="ADAL" clId="{3A136341-A86C-420A-BCE1-07B92F9C7771}" dt="2026-04-06T03:08:48.455" v="23" actId="1076"/>
      <pc:docMkLst>
        <pc:docMk/>
      </pc:docMkLst>
      <pc:sldChg chg="modSp mod">
        <pc:chgData name="Bin Babah, Azman" userId="2a4c3505-ac8c-4c99-8a0f-f3fcfe6c47dc" providerId="ADAL" clId="{3A136341-A86C-420A-BCE1-07B92F9C7771}" dt="2026-04-06T03:08:48.455" v="23" actId="1076"/>
        <pc:sldMkLst>
          <pc:docMk/>
          <pc:sldMk cId="0" sldId="256"/>
        </pc:sldMkLst>
        <pc:spChg chg="mod">
          <ac:chgData name="Bin Babah, Azman" userId="2a4c3505-ac8c-4c99-8a0f-f3fcfe6c47dc" providerId="ADAL" clId="{3A136341-A86C-420A-BCE1-07B92F9C7771}" dt="2026-04-06T03:08:43.696" v="22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Bin Babah, Azman" userId="2a4c3505-ac8c-4c99-8a0f-f3fcfe6c47dc" providerId="ADAL" clId="{3A136341-A86C-420A-BCE1-07B92F9C7771}" dt="2026-04-06T03:08:48.455" v="23" actId="1076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Bin Babah, Azman" userId="2a4c3505-ac8c-4c99-8a0f-f3fcfe6c47dc" providerId="ADAL" clId="{3A136341-A86C-420A-BCE1-07B92F9C7771}" dt="2026-04-06T03:08:29.759" v="3" actId="1076"/>
        <pc:sldMkLst>
          <pc:docMk/>
          <pc:sldMk cId="0" sldId="267"/>
        </pc:sldMkLst>
        <pc:spChg chg="mod">
          <ac:chgData name="Bin Babah, Azman" userId="2a4c3505-ac8c-4c99-8a0f-f3fcfe6c47dc" providerId="ADAL" clId="{3A136341-A86C-420A-BCE1-07B92F9C7771}" dt="2026-04-06T03:08:29.759" v="3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Bin Babah, Azman" userId="2a4c3505-ac8c-4c99-8a0f-f3fcfe6c47dc" providerId="ADAL" clId="{3A136341-A86C-420A-BCE1-07B92F9C7771}" dt="2026-04-06T03:08:21.659" v="0" actId="1076"/>
          <ac:spMkLst>
            <pc:docMk/>
            <pc:sldMk cId="0" sldId="267"/>
            <ac:spMk id="44" creationId="{00000000-0000-0000-0000-000000000000}"/>
          </ac:spMkLst>
        </pc:spChg>
        <pc:spChg chg="mod">
          <ac:chgData name="Bin Babah, Azman" userId="2a4c3505-ac8c-4c99-8a0f-f3fcfe6c47dc" providerId="ADAL" clId="{3A136341-A86C-420A-BCE1-07B92F9C7771}" dt="2026-04-06T03:08:27.503" v="1" actId="1076"/>
          <ac:spMkLst>
            <pc:docMk/>
            <pc:sldMk cId="0" sldId="267"/>
            <ac:spMk id="45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F4C043-3D1B-C98A-D9B8-74C5E5558AF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30575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[AMD Official Use Only - AMD Internal Distribution Only]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069592" y="0"/>
            <a:ext cx="5119359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47702" y="0"/>
            <a:ext cx="54864" cy="6858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D1C24"/>
                </a:solidFill>
                <a:latin typeface="Arial"/>
              </a:rPr>
              <a:t>GENIE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Analyze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00C2DE"/>
                </a:solidFill>
                <a:latin typeface="Arial"/>
              </a:rPr>
              <a:t>Complete Flow Guide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71800"/>
            <a:ext cx="4114800" cy="36576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6400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D5D5D5"/>
                </a:solidFill>
                <a:latin typeface="Arial"/>
              </a:rPr>
              <a:t>From run instruction to analysis report —
CDC/RDC · Lint · </a:t>
            </a:r>
            <a:r>
              <a:rPr sz="1600" b="0" i="0" dirty="0" err="1">
                <a:solidFill>
                  <a:srgbClr val="D5D5D5"/>
                </a:solidFill>
                <a:latin typeface="Arial"/>
              </a:rPr>
              <a:t>SpgDFT</a:t>
            </a:r>
            <a:r>
              <a:rPr sz="1600" b="0" i="0" dirty="0">
                <a:solidFill>
                  <a:srgbClr val="D5D5D5"/>
                </a:solidFill>
                <a:latin typeface="Arial"/>
              </a:rPr>
              <a:t> · Auto-Fixer Loop</a:t>
            </a:r>
            <a:r>
              <a:rPr lang="en-US" sz="1600" b="0" i="0" dirty="0">
                <a:solidFill>
                  <a:srgbClr val="D5D5D5"/>
                </a:solidFill>
                <a:latin typeface="Arial"/>
              </a:rPr>
              <a:t>\</a:t>
            </a:r>
          </a:p>
          <a:p>
            <a:pPr algn="l"/>
            <a:endParaRPr lang="en-US" sz="1600" b="0" i="0" dirty="0">
              <a:solidFill>
                <a:srgbClr val="D5D5D5"/>
              </a:solidFill>
              <a:latin typeface="Arial"/>
            </a:endParaRPr>
          </a:p>
          <a:p>
            <a:pPr algn="l"/>
            <a:r>
              <a:rPr lang="en-US" sz="1600" dirty="0">
                <a:solidFill>
                  <a:srgbClr val="D5D5D5"/>
                </a:solidFill>
                <a:latin typeface="Arial"/>
              </a:rPr>
              <a:t>Azman/Warren</a:t>
            </a:r>
            <a:endParaRPr sz="1600" b="0" i="0" dirty="0">
              <a:solidFill>
                <a:srgbClr val="D5D5D5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4068" y="44348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D9FA2"/>
                </a:solidFill>
                <a:latin typeface="Arial"/>
              </a:rPr>
              <a:t>AI-powered static check analysis framework
for RTL design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5260" y="1371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DE"/>
                </a:solidFill>
                <a:latin typeface="Arial"/>
              </a:rPr>
              <a:t>KEY STATS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35260" y="1920240"/>
            <a:ext cx="640080" cy="5486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35260" y="1920240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678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5D5D5"/>
                </a:solidFill>
                <a:latin typeface="Arial"/>
              </a:rPr>
              <a:t>Entry Points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35260" y="2834640"/>
            <a:ext cx="640080" cy="5486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35260" y="2834640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678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5D5D5"/>
                </a:solidFill>
                <a:latin typeface="Arial"/>
              </a:rPr>
              <a:t>Pipeline Waves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35260" y="3749040"/>
            <a:ext cx="640080" cy="5486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35260" y="3749040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678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5D5D5"/>
                </a:solidFill>
                <a:latin typeface="Arial"/>
              </a:rPr>
              <a:t>Max Fixer Rounds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35260" y="4663440"/>
            <a:ext cx="640080" cy="5486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35260" y="4663440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678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5D5D5"/>
                </a:solidFill>
                <a:latin typeface="Arial"/>
              </a:rPr>
              <a:t>Waivers Added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201168" cy="6748272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6522"/>
                </a:solidFill>
                <a:latin typeface="Arial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Why Analyze Mode?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3657600" cy="36576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029200" cy="14173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54864" cy="141732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26522"/>
                </a:solidFill>
                <a:latin typeface="Arial"/>
              </a:rPr>
              <a:t>🔍 Hundreds of Violations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745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Static checks produce CDC/RDC, Lint and SpgDFT violations — manually reviewing them is slow and error-prone.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17520"/>
            <a:ext cx="5029200" cy="14173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017520"/>
            <a:ext cx="54864" cy="141732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26522"/>
                </a:solidFill>
                <a:latin typeface="Arial"/>
              </a:rPr>
              <a:t>⚠️ Tool Noise vs Real Bugs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42900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DFT/RSMU false positives buried with real RTL issues — engineers waste time on irrelevant violations.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72000"/>
            <a:ext cx="5029200" cy="14173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4572000"/>
            <a:ext cx="54864" cy="141732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26522"/>
                </a:solidFill>
                <a:latin typeface="Arial"/>
              </a:rPr>
              <a:t>🔄 Repeat Re-runs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98348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Fix one violation, re-run, repeat — no memory of what was tried before across rounds.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463040"/>
            <a:ext cx="5760720" cy="4846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35040" y="1463040"/>
            <a:ext cx="5760720" cy="54864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72200" y="1600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DE"/>
                </a:solidFill>
                <a:latin typeface="Arial"/>
              </a:rPr>
              <a:t>✅  THE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10312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D5D5D5"/>
                </a:solidFill>
                <a:latin typeface="Arial"/>
              </a:rPr>
              <a:t>→  Automated parallel agent analysis</a:t>
            </a:r>
          </a:p>
          <a:p>
            <a:pPr algn="l"/>
            <a:r>
              <a:rPr sz="1300">
                <a:solidFill>
                  <a:srgbClr val="D5D5D5"/>
                </a:solidFill>
                <a:latin typeface="Arial"/>
              </a:rPr>
              <a:t>→  Intelligent violation filtering (DFT/RSMU excluded)</a:t>
            </a:r>
          </a:p>
          <a:p>
            <a:pPr algn="l"/>
            <a:r>
              <a:rPr sz="1300">
                <a:solidFill>
                  <a:srgbClr val="D5D5D5"/>
                </a:solidFill>
                <a:latin typeface="Arial"/>
              </a:rPr>
              <a:t>→  RTL-level root cause explanation per violation</a:t>
            </a:r>
          </a:p>
          <a:p>
            <a:pPr algn="l"/>
            <a:r>
              <a:rPr sz="1300">
                <a:solidFill>
                  <a:srgbClr val="D5D5D5"/>
                </a:solidFill>
                <a:latin typeface="Arial"/>
              </a:rPr>
              <a:t>→  Auto-apply fixes — constraint &amp; RTL</a:t>
            </a:r>
          </a:p>
          <a:p>
            <a:pPr algn="l"/>
            <a:r>
              <a:rPr sz="1300">
                <a:solidFill>
                  <a:srgbClr val="D5D5D5"/>
                </a:solidFill>
                <a:latin typeface="Arial"/>
              </a:rPr>
              <a:t>→  Round-to-round fix memory (no repeated mistakes)</a:t>
            </a:r>
          </a:p>
          <a:p>
            <a:pPr algn="l"/>
            <a:r>
              <a:rPr sz="1300">
                <a:solidFill>
                  <a:srgbClr val="D5D5D5"/>
                </a:solidFill>
                <a:latin typeface="Arial"/>
              </a:rPr>
              <a:t>→  HTML report emailed per check type</a:t>
            </a:r>
          </a:p>
          <a:p>
            <a:pPr algn="l"/>
            <a:r>
              <a:rPr sz="1300">
                <a:solidFill>
                  <a:srgbClr val="D5D5D5"/>
                </a:solidFill>
                <a:latin typeface="Arial"/>
              </a:rPr>
              <a:t>→  ZERO waivers — all fixes in RTL or 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201168" cy="674827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DE"/>
                </a:solidFill>
                <a:latin typeface="Arial"/>
              </a:rPr>
              <a:t>ENTRY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4 Ways to Trigger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3657600" cy="36576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486400" cy="214884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02920" cy="21488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417320"/>
            <a:ext cx="521207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270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1C24"/>
                </a:solidFill>
                <a:latin typeface="Arial"/>
              </a:rPr>
              <a:t>Run + Analyze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1892808"/>
            <a:ext cx="4389120" cy="27432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190195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DE"/>
                </a:solidFill>
                <a:latin typeface="Arial"/>
              </a:rPr>
              <a:t>--analyze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2402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Run static check AND analyze when it completes.
Monitor runs in background — main session stays free.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417320"/>
            <a:ext cx="5486400" cy="214884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417320"/>
            <a:ext cx="502920" cy="214884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417320"/>
            <a:ext cx="521207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DE"/>
                </a:solidFill>
                <a:latin typeface="Arial"/>
              </a:rPr>
              <a:t>Analyze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1892808"/>
            <a:ext cx="4389120" cy="27432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95160" y="190195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DE"/>
                </a:solidFill>
                <a:latin typeface="Arial"/>
              </a:rPr>
              <a:t>--analyze-only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2402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Skip re-running — analyze an already-completed run.
Emits SKIP_MONITORING=true to jump straight to agents.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49040"/>
            <a:ext cx="5486400" cy="214884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3749040"/>
            <a:ext cx="502920" cy="214884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749040"/>
            <a:ext cx="521207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8587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26522"/>
                </a:solidFill>
                <a:latin typeface="Arial"/>
              </a:rPr>
              <a:t>Run + Auto-Fix Loop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4224528"/>
            <a:ext cx="4389120" cy="27432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423367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DE"/>
                </a:solidFill>
                <a:latin typeface="Arial"/>
              </a:rPr>
              <a:t>--analyze-fixer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572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Run check → analyze → auto-apply all fixes → rerun.
Loop repeats up to 5 rounds or until CLEAN.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749040"/>
            <a:ext cx="5486400" cy="214884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60" y="3749040"/>
            <a:ext cx="502920" cy="2148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3749040"/>
            <a:ext cx="521207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8587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Arial"/>
              </a:rPr>
              <a:t>Fix Existing Results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03720" y="4224528"/>
            <a:ext cx="4389120" cy="27432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95160" y="423367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DE"/>
                </a:solidFill>
                <a:latin typeface="Arial"/>
              </a:rPr>
              <a:t>--analyze-fixer-only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572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Start the fixer loop from an already-completed run.
No re-run needed — picks up where analysis left off.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201168" cy="674827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1C24"/>
                </a:solidFill>
                <a:latin typeface="Arial"/>
              </a:rPr>
              <a:t>PIPELINE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The 4-Wave Analysis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3657600" cy="36576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9496" y="1508760"/>
            <a:ext cx="1965960" cy="44805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9496" y="1508760"/>
            <a:ext cx="1965960" cy="45720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" y="150876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WAVE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057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DE"/>
                </a:solidFill>
                <a:latin typeface="Arial"/>
              </a:rPr>
              <a:t>Extractor &amp; Precondition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578608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5D5D5"/>
                </a:solidFill>
                <a:latin typeface="Arial"/>
              </a:rPr>
              <a:t>5 agents in parallel
CDC Precondition · CDC Extractor · Lint Extractor
SpgDFT Precondition · SpgDFT Extractor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05456" y="3566160"/>
            <a:ext cx="274320" cy="10972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96896" y="340156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26522"/>
                </a:solidFill>
                <a:latin typeface="Arial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25496" y="1508760"/>
            <a:ext cx="1965960" cy="44805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825496" y="1508760"/>
            <a:ext cx="1965960" cy="45720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25496" y="150876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6936" y="2057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A968"/>
                </a:solidFill>
                <a:latin typeface="Arial"/>
              </a:rPr>
              <a:t>Skip Logic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6936" y="2578608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5D5D5"/>
                </a:solidFill>
                <a:latin typeface="Arial"/>
              </a:rPr>
              <a:t>If focus_violations == 0 for a check type
→ skip its RTL analyzers
→ mark as CLEAN in report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91456" y="3566160"/>
            <a:ext cx="274320" cy="10972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82896" y="340156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26522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1508760"/>
            <a:ext cx="1965960" cy="44805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11496" y="1508760"/>
            <a:ext cx="1965960" cy="4572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11496" y="150876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WAVE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2057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6522"/>
                </a:solidFill>
                <a:latin typeface="Arial"/>
              </a:rPr>
              <a:t>RTL Analyzer 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2936" y="2578608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5D5D5"/>
                </a:solidFill>
                <a:latin typeface="Arial"/>
              </a:rPr>
              <a:t>Parallel agents — one per violation/file
CDC · RDC · Lint · SpgDFT · Library Finder
Reads RTL, traces tech cells, formulates fix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77456" y="3566160"/>
            <a:ext cx="274320" cy="10972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68896" y="340156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26522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97496" y="1508760"/>
            <a:ext cx="1965960" cy="44805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97496" y="1508760"/>
            <a:ext cx="196596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97496" y="150876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WAVE 2.5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2057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Arial"/>
              </a:rPr>
              <a:t>Fix Consolidator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2578608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5D5D5"/>
                </a:solidFill>
                <a:latin typeface="Arial"/>
              </a:rPr>
              <a:t>Deduplicates fixes across parallel agents
Resolves instance-name vs module-name confusion
Verifies tech-cell traces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63456" y="3566160"/>
            <a:ext cx="274320" cy="10972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54896" y="340156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26522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83496" y="1508760"/>
            <a:ext cx="1965960" cy="44805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683496" y="1508760"/>
            <a:ext cx="1965960" cy="4572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83496" y="150876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WAVE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74936" y="2057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1C24"/>
                </a:solidFill>
                <a:latin typeface="Arial"/>
              </a:rPr>
              <a:t>Report Compiler + Email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74936" y="2578608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5D5D5"/>
                </a:solidFill>
                <a:latin typeface="Arial"/>
              </a:rPr>
              <a:t>3 compilers in parallel → 3 HTML files
3 separate emails (CDC/RDC · Lint · SpgDFT)
File-based storage — survives context interruption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6126480"/>
            <a:ext cx="11457432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614476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DE"/>
                </a:solidFill>
                <a:latin typeface="Arial"/>
              </a:rPr>
              <a:t>📁  All intermediate results written to disk as JSON  →  Survives context interruption  →  Fully auditable  →  Resumable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201168" cy="674827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DE"/>
                </a:solidFill>
                <a:latin typeface="Arial"/>
              </a:rPr>
              <a:t>WAVE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Extractor &amp; Precondition Agents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5029200" cy="36576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3657600" cy="224028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657600" cy="36576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45720" cy="22402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4904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1C24"/>
                </a:solidFill>
                <a:latin typeface="Arial"/>
              </a:rPr>
              <a:t>CDC/RDC
Precondition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490472"/>
            <a:ext cx="731520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9272" y="1499616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9FA2"/>
                </a:solidFill>
                <a:latin typeface="Arial"/>
              </a:rPr>
              <a:t>haiku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920240"/>
            <a:ext cx="3429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Reads cdc_report.rpt
&amp; rdc_report.rpt
→ Inferred clocks/resets
→ Unresolved modules
→ Blackbox modules
→ Reads constraint 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1417320"/>
            <a:ext cx="3657600" cy="224028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70832" y="1417320"/>
            <a:ext cx="3657600" cy="36576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70832" y="1417320"/>
            <a:ext cx="45720" cy="224028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07992" y="14904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6522"/>
                </a:solidFill>
                <a:latin typeface="Arial"/>
              </a:rPr>
              <a:t>CDC/RDC
Extractor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5472" y="1490472"/>
            <a:ext cx="731520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87184" y="1499616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9FA2"/>
                </a:solidFill>
                <a:latin typeface="Arial"/>
              </a:rPr>
              <a:t>sonnet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1920240"/>
            <a:ext cx="3429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Reads CDC Section 3
&amp; RDC Section 5
→ ERROR violations only
→ Filters DFT/RSMU
→ 2-3 per bucket
→ All types covered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8744" y="1417320"/>
            <a:ext cx="3657600" cy="224028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38744" y="1417320"/>
            <a:ext cx="3657600" cy="36576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38744" y="1417320"/>
            <a:ext cx="45720" cy="224028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75904" y="14904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1A968"/>
                </a:solidFill>
                <a:latin typeface="Arial"/>
              </a:rPr>
              <a:t>Lint
Extractor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73384" y="1490472"/>
            <a:ext cx="731520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055096" y="1499616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9FA2"/>
                </a:solidFill>
                <a:latin typeface="Arial"/>
              </a:rPr>
              <a:t>sonnet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1920240"/>
            <a:ext cx="3429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Reads leda_waiver.log
→ Error violations only
→ Filters rsmu/dft
→ Up to 10 focus
→ Groups by RTL file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794760"/>
            <a:ext cx="3657600" cy="224028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3794760"/>
            <a:ext cx="3657600" cy="36576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3794760"/>
            <a:ext cx="45720" cy="224028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38679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DE"/>
                </a:solidFill>
                <a:latin typeface="Arial"/>
              </a:rPr>
              <a:t>SpgDFT
Precondition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37560" y="3867912"/>
            <a:ext cx="731520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19272" y="3877056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9FA2"/>
                </a:solidFill>
                <a:latin typeface="Arial"/>
              </a:rPr>
              <a:t>haiku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297680"/>
            <a:ext cx="3429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Reads moresimple.rpt
(blackbox only)
→ BlackboxModule entries
→ Module names
→ needs_library?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70832" y="3794760"/>
            <a:ext cx="3657600" cy="224028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370832" y="3794760"/>
            <a:ext cx="3657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370832" y="3794760"/>
            <a:ext cx="45720" cy="2240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07992" y="38679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SpgDFT
Extractor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05472" y="3867912"/>
            <a:ext cx="731520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87184" y="3877056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9FA2"/>
                </a:solidFill>
                <a:latin typeface="Arial"/>
              </a:rPr>
              <a:t>sonnet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07992" y="4297680"/>
            <a:ext cx="3429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Reads spec file
(not rpt)
→ Pre-computed filter
→ Summary table
→ Unfiltered Error
   Details section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26364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DE"/>
                </a:solidFill>
                <a:latin typeface="Arial"/>
              </a:rPr>
              <a:t>All 5 agents run in PARALLEL  →  Results written to data/&lt;tag&gt;_precondition_*.json  &amp;  data/&lt;tag&gt;_extractor_*.json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201168" cy="6748272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1A968"/>
                </a:solidFill>
                <a:latin typeface="Arial"/>
              </a:rPr>
              <a:t>SKIP LOGIC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Intelligent Agent Skipping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4114800" cy="36576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5D5D5"/>
                </a:solidFill>
                <a:latin typeface="Arial"/>
              </a:rPr>
              <a:t>After Wave 1 completes, Claude evaluates each check before spawning RTL analyzers.
This prevents wasted compute on checks that are already clean.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914400" cy="59436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057400"/>
            <a:ext cx="93268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CDC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2057400"/>
            <a:ext cx="2926080" cy="5943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72768" y="2103120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5D5D5"/>
                </a:solidFill>
                <a:latin typeface="Arial"/>
              </a:rPr>
              <a:t>focus_violations ==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48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6522"/>
                </a:solidFill>
                <a:latin typeface="Arial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057400"/>
            <a:ext cx="210312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74920" y="2057400"/>
            <a:ext cx="36576" cy="5943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38928" y="21488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  <a:latin typeface="Arial"/>
              </a:rPr>
              <a:t>✓  CDC 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148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D9FA2"/>
                </a:solidFill>
                <a:latin typeface="Arial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2057400"/>
            <a:ext cx="3931920" cy="5943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82127" y="21488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D9FA2"/>
                </a:solidFill>
                <a:latin typeface="Arial"/>
              </a:rPr>
              <a:t>Skip CDC RTL Analyzers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825496"/>
            <a:ext cx="914400" cy="59436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825496"/>
            <a:ext cx="93268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RDC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08760" y="2825496"/>
            <a:ext cx="2926080" cy="5943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72768" y="2871216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5D5D5"/>
                </a:solidFill>
                <a:latin typeface="Arial"/>
              </a:rPr>
              <a:t>focus_violations ==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29169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6522"/>
                </a:solidFill>
                <a:latin typeface="Arial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2825496"/>
            <a:ext cx="210312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74920" y="2825496"/>
            <a:ext cx="36576" cy="5943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38928" y="291693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  <a:latin typeface="Arial"/>
              </a:rPr>
              <a:t>✓  RDC CLEAN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9169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D9FA2"/>
                </a:solidFill>
                <a:latin typeface="Arial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2825496"/>
            <a:ext cx="3931920" cy="5943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82127" y="2916936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D9FA2"/>
                </a:solidFill>
                <a:latin typeface="Arial"/>
              </a:rPr>
              <a:t>Skip RDC RTL Analyzers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593592"/>
            <a:ext cx="914400" cy="59436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3593592"/>
            <a:ext cx="93268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Lint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08760" y="3593592"/>
            <a:ext cx="2926080" cy="5943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572768" y="363931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5D5D5"/>
                </a:solidFill>
                <a:latin typeface="Arial"/>
              </a:rPr>
              <a:t>focus_violations ==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3685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6522"/>
                </a:solidFill>
                <a:latin typeface="Arial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74920" y="3593592"/>
            <a:ext cx="210312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74920" y="3593592"/>
            <a:ext cx="36576" cy="5943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38928" y="368503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  <a:latin typeface="Arial"/>
              </a:rPr>
              <a:t>✓  Lint CLEAN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3685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D9FA2"/>
                </a:solidFill>
                <a:latin typeface="Arial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18120" y="3593592"/>
            <a:ext cx="3931920" cy="5943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82127" y="368503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D9FA2"/>
                </a:solidFill>
                <a:latin typeface="Arial"/>
              </a:rPr>
              <a:t>Skip Lint RTL Analyzers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361688"/>
            <a:ext cx="914400" cy="5943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4361688"/>
            <a:ext cx="93268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SpgDFT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08760" y="4361688"/>
            <a:ext cx="2926080" cy="5943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572768" y="4407408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5D5D5"/>
                </a:solidFill>
                <a:latin typeface="Arial"/>
              </a:rPr>
              <a:t>focus_violations ==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44531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6522"/>
                </a:solidFill>
                <a:latin typeface="Arial"/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74920" y="4361688"/>
            <a:ext cx="210312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074920" y="4361688"/>
            <a:ext cx="36576" cy="5943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38928" y="445312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  <a:latin typeface="Arial"/>
              </a:rPr>
              <a:t>✓  SpgDFT CLEAN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44531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D9FA2"/>
                </a:solidFill>
                <a:latin typeface="Arial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18120" y="4361688"/>
            <a:ext cx="3931920" cy="5943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882127" y="445312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D9FA2"/>
                </a:solidFill>
                <a:latin typeface="Arial"/>
              </a:rPr>
              <a:t>Skip SpgDFT RTL Analyzers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5129784"/>
            <a:ext cx="914400" cy="59436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2920" y="5129784"/>
            <a:ext cx="93268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Library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08760" y="5129784"/>
            <a:ext cx="2926080" cy="5943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572768" y="5175504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5D5D5"/>
                </a:solidFill>
                <a:latin typeface="Arial"/>
              </a:rPr>
              <a:t>unresolved == 0
&amp; blackbox == 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6280" y="52212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6522"/>
                </a:solidFill>
                <a:latin typeface="Arial"/>
              </a:rPr>
              <a:t>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74920" y="5129784"/>
            <a:ext cx="210312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074920" y="5129784"/>
            <a:ext cx="36576" cy="5943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38928" y="522122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  <a:latin typeface="Arial"/>
              </a:rPr>
              <a:t>✓  No missing libs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9480" y="52212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D9FA2"/>
                </a:solidFill>
                <a:latin typeface="Arial"/>
              </a:rPr>
              <a:t>→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18120" y="5129784"/>
            <a:ext cx="3931920" cy="5943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882127" y="5221224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D9FA2"/>
                </a:solidFill>
                <a:latin typeface="Arial"/>
              </a:rPr>
              <a:t>Skip Library Finder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6126480"/>
            <a:ext cx="11457432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0080" y="617220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1A968"/>
                </a:solidFill>
                <a:latin typeface="Arial"/>
              </a:rPr>
              <a:t>⚠  Precondition agents are NEVER skipped — even a 'zero inferred' result belongs in the report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201168" cy="6748272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6522"/>
                </a:solidFill>
                <a:latin typeface="Arial"/>
              </a:rPr>
              <a:t>WAVE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RTL Analyzer Agents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3657600" cy="36576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3657600" cy="50749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657600" cy="4572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42646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CDC/RDC
RTL Analyzer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472184"/>
            <a:ext cx="731520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9272" y="148132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9FA2"/>
                </a:solidFill>
                <a:latin typeface="Arial"/>
              </a:rPr>
              <a:t>haiku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938528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5D5D5"/>
                </a:solidFill>
                <a:latin typeface="Arial"/>
              </a:rPr>
              <a:t>→  Checks LEARNING.md first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Finds RTL file via grep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Understands clock domains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Traces to leaf tech cell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Checks constraint file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WHY statement formulation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Risk: HIGH / MEDIUM / LOW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Fix: rtl_fix / constraint
       / investigate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ZERO waivers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417320"/>
            <a:ext cx="3657600" cy="50749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1417320"/>
            <a:ext cx="3657600" cy="45720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142646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Lint
RTL Analyzer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1472184"/>
            <a:ext cx="731520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05472" y="148132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9FA2"/>
                </a:solidFill>
                <a:latin typeface="Arial"/>
              </a:rPr>
              <a:t>sonnet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1938528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5D5D5"/>
                </a:solidFill>
                <a:latin typeface="Arial"/>
              </a:rPr>
              <a:t>→  Checks lint/LEARNING.md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One agent per RTL FILE
(not per violation)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Reads full RTL file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Checks waiver file (context)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Analyzes ALL violations in file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Fix types: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   rtl_fix — real bug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   tie_off — DFT/debug port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   investigate — needs context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1417320"/>
            <a:ext cx="3657600" cy="50749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75320" y="1417320"/>
            <a:ext cx="365760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142646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SpgDFT
RTL Analyzer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109960" y="1472184"/>
            <a:ext cx="731520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091672" y="148132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9FA2"/>
                </a:solidFill>
                <a:latin typeface="Arial"/>
              </a:rPr>
              <a:t>sonnet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1938528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5D5D5"/>
                </a:solidFill>
                <a:latin typeface="Arial"/>
              </a:rPr>
              <a:t>→  Checks spgdft/LEARNING.md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Identifies violation type: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   async not disabled → PIN_CON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   clock uncontrolled → SGDC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   undriven port → tie-off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Reads project.params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Fix: rtl_fix / tie_off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       SPGDFT_PIN_CONSTRAINT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       sgdc_constraint / filter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DE"/>
                </a:solidFill>
                <a:latin typeface="Arial"/>
              </a:rPr>
              <a:t>Also: Library Finder (haiku) — runs in parallel if unresolved or blackbox modules exist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201168" cy="67482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WAVE 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Fix Consolidator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3657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303520" cy="44805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45720" cy="44805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WHY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RTL analyzers run in PARALLEL — can cause: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77440"/>
            <a:ext cx="4937760" cy="100584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24231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6522"/>
                </a:solidFill>
                <a:latin typeface="Arial"/>
              </a:rPr>
              <a:t>⚡  Duplicate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76148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Agents 2 &amp; 4 both suggest registering the same tech cell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520440"/>
            <a:ext cx="4937760" cy="100584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5661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6522"/>
                </a:solidFill>
                <a:latin typeface="Arial"/>
              </a:rPr>
              <a:t>🔀  Instance vs Module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90448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Agent uses instance name from violation path instead of the module name required by the CDC tool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663440"/>
            <a:ext cx="4937760" cy="100584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47091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6522"/>
                </a:solidFill>
                <a:latin typeface="Arial"/>
              </a:rPr>
              <a:t>🔍  Shallow Tech-Cell 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04748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Agent stopped at UMCSYNC wrapper instead of tracing to the leaf cell (e.g. SYNC3 → two_dff)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417320"/>
            <a:ext cx="5806440" cy="4480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89320" y="1417320"/>
            <a:ext cx="580644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WHAT IT DOES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1965960"/>
            <a:ext cx="5486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D5D5D5"/>
                </a:solidFill>
                <a:latin typeface="Arial"/>
              </a:rPr>
              <a:t>✓  Reads ALL RTL analyzer JSON outputs for its check type</a:t>
            </a:r>
          </a:p>
          <a:p>
            <a:r>
              <a:rPr sz="1300">
                <a:solidFill>
                  <a:srgbClr val="D5D5D5"/>
                </a:solidFill>
                <a:latin typeface="Arial"/>
              </a:rPr>
              <a:t>✓  Detects and removes duplicate fix suggestions</a:t>
            </a:r>
          </a:p>
          <a:p>
            <a:r>
              <a:rPr sz="1300">
                <a:solidFill>
                  <a:srgbClr val="D5D5D5"/>
                </a:solidFill>
                <a:latin typeface="Arial"/>
              </a:rPr>
              <a:t>✓  Resolves instance name → correct module name</a:t>
            </a:r>
          </a:p>
          <a:p>
            <a:r>
              <a:rPr sz="1300">
                <a:solidFill>
                  <a:srgbClr val="D5D5D5"/>
                </a:solidFill>
                <a:latin typeface="Arial"/>
              </a:rPr>
              <a:t>✓  Verifies tech-cell traces reach leaf cell level</a:t>
            </a:r>
          </a:p>
          <a:p>
            <a:r>
              <a:rPr sz="1300">
                <a:solidFill>
                  <a:srgbClr val="D5D5D5"/>
                </a:solidFill>
                <a:latin typeface="Arial"/>
              </a:rPr>
              <a:t>✓  Writes single unified, deduplicated fix 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3794760"/>
            <a:ext cx="5806440" cy="21031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0" y="38587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SPAWN WHEN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224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D5D5"/>
                </a:solidFill>
                <a:latin typeface="Arial"/>
              </a:rPr>
              <a:t>  CDC      CDC focus &gt; 0          → _consolidated_cdc.json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56285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D5D5"/>
                </a:solidFill>
                <a:latin typeface="Arial"/>
              </a:rPr>
              <a:t>  RDC      RDC focus &gt; 0          → _consolidated_rdc.json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90118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D5D5"/>
                </a:solidFill>
                <a:latin typeface="Arial"/>
              </a:rPr>
              <a:t>  Lint     Lint focus &gt; 0         → _consolidated_lint.json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2395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D5D5"/>
                </a:solidFill>
                <a:latin typeface="Arial"/>
              </a:rPr>
              <a:t>  SpgDFT   SpgDFT focus &gt; 0       → _consolidated_spgdft.json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201168" cy="674827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1C24"/>
                </a:solidFill>
                <a:latin typeface="Arial"/>
              </a:rPr>
              <a:t>ANALYZE-FIXER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Auto-Fix Loop — Up to 5 Rounds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5029200" cy="36576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486400" cy="49377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45720" cy="493776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1C24"/>
                </a:solidFill>
                <a:latin typeface="Arial"/>
              </a:rPr>
              <a:t>PER-ROUND 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920240"/>
            <a:ext cx="411480" cy="457200"/>
          </a:xfrm>
          <a:prstGeom prst="rect">
            <a:avLst/>
          </a:prstGeom>
          <a:solidFill>
            <a:srgbClr val="9D9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1920240"/>
            <a:ext cx="429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96596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Build fix_history — read all previous fix attempts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96312"/>
            <a:ext cx="411480" cy="45720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496312"/>
            <a:ext cx="429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0F10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54203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Run full analysis pipeline (Waves 1 → 2.5)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072384"/>
            <a:ext cx="411480" cy="4572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3072384"/>
            <a:ext cx="429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0F10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11810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Fix Implementor — apply constraints &amp; RTL fixes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648456"/>
            <a:ext cx="41148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648456"/>
            <a:ext cx="429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0F10"/>
                </a:solidFill>
                <a:latin typeface="Arial"/>
              </a:rPr>
              <a:t>2b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69417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Deep-Dive Agents — resolve 'investigate' items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224528"/>
            <a:ext cx="411480" cy="45720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4224528"/>
            <a:ext cx="429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0F10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27024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Compile round report → HTML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800600"/>
            <a:ext cx="411480" cy="4572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4800600"/>
            <a:ext cx="429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0F10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8463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Send round email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376672"/>
            <a:ext cx="411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5376672"/>
            <a:ext cx="429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0F10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42239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Check termination → loop or stop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417320"/>
            <a:ext cx="553212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0" y="1417320"/>
            <a:ext cx="553212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TERMINATION STATES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1920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✅ CLEAN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199339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focus_violations == 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2514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1A968"/>
                </a:solidFill>
                <a:latin typeface="Arial"/>
              </a:rPr>
              <a:t>⚠ STALLED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258775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No new fixes applied this round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31089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1C24"/>
                </a:solidFill>
                <a:latin typeface="Arial"/>
              </a:rPr>
              <a:t>🔴 MAX ROUNDS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1821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Round &gt;= 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840480"/>
            <a:ext cx="5532120" cy="251460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20" y="3840480"/>
            <a:ext cx="45720" cy="25146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508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6522"/>
                </a:solidFill>
                <a:latin typeface="Arial"/>
              </a:rPr>
              <a:t>WHAT GETS AUTO-APPLIED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370832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  CDC/RDC     constraint → project.0in_ctrl.v.tcl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736592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  CDC/RDC     rtl_fix → insert synchronizer in src/rtl/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5102352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  Lint        rtl_fix / tie_off → src/rtl/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5468112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  SpgDFT      constraint → project.params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5833872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  SpgDFT      rtl_fix → path as-is (stable)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201168" cy="674827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DE"/>
                </a:solidFill>
                <a:latin typeface="Arial"/>
              </a:rPr>
              <a:t>RELIABILITY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Agent Forgetting Prevention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5029200" cy="36576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5D5D5"/>
                </a:solidFill>
                <a:latin typeface="Arial"/>
              </a:rPr>
              <a:t>As agents process large RTL files, critical rules can be displaced from context.
Two layers defend against this.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5577840" cy="43891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45720" cy="438912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011680"/>
            <a:ext cx="557784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DE"/>
                </a:solidFill>
                <a:latin typeface="Arial"/>
              </a:rPr>
              <a:t>🛡  Layer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CRITICAL_RULES.md — Prevention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5D5D5"/>
                </a:solidFill>
                <a:latin typeface="Arial"/>
              </a:rPr>
              <a:t>config/analyze_agents/shared/CRITICAL_RULES.md (≤25 lines)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Orchestrator reads it at startup → stores as CRITICAL_RULES_BLOCK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Prepended at TOP of every sub-agent prompt (before detailed instructions)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Rules covered: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• p4 edit ONLY for src/meta/tools/ — NEVER for src/rtl/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• CDC/RDC &amp; Lint RTL paths must resolve to src/rtl/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• SPG_DFT RTL uses path as-is (publish_rtl/ stable)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• Output JSON MUST be written to disk with Write tool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• ZERO waivers — all fixes in RTL or constraints only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• Fix Implementors run SEQUENTIALLY for full_static_check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011680"/>
            <a:ext cx="5577840" cy="43891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2011680"/>
            <a:ext cx="45720" cy="438912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011680"/>
            <a:ext cx="557784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20299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26522"/>
                </a:solidFill>
                <a:latin typeface="Arial"/>
              </a:rPr>
              <a:t>🔄  Layer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23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Output Validation + Retry — 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83464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5D5D5"/>
                </a:solidFill>
                <a:latin typeface="Arial"/>
              </a:rPr>
              <a:t>After every sub-agent, orchestrator checks for required JSON: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ls data/&lt;tag&gt;_&lt;expected_output&gt;.json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EXISTS → proceed to next step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MISSING → re-invoke agent with '⚠️ RETRY: Write the output JSON'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Still missing after retry → log 'STEP FAILED' in report, continue best-effort</a:t>
            </a:r>
          </a:p>
          <a:p>
            <a:endParaRPr sz="1100">
              <a:solidFill>
                <a:srgbClr val="D5D5D5"/>
              </a:solidFill>
              <a:latin typeface="Arial"/>
            </a:endParaRPr>
          </a:p>
          <a:p>
            <a:r>
              <a:rPr sz="1100">
                <a:solidFill>
                  <a:srgbClr val="D5D5D5"/>
                </a:solidFill>
                <a:latin typeface="Arial"/>
              </a:rPr>
              <a:t>Each agent MD ends with a SELF-CHECK block: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→ Did you write your output JSON?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→ Did you avoid p4 edit on RTL files?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→ Did you avoid writing to publish_rtl/?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201168" cy="6748272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1A968"/>
                </a:solidFill>
                <a:latin typeface="Arial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File-Based Storage &amp; Fix 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5029200" cy="36576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577840" cy="502920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45720" cy="502920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A968"/>
                </a:solidFill>
                <a:latin typeface="Arial"/>
              </a:rPr>
              <a:t>INTERMEDIATE FILE NAMING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2024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0C2DE"/>
                </a:solidFill>
                <a:latin typeface="Arial Narrow"/>
              </a:rPr>
              <a:t>data/&lt;tag&gt;_precondition_cdc.json</a:t>
            </a:r>
          </a:p>
          <a:p>
            <a:r>
              <a:rPr sz="1000">
                <a:solidFill>
                  <a:srgbClr val="9D9FA2"/>
                </a:solidFill>
                <a:latin typeface="Arial"/>
              </a:rPr>
              <a:t>  ← CDC/RDC Precondition Agent</a:t>
            </a:r>
          </a:p>
          <a:p>
            <a:r>
              <a:rPr sz="1000">
                <a:solidFill>
                  <a:srgbClr val="00C2DE"/>
                </a:solidFill>
                <a:latin typeface="Arial Narrow"/>
              </a:rPr>
              <a:t>data/&lt;tag&gt;_precondition_spgdft.json</a:t>
            </a:r>
          </a:p>
          <a:p>
            <a:r>
              <a:rPr sz="1000">
                <a:solidFill>
                  <a:srgbClr val="9D9FA2"/>
                </a:solidFill>
                <a:latin typeface="Arial"/>
              </a:rPr>
              <a:t>  ← SpgDFT Precondition Agent</a:t>
            </a:r>
          </a:p>
          <a:p>
            <a:r>
              <a:rPr sz="1000">
                <a:solidFill>
                  <a:srgbClr val="00C2DE"/>
                </a:solidFill>
                <a:latin typeface="Arial Narrow"/>
              </a:rPr>
              <a:t>data/&lt;tag&gt;_extractor_cdc.json</a:t>
            </a:r>
          </a:p>
          <a:p>
            <a:r>
              <a:rPr sz="1000">
                <a:solidFill>
                  <a:srgbClr val="9D9FA2"/>
                </a:solidFill>
                <a:latin typeface="Arial"/>
              </a:rPr>
              <a:t>  ← CDC/RDC Violation Extractor</a:t>
            </a:r>
          </a:p>
          <a:p>
            <a:r>
              <a:rPr sz="1000">
                <a:solidFill>
                  <a:srgbClr val="00C2DE"/>
                </a:solidFill>
                <a:latin typeface="Arial Narrow"/>
              </a:rPr>
              <a:t>data/&lt;tag&gt;_extractor_lint.json</a:t>
            </a:r>
          </a:p>
          <a:p>
            <a:r>
              <a:rPr sz="1000">
                <a:solidFill>
                  <a:srgbClr val="9D9FA2"/>
                </a:solidFill>
                <a:latin typeface="Arial"/>
              </a:rPr>
              <a:t>  ← Lint Violation Extractor</a:t>
            </a:r>
          </a:p>
          <a:p>
            <a:r>
              <a:rPr sz="1000">
                <a:solidFill>
                  <a:srgbClr val="00C2DE"/>
                </a:solidFill>
                <a:latin typeface="Arial Narrow"/>
              </a:rPr>
              <a:t>data/&lt;tag&gt;_extractor_spgdft.json</a:t>
            </a:r>
          </a:p>
          <a:p>
            <a:r>
              <a:rPr sz="1000">
                <a:solidFill>
                  <a:srgbClr val="9D9FA2"/>
                </a:solidFill>
                <a:latin typeface="Arial"/>
              </a:rPr>
              <a:t>  ← SpgDFT Violation Extractor</a:t>
            </a:r>
          </a:p>
          <a:p>
            <a:r>
              <a:rPr sz="1000">
                <a:solidFill>
                  <a:srgbClr val="00C2DE"/>
                </a:solidFill>
                <a:latin typeface="Arial Narrow"/>
              </a:rPr>
              <a:t>data/&lt;tag&gt;_rtl_cdc_&lt;N&gt;.json</a:t>
            </a:r>
          </a:p>
          <a:p>
            <a:r>
              <a:rPr sz="1000">
                <a:solidFill>
                  <a:srgbClr val="9D9FA2"/>
                </a:solidFill>
                <a:latin typeface="Arial"/>
              </a:rPr>
              <a:t>  ← CDC RTL Analyzer (per violation)</a:t>
            </a:r>
          </a:p>
          <a:p>
            <a:r>
              <a:rPr sz="1000">
                <a:solidFill>
                  <a:srgbClr val="00C2DE"/>
                </a:solidFill>
                <a:latin typeface="Arial Narrow"/>
              </a:rPr>
              <a:t>data/&lt;tag&gt;_rtl_lint_&lt;N&gt;.json</a:t>
            </a:r>
          </a:p>
          <a:p>
            <a:r>
              <a:rPr sz="1000">
                <a:solidFill>
                  <a:srgbClr val="9D9FA2"/>
                </a:solidFill>
                <a:latin typeface="Arial"/>
              </a:rPr>
              <a:t>  ← Lint RTL Analyzer (per RTL file)</a:t>
            </a:r>
          </a:p>
          <a:p>
            <a:r>
              <a:rPr sz="1000">
                <a:solidFill>
                  <a:srgbClr val="00C2DE"/>
                </a:solidFill>
                <a:latin typeface="Arial Narrow"/>
              </a:rPr>
              <a:t>data/&lt;tag&gt;_consolidated_cdc.json</a:t>
            </a:r>
          </a:p>
          <a:p>
            <a:r>
              <a:rPr sz="1000">
                <a:solidFill>
                  <a:srgbClr val="9D9FA2"/>
                </a:solidFill>
                <a:latin typeface="Arial"/>
              </a:rPr>
              <a:t>  ← Fix Consolidator — CDC</a:t>
            </a:r>
          </a:p>
          <a:p>
            <a:r>
              <a:rPr sz="1000">
                <a:solidFill>
                  <a:srgbClr val="00C2DE"/>
                </a:solidFill>
                <a:latin typeface="Arial Narrow"/>
              </a:rPr>
              <a:t>data/&lt;tag&gt;_fix_applied_cdc.json</a:t>
            </a:r>
          </a:p>
          <a:p>
            <a:r>
              <a:rPr sz="1000">
                <a:solidFill>
                  <a:srgbClr val="9D9FA2"/>
                </a:solidFill>
                <a:latin typeface="Arial"/>
              </a:rPr>
              <a:t>  ← Fix Implementor output — CDC</a:t>
            </a:r>
          </a:p>
          <a:p>
            <a:r>
              <a:rPr sz="1000">
                <a:solidFill>
                  <a:srgbClr val="00C2DE"/>
                </a:solidFill>
                <a:latin typeface="Arial Narrow"/>
              </a:rPr>
              <a:t>data/&lt;tag&gt;_deepdive_&lt;N&gt;.json</a:t>
            </a:r>
          </a:p>
          <a:p>
            <a:r>
              <a:rPr sz="1000">
                <a:solidFill>
                  <a:srgbClr val="9D9FA2"/>
                </a:solidFill>
                <a:latin typeface="Arial"/>
              </a:rPr>
              <a:t>  ← Deep-Dive Agent 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532120" cy="2377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532120" cy="36576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6522"/>
                </a:solidFill>
                <a:latin typeface="Arial"/>
              </a:rPr>
              <a:t>FIX HISTORY — Round-to-Round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DE"/>
                </a:solidFill>
                <a:latin typeface="Arial"/>
              </a:rPr>
              <a:t>Round 1: fix_history = {}
Round 2: fix_history = {
  "cfg_out[3:0]": [
    {round:1, fix_type:"rtl_fix", status:"applied"}
  ]
}
Round 3+: if same signal appears → different approach
          if 2+ failures → always "investigate"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886200"/>
            <a:ext cx="5532120" cy="25603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886200"/>
            <a:ext cx="553212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Arial"/>
              </a:rPr>
              <a:t>WHY FILE-BASED STORAGE?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0740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D5D5D5"/>
                </a:solidFill>
                <a:latin typeface="Arial"/>
              </a:rPr>
              <a:t>✓  Survives context interruption — findings not lost</a:t>
            </a:r>
          </a:p>
          <a:p>
            <a:r>
              <a:rPr sz="1150">
                <a:solidFill>
                  <a:srgbClr val="D5D5D5"/>
                </a:solidFill>
                <a:latin typeface="Arial"/>
              </a:rPr>
              <a:t>✓  No context bloat — compiler reads only what it needs</a:t>
            </a:r>
          </a:p>
          <a:p>
            <a:r>
              <a:rPr sz="1150">
                <a:solidFill>
                  <a:srgbClr val="D5D5D5"/>
                </a:solidFill>
                <a:latin typeface="Arial"/>
              </a:rPr>
              <a:t>✓  Resumable — partial analyses can be continued</a:t>
            </a:r>
          </a:p>
          <a:p>
            <a:r>
              <a:rPr sz="1150">
                <a:solidFill>
                  <a:srgbClr val="D5D5D5"/>
                </a:solidFill>
                <a:latin typeface="Arial"/>
              </a:rPr>
              <a:t>✓  Auditable — each agent's raw output inspectable</a:t>
            </a:r>
          </a:p>
          <a:p>
            <a:r>
              <a:rPr sz="1150">
                <a:solidFill>
                  <a:srgbClr val="D5D5D5"/>
                </a:solidFill>
                <a:latin typeface="Arial"/>
              </a:rPr>
              <a:t>✓  Parallel-safe — each agent writes its own 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54864"/>
            <a:ext cx="117316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Before vs After: CDC Analyze-Fixer  (Round 1 — Zero Manual Edits)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58952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1C24"/>
                </a:solidFill>
              </a:rPr>
              <a:t>BEFORE  ·  CDC: 110 total  |  16 focus violations  |  NEEDS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692" y="3858332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00B050"/>
                </a:solidFill>
              </a:rPr>
              <a:t>AFTER  ·  CDC: 78 total  |  0 unresolved  |  CLEAN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rcRect t="26593" b="12686"/>
          <a:stretch>
            <a:fillRect/>
          </a:stretch>
        </p:blipFill>
        <p:spPr>
          <a:xfrm>
            <a:off x="1248093" y="4397828"/>
            <a:ext cx="8819111" cy="20106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0101D1-1250-F33A-6DA3-E79ADF395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60" y="1195744"/>
            <a:ext cx="8420533" cy="20829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54864"/>
            <a:ext cx="117316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C2DE"/>
                </a:solidFill>
              </a:rPr>
              <a:t>AI Root Cause Analysis  &amp;  Auto-Generated CDC Constraint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840" y="538583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F26522"/>
                </a:solidFill>
              </a:rPr>
              <a:t>Root Cause identified  →  constraint auto-written to TCL: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8" y="847576"/>
            <a:ext cx="10301242" cy="29399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32" y="4661821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00B050"/>
                </a:solidFill>
              </a:rPr>
              <a:t>Fix Applied — Round 1  (1 constraint, original backed up):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rcRect r="15778"/>
          <a:stretch>
            <a:fillRect/>
          </a:stretch>
        </p:blipFill>
        <p:spPr>
          <a:xfrm>
            <a:off x="5232263" y="3215450"/>
            <a:ext cx="5775960" cy="35876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54864"/>
            <a:ext cx="117316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26522"/>
                </a:solidFill>
              </a:rPr>
              <a:t>Lint Analysis — Violation Summary  (1 Auto-Fixed · 3 Manual)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58952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1A968"/>
                </a:solidFill>
              </a:rPr>
              <a:t>AI classifies each violation: AUTO-FIX (RTL edit applied inline) or MANUAL (action routed to owner)</a:t>
            </a:r>
          </a:p>
        </p:txBody>
      </p:sp>
      <p:pic>
        <p:nvPicPr>
          <p:cNvPr id="4" name="Picture 3" descr="lin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11521440" cy="36268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54864"/>
            <a:ext cx="117316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B050"/>
                </a:solidFill>
              </a:rPr>
              <a:t>W164b Width Mismatch  —  RTL Auto-Fixed  (Zero Manual Edits)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67454" y="430780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00B050"/>
                </a:solidFill>
              </a:rPr>
              <a:t>RTL file modified by analyze-fixer:</a:t>
            </a:r>
          </a:p>
        </p:txBody>
      </p:sp>
      <p:pic>
        <p:nvPicPr>
          <p:cNvPr id="4" name="Picture 3" descr="lin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683" y="711248"/>
            <a:ext cx="7563394" cy="31533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3566160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00C2DE"/>
                </a:solidFill>
              </a:rPr>
              <a:t>Before  →  After  (auto-applied Round 1):</a:t>
            </a:r>
          </a:p>
        </p:txBody>
      </p:sp>
      <p:pic>
        <p:nvPicPr>
          <p:cNvPr id="6" name="Picture 5" descr="lint_2.png"/>
          <p:cNvPicPr>
            <a:picLocks noChangeAspect="1"/>
          </p:cNvPicPr>
          <p:nvPr/>
        </p:nvPicPr>
        <p:blipFill>
          <a:blip r:embed="rId3"/>
          <a:srcRect r="15621" b="8587"/>
          <a:stretch>
            <a:fillRect/>
          </a:stretch>
        </p:blipFill>
        <p:spPr>
          <a:xfrm>
            <a:off x="320040" y="3913632"/>
            <a:ext cx="6229577" cy="27764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54864"/>
            <a:ext cx="117316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ED1C24"/>
                </a:solidFill>
              </a:rPr>
              <a:t>ImproperRangeIndex-ML  |  53 Violations  |  Manual Action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54731" y="50114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F26522"/>
                </a:solidFill>
              </a:rPr>
              <a:t>Violation detail  (</a:t>
            </a:r>
            <a:r>
              <a:rPr sz="1500" b="1" dirty="0" err="1">
                <a:solidFill>
                  <a:srgbClr val="F26522"/>
                </a:solidFill>
              </a:rPr>
              <a:t>rtl_umcrecrcq.v</a:t>
            </a:r>
            <a:r>
              <a:rPr sz="1500" b="1" dirty="0">
                <a:solidFill>
                  <a:srgbClr val="F26522"/>
                </a:solidFill>
              </a:rPr>
              <a:t> — </a:t>
            </a:r>
            <a:r>
              <a:rPr sz="1500" b="1" dirty="0" err="1">
                <a:solidFill>
                  <a:srgbClr val="F26522"/>
                </a:solidFill>
              </a:rPr>
              <a:t>umc</a:t>
            </a:r>
            <a:r>
              <a:rPr sz="1500" b="1" dirty="0">
                <a:solidFill>
                  <a:srgbClr val="F26522"/>
                </a:solidFill>
              </a:rPr>
              <a:t> IP lib, MEDIUM severity):</a:t>
            </a:r>
          </a:p>
        </p:txBody>
      </p:sp>
      <p:pic>
        <p:nvPicPr>
          <p:cNvPr id="4" name="Picture 3" descr="lin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625" y="867795"/>
            <a:ext cx="7072947" cy="38003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0332" y="4384277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D1C24"/>
                </a:solidFill>
              </a:rPr>
              <a:t>Root Cause  &amp;  Recommended Action:</a:t>
            </a:r>
          </a:p>
        </p:txBody>
      </p:sp>
      <p:pic>
        <p:nvPicPr>
          <p:cNvPr id="6" name="Picture 5" descr="lint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32" y="4795314"/>
            <a:ext cx="11521440" cy="214871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54864"/>
            <a:ext cx="117316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ED1C24"/>
                </a:solidFill>
              </a:rPr>
              <a:t>W415a  |  Multiple Assignments in Always Block  |  10 Violations  | 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58952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26522"/>
                </a:solidFill>
              </a:rPr>
              <a:t>Violation detail  (dsn_hp_block_mcd.v — external lib, MEDIUM severity):</a:t>
            </a:r>
          </a:p>
        </p:txBody>
      </p:sp>
      <p:pic>
        <p:nvPicPr>
          <p:cNvPr id="4" name="Picture 3" descr="lint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1106424"/>
            <a:ext cx="10284823" cy="36703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48561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ED1C24"/>
                </a:solidFill>
              </a:rPr>
              <a:t>Root Cause  &amp;  Recommended Action:</a:t>
            </a:r>
          </a:p>
        </p:txBody>
      </p:sp>
      <p:pic>
        <p:nvPicPr>
          <p:cNvPr id="6" name="Picture 5" descr="lint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92" y="5217669"/>
            <a:ext cx="11521440" cy="145527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54864"/>
            <a:ext cx="117316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ED1C24"/>
                </a:solidFill>
              </a:rPr>
              <a:t>FlopClockConstant  |  Gated Clock Inference  |  2 Violations  | 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955" y="637939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26522"/>
                </a:solidFill>
              </a:rPr>
              <a:t>Violation detail  (dsn_health_pipe_mcd.v — external lib, MEDIUM severity):</a:t>
            </a:r>
          </a:p>
        </p:txBody>
      </p:sp>
      <p:pic>
        <p:nvPicPr>
          <p:cNvPr id="4" name="Picture 3" descr="lint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30" y="925795"/>
            <a:ext cx="7532915" cy="39077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4949046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ED1C24"/>
                </a:solidFill>
              </a:rPr>
              <a:t>Root Cause  &amp;  Recommended Action:</a:t>
            </a:r>
          </a:p>
        </p:txBody>
      </p:sp>
      <p:pic>
        <p:nvPicPr>
          <p:cNvPr id="6" name="Picture 5" descr="lint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263461"/>
            <a:ext cx="11521440" cy="143831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188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D1C24"/>
                </a:solidFill>
              </a:rPr>
              <a:t>VIOLATION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How the AI Decides What to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A968"/>
                </a:solidFill>
              </a:rPr>
              <a:t>Every violation is classified into one of three actions — zero waivers, zero manual guesswork.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11338560" cy="16459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1508760"/>
            <a:ext cx="3931920" cy="566928"/>
          </a:xfrm>
          <a:prstGeom prst="rect">
            <a:avLst/>
          </a:prstGeom>
          <a:solidFill>
            <a:srgbClr val="2A2A4E"/>
          </a:solidFill>
          <a:ln w="19050">
            <a:solidFill>
              <a:srgbClr val="00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57276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C2DE"/>
                </a:solidFill>
              </a:rPr>
              <a:t>⚡  Violation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084831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D9FA2"/>
                </a:solidFill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395728"/>
            <a:ext cx="5577840" cy="658368"/>
          </a:xfrm>
          <a:prstGeom prst="rect">
            <a:avLst/>
          </a:prstGeom>
          <a:solidFill>
            <a:srgbClr val="2A2A4E"/>
          </a:solidFill>
          <a:ln w="1905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48716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5D5D5"/>
                </a:solidFill>
              </a:rPr>
              <a:t>🤖  AI Agent reads RTL + context → determines root cause + fix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063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D9FA2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01568"/>
            <a:ext cx="3474720" cy="2331720"/>
          </a:xfrm>
          <a:prstGeom prst="rect">
            <a:avLst/>
          </a:prstGeom>
          <a:solidFill>
            <a:srgbClr val="0D2A1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456432"/>
            <a:ext cx="1371600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51A0D"/>
                </a:solidFill>
              </a:rPr>
              <a:t>AUTO-FIX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85615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</a:rPr>
              <a:t>constraint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59936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5D5D5"/>
                </a:solidFill>
              </a:rPr>
              <a:t>Add CDC sync constraint
to project.0in_ctrl.v.tcl
Auto-written, backed 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736592"/>
            <a:ext cx="3154680" cy="16459"/>
          </a:xfrm>
          <a:prstGeom prst="rect">
            <a:avLst/>
          </a:prstGeom>
          <a:solidFill>
            <a:srgbClr val="1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7914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</a:rPr>
              <a:t>rtl_fix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04748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5D5D5"/>
                </a:solidFill>
              </a:rPr>
              <a:t>Insert synchronizer in RTL
Auto-applied to src/rtl/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61688" y="3401568"/>
            <a:ext cx="3474720" cy="2331720"/>
          </a:xfrm>
          <a:prstGeom prst="rect">
            <a:avLst/>
          </a:prstGeom>
          <a:solidFill>
            <a:srgbClr val="2A1A07"/>
          </a:solidFill>
          <a:ln w="19050">
            <a:solidFill>
              <a:srgbClr val="C1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98848" y="3456432"/>
            <a:ext cx="1371600" cy="292608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A0D00"/>
                </a:solidFill>
              </a:rPr>
              <a:t>AUTO-FIX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785615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1A968"/>
                </a:solidFill>
              </a:rPr>
              <a:t>rtl_fix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4059936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5D5D5"/>
                </a:solidFill>
              </a:rPr>
              <a:t>Real bug — correct driver
missing. Exact RTL line
auto-inserted in src/rtl/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98848" y="4736592"/>
            <a:ext cx="3154680" cy="16459"/>
          </a:xfrm>
          <a:prstGeom prst="rect">
            <a:avLst/>
          </a:prstGeom>
          <a:solidFill>
            <a:srgbClr val="4A3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47914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1A968"/>
                </a:solidFill>
              </a:rPr>
              <a:t>tie_off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504748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5D5D5"/>
                </a:solidFill>
              </a:rPr>
              <a:t>Legacy port — assign to 0
Auto-inserted after
signal declaration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48472" y="3401568"/>
            <a:ext cx="3474720" cy="2331720"/>
          </a:xfrm>
          <a:prstGeom prst="rect">
            <a:avLst/>
          </a:prstGeom>
          <a:solidFill>
            <a:srgbClr val="2A0D0D"/>
          </a:solidFill>
          <a:ln w="1905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85632" y="3456432"/>
            <a:ext cx="1554480" cy="29260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A0505"/>
                </a:solidFill>
              </a:rPr>
              <a:t>INVESTIGATE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3785615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1C24"/>
                </a:solidFill>
              </a:rPr>
              <a:t>investigate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4059936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5D5D5"/>
                </a:solidFill>
              </a:rPr>
              <a:t>Parent context needed
or fix cannot be safely
determined from this file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85632" y="4736592"/>
            <a:ext cx="3154680" cy="16459"/>
          </a:xfrm>
          <a:prstGeom prst="rect">
            <a:avLst/>
          </a:prstGeom>
          <a:solidFill>
            <a:srgbClr val="4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2" y="4791456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5D5D5"/>
                </a:solidFill>
              </a:rPr>
              <a:t>AI specifies exactly what
to look at and why —
not vague 'investigate further'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7790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ECC71"/>
                </a:solidFill>
              </a:rPr>
              <a:t>Applied automatically
by Fix Implementor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61688" y="57790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1A968"/>
                </a:solidFill>
              </a:rPr>
              <a:t>Applied automatically
by Fix Implementor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2" y="57790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D1C24"/>
                </a:solidFill>
              </a:rPr>
              <a:t>Flagged in report
for human 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D9FA2"/>
                </a:solidFill>
              </a:rPr>
              <a:t>AMD Corporate — Genie AI Agent  |  Violation Handling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188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D1C24"/>
                </a:solidFill>
              </a:rPr>
              <a:t>CDC / RDC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Fix Types — Zero Waivers, Zero Guesswork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A968"/>
                </a:solidFill>
              </a:rPr>
              <a:t>Every CDC/RDC violation resolved by constraint, RTL fix, or targeted investigation.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11338560" cy="16459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30000" cy="12801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18488"/>
            <a:ext cx="1463040" cy="274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1A2E"/>
                </a:solidFill>
              </a:rPr>
              <a:t>constraint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1618488"/>
            <a:ext cx="1188720" cy="274320"/>
          </a:xfrm>
          <a:prstGeom prst="rect">
            <a:avLst/>
          </a:prstGeom>
          <a:solidFill>
            <a:srgbClr val="0D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2ECC71"/>
                </a:solidFill>
              </a:rPr>
              <a:t>AUTO-FIX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58191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5D5D5"/>
                </a:solidFill>
              </a:rPr>
              <a:t>Signal is safe to cross — already gated, static config,
or single-cycle. Agent writes exact TCL constraint.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7568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D8A8"/>
                </a:solidFill>
              </a:rPr>
              <a:t>netlist cdc_sync  umccmd/cfg_enable
netlist clock clk_main -period 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8288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CC71"/>
                </a:solidFill>
              </a:rPr>
              <a:t>→  Appended to project.0in_ctrl.v.tcl (original backed up)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44368"/>
            <a:ext cx="11430000" cy="12801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054096"/>
            <a:ext cx="1463040" cy="27432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1A2E"/>
                </a:solidFill>
              </a:rPr>
              <a:t>rtl_fix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3054096"/>
            <a:ext cx="1188720" cy="274320"/>
          </a:xfrm>
          <a:prstGeom prst="rect">
            <a:avLst/>
          </a:prstGeom>
          <a:solidFill>
            <a:srgbClr val="0D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C2DE"/>
                </a:solidFill>
              </a:rPr>
              <a:t>AUTO-FIX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0175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5D5D5"/>
                </a:solidFill>
              </a:rPr>
              <a:t>Missing synchronizer in RTL — signal crosses domains
without any sync cell. Agent inserts the fix inline.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51129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D8A8"/>
                </a:solidFill>
              </a:rPr>
              <a:t>// insert after: always @(posedge clk_dst)
assign sync_q = sync_ff1;
assign sync_ff1 = async_in;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264408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2DE"/>
                </a:solidFill>
              </a:rPr>
              <a:t>→  Applied to src/rtl/&lt;ip&gt;/&lt;module&gt;.sv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70832"/>
            <a:ext cx="11430000" cy="12801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480560"/>
            <a:ext cx="1463040" cy="2743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1A2E"/>
                </a:solidFill>
              </a:rPr>
              <a:t>investigate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57400" y="4480560"/>
            <a:ext cx="1188720" cy="2743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ED1C24"/>
                </a:solidFill>
              </a:rPr>
              <a:t>MANUAL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44398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5D5D5"/>
                </a:solidFill>
              </a:rPr>
              <a:t>Root cause unclear from this file alone — parent hierarchy
or external context needed. Agent specifies exactly what to check.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9377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D8A8"/>
                </a:solidFill>
              </a:rPr>
              <a:t>"Check parent module umcdat_top instantiation of
umcdat_core — verify cfg_enable is gated before
being passed to this module"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69087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1C24"/>
                </a:solidFill>
              </a:rPr>
              <a:t>→  Flagged in HTML report — engineer must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87044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12020"/>
                </a:solidFill>
              </a:rPr>
              <a:t>⚠  NO WAIVERS — every violation resolved with constraint or RTL fix. Investigate provides specific next steps.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D9FA2"/>
                </a:solidFill>
              </a:rPr>
              <a:t>AMD Corporate — Genie AI Agent  |  CDC/RDC Fix Types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188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1A968"/>
                </a:solidFill>
              </a:rPr>
              <a:t>LINT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Fix Types — Zero Waivers, Zero Guesswork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A968"/>
                </a:solidFill>
              </a:rPr>
              <a:t>Every Lint violation resolved by RTL edit, tie-off, or targeted investigation — waivers are NOT an option.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11338560" cy="16459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30000" cy="12801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18488"/>
            <a:ext cx="1463040" cy="274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1A2E"/>
                </a:solidFill>
              </a:rPr>
              <a:t>rtl_fix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1618488"/>
            <a:ext cx="1188720" cy="274320"/>
          </a:xfrm>
          <a:prstGeom prst="rect">
            <a:avLst/>
          </a:prstGeom>
          <a:solidFill>
            <a:srgbClr val="0D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2ECC71"/>
                </a:solidFill>
              </a:rPr>
              <a:t>AUTO-FIX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58191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5D5D5"/>
                </a:solidFill>
              </a:rPr>
              <a:t>Real designer bug — signal SHOULD be driven but connection
is missing. Agent inserts exact RTL 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7568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D8A8"/>
                </a:solidFill>
              </a:rPr>
              <a:t>// After signal declaration in &lt;module&gt;.sv:
assign cfg_out = cfg_reg[3:0];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8288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CC71"/>
                </a:solidFill>
              </a:rPr>
              <a:t>→  Applied directly to src/rtl/ 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44368"/>
            <a:ext cx="11430000" cy="12801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054096"/>
            <a:ext cx="1463040" cy="27432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1A2E"/>
                </a:solidFill>
              </a:rPr>
              <a:t>tie_off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3054096"/>
            <a:ext cx="1188720" cy="274320"/>
          </a:xfrm>
          <a:prstGeom prst="rect">
            <a:avLst/>
          </a:prstGeom>
          <a:solidFill>
            <a:srgbClr val="0D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1A968"/>
                </a:solidFill>
              </a:rPr>
              <a:t>AUTO-FIX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0175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5D5D5"/>
                </a:solidFill>
              </a:rPr>
              <a:t>Legacy port kept for backward compatibility — not connected
by design. Agent assigns to 0 or constant.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51129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D8A8"/>
                </a:solidFill>
              </a:rPr>
              <a:t>// After declaration of Tdr_data_out:
assign Tdr_data_out = 8'b0;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264408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A968"/>
                </a:solidFill>
              </a:rPr>
              <a:t>→  Applied directly to src/rtl/ 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70832"/>
            <a:ext cx="11430000" cy="12801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480560"/>
            <a:ext cx="1463040" cy="2743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1A2E"/>
                </a:solidFill>
              </a:rPr>
              <a:t>investigate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57400" y="4480560"/>
            <a:ext cx="1188720" cy="2743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ED1C24"/>
                </a:solidFill>
              </a:rPr>
              <a:t>MANUAL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44398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5D5D5"/>
                </a:solidFill>
              </a:rPr>
              <a:t>Signal is driven by parent module — correct driver cannot be
determined from this RTL file alone.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9377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D8A8"/>
                </a:solidFill>
              </a:rPr>
              <a:t>"Check parent module instantiation of this block
for connection of port debug_obs — parent likely
drives it from a mux or config register"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69087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1C24"/>
                </a:solidFill>
              </a:rPr>
              <a:t>→  Flagged in HTML report — engineer must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87044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12020"/>
                </a:solidFill>
              </a:rPr>
              <a:t>⚠  NO WAIVERS — waivers hide real bugs. Lint goal is zero violations via actual code changes only.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D9FA2"/>
                </a:solidFill>
              </a:rPr>
              <a:t>AMD Corporate — Genie AI Agent  |  Lint Fix Types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644" y="128016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069592" y="0"/>
            <a:ext cx="5119359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47702" y="0"/>
            <a:ext cx="54864" cy="6858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1C24"/>
                </a:solidFill>
                <a:latin typeface="Arial"/>
              </a:rP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Genie Agent Analyze Mode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3657600" cy="36576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36576" cy="43891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DE"/>
                </a:solidFill>
                <a:latin typeface="Arial"/>
              </a:rPr>
              <a:t>4 Entry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24942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Run+Analyze · Analyze-Only · Fixer · Fixer-Only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70632"/>
            <a:ext cx="36576" cy="43891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770632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DE"/>
                </a:solidFill>
                <a:latin typeface="Arial"/>
              </a:rPr>
              <a:t>4-Wave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82549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Extract → Skip → Analyze → Consolidate → Compile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46704"/>
            <a:ext cx="36576" cy="43891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346704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DE"/>
                </a:solidFill>
                <a:latin typeface="Arial"/>
              </a:rPr>
              <a:t>Parallel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4015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Up to N agents running simultaneously per check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22776"/>
            <a:ext cx="36576" cy="43891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922776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DE"/>
                </a:solidFill>
                <a:latin typeface="Arial"/>
              </a:rPr>
              <a:t>File-Based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9776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JSON on disk — resumable, auditable, no context loss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98848"/>
            <a:ext cx="36576" cy="43891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498848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DE"/>
                </a:solidFill>
                <a:latin typeface="Arial"/>
              </a:rPr>
              <a:t>Auto-Fix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5537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Up to 5 rounds — CLEAN / STALLED / MAX ROUNDS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74920"/>
            <a:ext cx="36576" cy="43891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5074920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DE"/>
                </a:solidFill>
                <a:latin typeface="Arial"/>
              </a:rPr>
              <a:t>ZERO Waivers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12978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All violations fixed in RTL or constraints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50992"/>
            <a:ext cx="36576" cy="43891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5650992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DE"/>
                </a:solidFill>
                <a:latin typeface="Arial"/>
              </a:rPr>
              <a:t>Reliability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7058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CRITICAL_RULES.md + output validation + retry logic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5260" y="1371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DE"/>
                </a:solidFill>
                <a:latin typeface="Arial"/>
              </a:rPr>
              <a:t>CHECK TYPES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35260" y="1828800"/>
            <a:ext cx="4572000" cy="1188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35260" y="1828800"/>
            <a:ext cx="45720" cy="1188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72420" y="19202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1C24"/>
                </a:solidFill>
                <a:latin typeface="Arial"/>
              </a:rPr>
              <a:t>CDC / RDC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2420" y="228600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Clock/Reset Domain Crossing
Constraint &amp; synchronizer RTL fixes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35260" y="3200400"/>
            <a:ext cx="4572000" cy="1188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435260" y="3200400"/>
            <a:ext cx="45720" cy="118872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72420" y="32918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1A968"/>
                </a:solidFill>
                <a:latin typeface="Arial"/>
              </a:rPr>
              <a:t>Lint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72420" y="365760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RTL code quality violations
RTL fix or tie-off per file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35260" y="4572000"/>
            <a:ext cx="4572000" cy="1188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435260" y="4572000"/>
            <a:ext cx="45720" cy="1188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72420" y="46634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Arial"/>
              </a:rPr>
              <a:t>SpgDFT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72420" y="502920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Design-for-Test violations
Constraint or pin control fixes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199" y="6073793"/>
            <a:ext cx="11548872" cy="36576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1228" y="6278008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9D9FA2"/>
                </a:solidFill>
                <a:latin typeface="Arial"/>
              </a:rPr>
              <a:t>AMD Corporate — Genie AI Agent  |  Analyze Mode v1.4  | 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12 / 12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188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ECC71"/>
                </a:solidFill>
              </a:rPr>
              <a:t>SPG DFT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Fix Types — Design-for-Test Violations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1A968"/>
                </a:solidFill>
              </a:rPr>
              <a:t>5 fix types — async signals, clock controllability, TDR ports, real bugs, and intentional filters.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11338560" cy="16459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35608"/>
            <a:ext cx="11430000" cy="85953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27048"/>
            <a:ext cx="2194560" cy="274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A1A2E"/>
                </a:solidFill>
              </a:rPr>
              <a:t>SPGDFT_PIN_CONSTRAINT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527048"/>
            <a:ext cx="1097280" cy="274320"/>
          </a:xfrm>
          <a:prstGeom prst="rect">
            <a:avLst/>
          </a:prstGeom>
          <a:solidFill>
            <a:srgbClr val="0D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ECC71"/>
                </a:solidFill>
              </a:rPr>
              <a:t>AUTO-FIX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37944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5D5D5"/>
                </a:solidFill>
              </a:rPr>
              <a:t>Async set/reset has no test-mode disable path.
SpyGlass cannot verify it stays inactive during scan.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527048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8D8A8"/>
                </a:solidFill>
              </a:rPr>
              <a:t># project.params  →  SPGDFT_PIN_CONSTRAINT
umcdat_core/cfg_rst_n:1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163677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CC71"/>
                </a:solidFill>
              </a:rPr>
              <a:t>→  Written to src/meta/tools/spgdft/variant/&lt;ip&gt;/project.params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31720"/>
            <a:ext cx="11430000" cy="85953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2194560" cy="27432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A1A2E"/>
                </a:solidFill>
              </a:rPr>
              <a:t>sgdc_constraint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423160"/>
            <a:ext cx="1097280" cy="274320"/>
          </a:xfrm>
          <a:prstGeom prst="rect">
            <a:avLst/>
          </a:prstGeom>
          <a:solidFill>
            <a:srgbClr val="0D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C2DE"/>
                </a:solidFill>
              </a:rPr>
              <a:t>MANUAL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34056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5D5D5"/>
                </a:solidFill>
              </a:rPr>
              <a:t>Clock generated internally (divided/muxed) — not
reachable by test clock. Needs SGDC or TestMode 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423160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8D8A8"/>
                </a:solidFill>
              </a:rPr>
              <a:t># In &lt;ip&gt;.sgdc:
testclock clk_div2 -divide_by 2 -master_clock clk_main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53288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DE"/>
                </a:solidFill>
              </a:rPr>
              <a:t>→  Engineer verifies test-clock relationship, then adds SGDC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27832"/>
            <a:ext cx="11430000" cy="85953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319272"/>
            <a:ext cx="1554480" cy="27432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A1A2E"/>
                </a:solidFill>
              </a:rPr>
              <a:t>rtl_fix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3319272"/>
            <a:ext cx="1097280" cy="274320"/>
          </a:xfrm>
          <a:prstGeom prst="rect">
            <a:avLst/>
          </a:prstGeom>
          <a:solidFill>
            <a:srgbClr val="2A1A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C1A968"/>
                </a:solidFill>
              </a:rPr>
              <a:t>AUTO-FIX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630168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5D5D5"/>
                </a:solidFill>
              </a:rPr>
              <a:t>Real designer bug — functional signal should be
connected but is missing. Same as Lint rtl_fix.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319272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8D8A8"/>
                </a:solidFill>
              </a:rPr>
              <a:t>assign dft_observe_out = scan_chain_q[7:0];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429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1A968"/>
                </a:solidFill>
              </a:rPr>
              <a:t>→  Applied to src/rtl/&lt;ip&gt;/&lt;module&gt;.sv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123944"/>
            <a:ext cx="11430000" cy="85953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215384"/>
            <a:ext cx="1554480" cy="274320"/>
          </a:xfrm>
          <a:prstGeom prst="rect">
            <a:avLst/>
          </a:prstGeom>
          <a:solidFill>
            <a:srgbClr val="7B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A1A2E"/>
                </a:solidFill>
              </a:rPr>
              <a:t>tie_off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8840" y="4215384"/>
            <a:ext cx="1097280" cy="274320"/>
          </a:xfrm>
          <a:prstGeom prst="rect">
            <a:avLst/>
          </a:prstGeom>
          <a:solidFill>
            <a:srgbClr val="0D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BB8FF"/>
                </a:solidFill>
              </a:rPr>
              <a:t>AUTO-FIX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52628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5D5D5"/>
                </a:solidFill>
              </a:rPr>
              <a:t>TDR/scan/BIST placeholder port — DFT tools will
connect during scan insertion. Tie off for pre-DFT sim.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215384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8D8A8"/>
                </a:solidFill>
              </a:rPr>
              <a:t>assign Tdr_status = 16'b0;
assign Tdr_umcdat_ctrl = 32'b0;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3251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BB8FF"/>
                </a:solidFill>
              </a:rPr>
              <a:t>→  Applied to src/rtl/ — DFT tools override during synthesis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020056"/>
            <a:ext cx="11430000" cy="85953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111496"/>
            <a:ext cx="1554480" cy="27432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A1A2E"/>
                </a:solidFill>
              </a:rPr>
              <a:t>filter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48840" y="5111496"/>
            <a:ext cx="1097280" cy="274320"/>
          </a:xfrm>
          <a:prstGeom prst="rect">
            <a:avLst/>
          </a:prstGeom>
          <a:solidFill>
            <a:srgbClr val="2A14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26522"/>
                </a:solidFill>
              </a:rPr>
              <a:t>MANUAL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42239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5D5D5"/>
                </a:solidFill>
              </a:rPr>
              <a:t>Intentional — module is blackboxed, feature config-
disabled, or stub for future DFT insertion.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5111496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8D8A8"/>
                </a:solidFill>
              </a:rPr>
              <a:t># project.params  →  SPGDFT_BLACKBOX or waiver entry
&lt;module_name&gt;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522122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26522"/>
                </a:solidFill>
              </a:rPr>
              <a:t>→  Engineer confirms intent, then adds to SpgDFT params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59893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12020"/>
                </a:solidFill>
              </a:rPr>
              <a:t>⚠  filter is used ONLY for blackboxed or config-disabled features — not as a shortcut to hide violations.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D9FA2"/>
                </a:solidFill>
              </a:rPr>
              <a:t>AMD Corporate — Genie AI Agent  |  SpgDFT Fix Types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ce362fe-1558-4fb5-9f64-8a6240d76441}" enabled="1" method="Privileged" siteId="{3dd8961f-e488-4e60-8e11-a82d994e183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2305</Words>
  <Application>Microsoft Office PowerPoint</Application>
  <PresentationFormat>Custom</PresentationFormat>
  <Paragraphs>325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Arial Narrow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Bin Babah, Azman</cp:lastModifiedBy>
  <cp:revision>3</cp:revision>
  <dcterms:created xsi:type="dcterms:W3CDTF">2013-01-27T09:14:16Z</dcterms:created>
  <dcterms:modified xsi:type="dcterms:W3CDTF">2026-04-06T03:08:48Z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[AMD Official Use Only - AMD Internal Distribution Only]</vt:lpwstr>
  </property>
</Properties>
</file>